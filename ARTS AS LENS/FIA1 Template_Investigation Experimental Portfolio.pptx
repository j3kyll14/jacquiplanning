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66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402875-A144-4A0F-8BF9-DBD646397932}" v="4" dt="2026-02-09T00:57:09.4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queline Ockwell" userId="79a11ae1-9a6a-4dce-9c68-e7607b2827ec" providerId="ADAL" clId="{97E97E31-5131-4F4F-B31F-4ACD8C1B3209}"/>
    <pc:docChg chg="modSld">
      <pc:chgData name="Jacqueline Ockwell" userId="79a11ae1-9a6a-4dce-9c68-e7607b2827ec" providerId="ADAL" clId="{97E97E31-5131-4F4F-B31F-4ACD8C1B3209}" dt="2026-02-09T00:57:09.460" v="3" actId="255"/>
      <pc:docMkLst>
        <pc:docMk/>
      </pc:docMkLst>
      <pc:sldChg chg="modSp mod">
        <pc:chgData name="Jacqueline Ockwell" userId="79a11ae1-9a6a-4dce-9c68-e7607b2827ec" providerId="ADAL" clId="{97E97E31-5131-4F4F-B31F-4ACD8C1B3209}" dt="2026-02-09T00:57:09.460" v="3" actId="255"/>
        <pc:sldMkLst>
          <pc:docMk/>
          <pc:sldMk cId="2722533421" sldId="257"/>
        </pc:sldMkLst>
        <pc:spChg chg="mod">
          <ac:chgData name="Jacqueline Ockwell" userId="79a11ae1-9a6a-4dce-9c68-e7607b2827ec" providerId="ADAL" clId="{97E97E31-5131-4F4F-B31F-4ACD8C1B3209}" dt="2026-02-09T00:57:09.460" v="3" actId="255"/>
          <ac:spMkLst>
            <pc:docMk/>
            <pc:sldMk cId="2722533421" sldId="257"/>
            <ac:spMk id="8" creationId="{81335AF4-D153-FBB3-0DE8-06466EB7338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9CC4F-6560-F723-ACF6-3C877D98A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36F3C-5AA0-CFD9-3B9E-D67E39B6A3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C849C-8840-CE63-46A6-36783DECA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48548-C3D1-498D-8ED1-9AFDA2FBBE6A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A24B9-714A-D952-2ECE-CE09526EC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BE57F-D348-705D-D8BB-398AEDA6E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02E62-C3F0-4F73-B9DB-5ED4F85132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1254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32388-0548-9020-481E-E99B0716B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86199-3A8A-87E8-A37A-7000D85B1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08202-06B6-A7FE-A8AC-928597C46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48548-C3D1-498D-8ED1-9AFDA2FBBE6A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2C71D-80D0-02C2-5810-CA297E59C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193DA-C365-7CE5-66D0-E8621CA06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02E62-C3F0-4F73-B9DB-5ED4F85132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9635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C3516-A1D6-E3FD-2E28-1830C5455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5A0B4-C86A-7D8F-5BE9-7FEE3C8DC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6455A-3DF0-A607-B163-938C7FEC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48548-C3D1-498D-8ED1-9AFDA2FBBE6A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A8A46-ADDE-B73F-53F3-78CA4E28D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69721-0B5F-A20E-7998-2FD8133E2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02E62-C3F0-4F73-B9DB-5ED4F85132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2906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D6B54-A66E-B730-157E-773DE40BE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922C4-B062-C9BE-E16E-59A4C69C2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44D8FB-F1A7-3265-9E76-7A805140D8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11E486-6792-9C3B-6193-83EB8247E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48548-C3D1-498D-8ED1-9AFDA2FBBE6A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E332E4-118A-2E1D-C120-5B4659C1D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3B2C30-C6DE-D226-6F4C-0107C3AEB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02E62-C3F0-4F73-B9DB-5ED4F85132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2104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A9F5-8627-9679-F311-2D89AEE3D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2B2FC-53D3-8DA4-B3CD-038283DF0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2C2A41-6E5C-3A0E-D4FE-9F8E4CD31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2E25D6-DCBE-F7FA-D288-C51DAB9198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5A8B5F-23D6-6183-389E-8E1654D0FA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A89C1A-5C1F-19DB-7D2E-50E0C6525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48548-C3D1-498D-8ED1-9AFDA2FBBE6A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D213BB-FCE1-335B-3183-635760107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F62B23-E664-F865-A6BD-F1EB1482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02E62-C3F0-4F73-B9DB-5ED4F85132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6875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FA225-1B99-71DC-81A7-2390A23B2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954457-1FD6-315E-50E0-860567B7D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48548-C3D1-498D-8ED1-9AFDA2FBBE6A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DB031-7166-42FF-424C-53BC13BE2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9E2CF4-959D-0356-9FD8-021324F2F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02E62-C3F0-4F73-B9DB-5ED4F85132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8169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BD9991-D9F8-DFB2-6FC5-265E9C0E4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48548-C3D1-498D-8ED1-9AFDA2FBBE6A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2A1986-E429-98F9-1E68-F19F4357D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37097-411D-88E4-46B6-0E06C460C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02E62-C3F0-4F73-B9DB-5ED4F85132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0467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7A8AF-39D3-7537-B6FC-B8C81856D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3E6AC-0C8C-19DF-B4C3-D5F6473D2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48BEF0-AD47-C89E-2B41-B341CD546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BFD2AA-5D5C-7F9E-A433-892A6156D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48548-C3D1-498D-8ED1-9AFDA2FBBE6A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47B853-16FB-8830-4D10-19F9902C4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EED661-957C-2064-3F54-647B77B6C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02E62-C3F0-4F73-B9DB-5ED4F85132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3804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E99A5-E021-9EAD-FA25-1953CAB91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45543B-D603-D873-6788-1D381AEEC5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46025C-A914-302C-6C3F-B947C02DCA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FD2E2-9021-B1DA-E241-019CBC728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48548-C3D1-498D-8ED1-9AFDA2FBBE6A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22D62D-F20E-04E2-B5D3-C651AF1D0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F52F3-08A3-5D30-D021-FBE1ECF3A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02E62-C3F0-4F73-B9DB-5ED4F85132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6013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99939-DE3A-3CF5-36F2-A3BE7EAEC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656215-F48E-0A15-D66F-D85408C6E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F74CD-19E6-8730-395A-98CEEECA2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48548-C3D1-498D-8ED1-9AFDA2FBBE6A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A1A03-B382-6C04-F8B3-7C92ACCCB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2662F-67AF-DEF8-E8FC-B0E7B564E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02E62-C3F0-4F73-B9DB-5ED4F85132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5704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B8D6D4-2FED-37C3-0A42-2BDA96D6DB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3A9CD5-4DD2-071D-E0F6-2192ED505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55700-8CB2-E7FC-6131-0DDAF837C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48548-C3D1-498D-8ED1-9AFDA2FBBE6A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38799-774B-ABD6-FE54-18D7FB99C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25841-40F5-2E76-63F3-235DC687D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02E62-C3F0-4F73-B9DB-5ED4F85132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5101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C03B52-C9A9-30D8-FF78-3BA451F25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DD9D5-1695-8F9E-B701-54E09BC79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733EF-F69E-3808-362B-69CE592D4D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848548-C3D1-498D-8ED1-9AFDA2FBBE6A}" type="datetimeFigureOut">
              <a:rPr lang="en-AU" smtClean="0"/>
              <a:t>8/02/2026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992D0-289B-72CD-69AD-647D723131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795A0-94CA-2C12-0873-4260EF1E6E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302E62-C3F0-4F73-B9DB-5ED4F85132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1366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6B6738-5E2B-9E82-3560-89239E538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457"/>
            <a:ext cx="12192000" cy="54204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C79AB46-3F45-9F7D-357B-B351377D41F2}"/>
              </a:ext>
            </a:extLst>
          </p:cNvPr>
          <p:cNvSpPr/>
          <p:nvPr/>
        </p:nvSpPr>
        <p:spPr>
          <a:xfrm>
            <a:off x="314235" y="1085711"/>
            <a:ext cx="5949405" cy="3477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 wrap="square">
            <a:spAutoFit/>
          </a:bodyPr>
          <a:lstStyle/>
          <a:p>
            <a:r>
              <a:rPr lang="en-US" sz="2000" b="1">
                <a:cs typeface="Arial" panose="020B0604020202020204" pitchFamily="34" charset="0"/>
              </a:rPr>
              <a:t>YEAR 11    </a:t>
            </a:r>
          </a:p>
          <a:p>
            <a:r>
              <a:rPr lang="en-US" sz="2000" b="1">
                <a:cs typeface="Arial" panose="020B0604020202020204" pitchFamily="34" charset="0"/>
              </a:rPr>
              <a:t>UNIT 1  - ART AS LENS </a:t>
            </a:r>
            <a:r>
              <a:rPr lang="en-AU" sz="2000" b="1"/>
              <a:t>| People, Places &amp; Objects</a:t>
            </a:r>
          </a:p>
          <a:p>
            <a:r>
              <a:rPr lang="en-AU" b="1"/>
              <a:t>CONCEPT | Connection</a:t>
            </a:r>
            <a:endParaRPr lang="en-AU" sz="2000"/>
          </a:p>
          <a:p>
            <a:endParaRPr lang="en-US" sz="2000" b="1">
              <a:cs typeface="Arial" panose="020B0604020202020204" pitchFamily="34" charset="0"/>
            </a:endParaRPr>
          </a:p>
          <a:p>
            <a:r>
              <a:rPr lang="en-US" sz="2000" b="1">
                <a:cs typeface="Arial" panose="020B0604020202020204" pitchFamily="34" charset="0"/>
              </a:rPr>
              <a:t>FORMATIVE </a:t>
            </a:r>
            <a:r>
              <a:rPr lang="en-AU" sz="2000" b="1"/>
              <a:t>| </a:t>
            </a:r>
            <a:r>
              <a:rPr lang="en-US" sz="2000" b="1">
                <a:cs typeface="Arial" panose="020B0604020202020204" pitchFamily="34" charset="0"/>
              </a:rPr>
              <a:t>Internal Assessment 20%</a:t>
            </a:r>
          </a:p>
          <a:p>
            <a:endParaRPr lang="en-US" sz="2000" b="1">
              <a:cs typeface="Arial" panose="020B0604020202020204" pitchFamily="34" charset="0"/>
            </a:endParaRPr>
          </a:p>
          <a:p>
            <a:r>
              <a:rPr lang="en-US" sz="2000" b="1">
                <a:cs typeface="Arial" panose="020B0604020202020204" pitchFamily="34" charset="0"/>
              </a:rPr>
              <a:t>DURATION </a:t>
            </a:r>
            <a:r>
              <a:rPr lang="en-AU" sz="2000" b="1"/>
              <a:t>|30 Hours</a:t>
            </a:r>
          </a:p>
          <a:p>
            <a:r>
              <a:rPr lang="en-US" sz="2000" b="1">
                <a:cs typeface="Arial" panose="020B0604020202020204" pitchFamily="34" charset="0"/>
              </a:rPr>
              <a:t>LENGTH </a:t>
            </a:r>
            <a:r>
              <a:rPr lang="en-AU" sz="2000" b="1"/>
              <a:t>| </a:t>
            </a:r>
            <a:r>
              <a:rPr lang="en-AU" b="1"/>
              <a:t>Digital Presentation: Up to 12 presentation slides (up to 2000 words or up to 10 minutes) </a:t>
            </a:r>
            <a:endParaRPr lang="en-US" sz="2000" b="1">
              <a:cs typeface="Arial" panose="020B0604020202020204" pitchFamily="34" charset="0"/>
            </a:endParaRPr>
          </a:p>
          <a:p>
            <a:endParaRPr lang="en-US" sz="2000">
              <a:cs typeface="Arial" panose="020B0604020202020204" pitchFamily="34" charset="0"/>
            </a:endParaRPr>
          </a:p>
          <a:p>
            <a:endParaRPr lang="en-US" sz="2400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470843B2-FF57-8BD2-6C21-1F080C087740}"/>
              </a:ext>
            </a:extLst>
          </p:cNvPr>
          <p:cNvSpPr txBox="1"/>
          <p:nvPr/>
        </p:nvSpPr>
        <p:spPr>
          <a:xfrm>
            <a:off x="563880" y="4563586"/>
            <a:ext cx="6543398" cy="1821974"/>
          </a:xfrm>
          <a:custGeom>
            <a:avLst/>
            <a:gdLst>
              <a:gd name="csX0" fmla="*/ 0 w 6543398"/>
              <a:gd name="csY0" fmla="*/ 910987 h 1821974"/>
              <a:gd name="csX1" fmla="*/ 3271699 w 6543398"/>
              <a:gd name="csY1" fmla="*/ 0 h 1821974"/>
              <a:gd name="csX2" fmla="*/ 6543398 w 6543398"/>
              <a:gd name="csY2" fmla="*/ 910987 h 1821974"/>
              <a:gd name="csX3" fmla="*/ 3271699 w 6543398"/>
              <a:gd name="csY3" fmla="*/ 1821974 h 1821974"/>
              <a:gd name="csX4" fmla="*/ 0 w 6543398"/>
              <a:gd name="csY4" fmla="*/ 910987 h 18219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543398" h="1821974" fill="none" extrusionOk="0">
                <a:moveTo>
                  <a:pt x="0" y="910987"/>
                </a:moveTo>
                <a:cubicBezTo>
                  <a:pt x="-69303" y="379470"/>
                  <a:pt x="1397724" y="121187"/>
                  <a:pt x="3271699" y="0"/>
                </a:cubicBezTo>
                <a:cubicBezTo>
                  <a:pt x="5100329" y="24942"/>
                  <a:pt x="6599548" y="465264"/>
                  <a:pt x="6543398" y="910987"/>
                </a:cubicBezTo>
                <a:cubicBezTo>
                  <a:pt x="6171986" y="1300294"/>
                  <a:pt x="5109484" y="1857631"/>
                  <a:pt x="3271699" y="1821974"/>
                </a:cubicBezTo>
                <a:cubicBezTo>
                  <a:pt x="1401069" y="1908126"/>
                  <a:pt x="-73468" y="1346722"/>
                  <a:pt x="0" y="910987"/>
                </a:cubicBezTo>
                <a:close/>
              </a:path>
              <a:path w="6543398" h="1821974" stroke="0" extrusionOk="0">
                <a:moveTo>
                  <a:pt x="0" y="910987"/>
                </a:moveTo>
                <a:cubicBezTo>
                  <a:pt x="61606" y="317189"/>
                  <a:pt x="1528079" y="99201"/>
                  <a:pt x="3271699" y="0"/>
                </a:cubicBezTo>
                <a:cubicBezTo>
                  <a:pt x="5029225" y="-137459"/>
                  <a:pt x="6582666" y="431351"/>
                  <a:pt x="6543398" y="910987"/>
                </a:cubicBezTo>
                <a:cubicBezTo>
                  <a:pt x="6518921" y="1147016"/>
                  <a:pt x="4747009" y="1971330"/>
                  <a:pt x="3271699" y="1821974"/>
                </a:cubicBezTo>
                <a:cubicBezTo>
                  <a:pt x="1449886" y="1750469"/>
                  <a:pt x="68907" y="1513476"/>
                  <a:pt x="0" y="910987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617256088">
                  <a:prstGeom prst="flowChartConnector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 i="1">
              <a:latin typeface="+mj-lt"/>
            </a:endParaRPr>
          </a:p>
          <a:p>
            <a:r>
              <a:rPr lang="en-US" sz="2000" b="1" i="1">
                <a:latin typeface="+mj-lt"/>
              </a:rPr>
              <a:t>STUDENT NAME: </a:t>
            </a:r>
          </a:p>
          <a:p>
            <a:endParaRPr lang="en-US" sz="2000" b="1" i="1">
              <a:latin typeface="+mj-lt"/>
            </a:endParaRPr>
          </a:p>
          <a:p>
            <a:r>
              <a:rPr lang="en-US" sz="2000" b="1" i="1">
                <a:latin typeface="+mj-lt"/>
              </a:rPr>
              <a:t>STUDENT ID: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3BD461-6F3A-F73B-23AF-D2E3573AF772}"/>
              </a:ext>
            </a:extLst>
          </p:cNvPr>
          <p:cNvSpPr/>
          <p:nvPr/>
        </p:nvSpPr>
        <p:spPr>
          <a:xfrm>
            <a:off x="7812315" y="1922800"/>
            <a:ext cx="4065450" cy="446276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/>
              <a:t>YOUR FIA1 PRESENTATION STRUCTURE</a:t>
            </a:r>
          </a:p>
          <a:p>
            <a:endParaRPr lang="en-US" sz="2000" b="1"/>
          </a:p>
          <a:p>
            <a:r>
              <a:rPr lang="en-US" sz="1600"/>
              <a:t>You will submit </a:t>
            </a:r>
            <a:r>
              <a:rPr lang="en-US" sz="1600" b="1"/>
              <a:t>ONE digital presentation (max 12 slides)</a:t>
            </a:r>
            <a:r>
              <a:rPr lang="en-US" sz="1600"/>
              <a:t> that shows your entire investigation.</a:t>
            </a:r>
          </a:p>
          <a:p>
            <a:endParaRPr lang="en-US" sz="1600"/>
          </a:p>
          <a:p>
            <a:r>
              <a:rPr lang="en-US" sz="1600"/>
              <a:t>This presentation includes:</a:t>
            </a:r>
          </a:p>
          <a:p>
            <a:endParaRPr lang="en-US" sz="1600"/>
          </a:p>
          <a:p>
            <a:r>
              <a:rPr lang="en-US" sz="1600"/>
              <a:t>✔ making (your artworks)</a:t>
            </a:r>
            <a:br>
              <a:rPr lang="en-US" sz="1600"/>
            </a:br>
            <a:r>
              <a:rPr lang="en-US" sz="1600"/>
              <a:t>✔ responding (your reflections &amp; artist links)</a:t>
            </a:r>
            <a:br>
              <a:rPr lang="en-US" sz="1600"/>
            </a:br>
            <a:r>
              <a:rPr lang="en-US" sz="1600"/>
              <a:t>✔ progression (where your ideas are heading)</a:t>
            </a:r>
          </a:p>
          <a:p>
            <a:endParaRPr lang="en-US" sz="2000" b="1">
              <a:cs typeface="Arial" panose="020B0604020202020204" pitchFamily="34" charset="0"/>
            </a:endParaRPr>
          </a:p>
          <a:p>
            <a:endParaRPr lang="en-US" sz="2000">
              <a:cs typeface="Arial" panose="020B0604020202020204" pitchFamily="34" charset="0"/>
            </a:endParaRP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810200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8400FA-CE12-DF96-CF20-9D424CB43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" y="14458"/>
            <a:ext cx="11155680" cy="656216"/>
          </a:xfrm>
          <a:prstGeom prst="rect">
            <a:avLst/>
          </a:prstGeom>
        </p:spPr>
      </p:pic>
      <p:sp>
        <p:nvSpPr>
          <p:cNvPr id="8" name="Speech Bubble: Oval 7">
            <a:extLst>
              <a:ext uri="{FF2B5EF4-FFF2-40B4-BE49-F238E27FC236}">
                <a16:creationId xmlns:a16="http://schemas.microsoft.com/office/drawing/2014/main" id="{81335AF4-D153-FBB3-0DE8-06466EB7338A}"/>
              </a:ext>
            </a:extLst>
          </p:cNvPr>
          <p:cNvSpPr/>
          <p:nvPr/>
        </p:nvSpPr>
        <p:spPr>
          <a:xfrm>
            <a:off x="2459924" y="842336"/>
            <a:ext cx="5821680" cy="2395608"/>
          </a:xfrm>
          <a:prstGeom prst="wedgeEllipseCallout">
            <a:avLst>
              <a:gd name="adj1" fmla="val 66990"/>
              <a:gd name="adj2" fmla="val 50987"/>
            </a:avLst>
          </a:prstGeom>
          <a:solidFill>
            <a:srgbClr val="FFFF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>
                <a:solidFill>
                  <a:schemeClr val="tx1"/>
                </a:solidFill>
              </a:rPr>
              <a:t>FIA1 OVERARCHING INQUIRY QUESTION: </a:t>
            </a:r>
          </a:p>
          <a:p>
            <a:pPr algn="ctr"/>
            <a:endParaRPr lang="en-US" sz="800" b="1">
              <a:solidFill>
                <a:schemeClr val="tx1"/>
              </a:solidFill>
            </a:endParaRPr>
          </a:p>
          <a:p>
            <a:pPr algn="ctr"/>
            <a:r>
              <a:rPr lang="en-US" sz="1600" b="1" i="1">
                <a:solidFill>
                  <a:schemeClr val="tx1"/>
                </a:solidFill>
              </a:rPr>
              <a:t>How can reinterpreting people, places and objects through an artistic lens communicate my viewpoint about connection?</a:t>
            </a:r>
          </a:p>
          <a:p>
            <a:pPr algn="ctr"/>
            <a:endParaRPr lang="en-US" sz="800" i="1">
              <a:solidFill>
                <a:schemeClr val="tx1"/>
              </a:solidFill>
            </a:endParaRPr>
          </a:p>
          <a:p>
            <a:pPr algn="ctr"/>
            <a:r>
              <a:rPr lang="en-US" sz="1600">
                <a:solidFill>
                  <a:schemeClr val="tx1"/>
                </a:solidFill>
              </a:rPr>
              <a:t>This question guides everything you make, </a:t>
            </a:r>
            <a:r>
              <a:rPr lang="en-US" sz="1600" err="1">
                <a:solidFill>
                  <a:schemeClr val="tx1"/>
                </a:solidFill>
              </a:rPr>
              <a:t>analyse</a:t>
            </a:r>
            <a:r>
              <a:rPr lang="en-US" sz="1600">
                <a:solidFill>
                  <a:schemeClr val="tx1"/>
                </a:solidFill>
              </a:rPr>
              <a:t> and reflect on in FIA1.</a:t>
            </a:r>
            <a:endParaRPr lang="en-AU" sz="1600" i="1">
              <a:solidFill>
                <a:schemeClr val="tx1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8115412-C2F6-6EAA-414E-70F25456E1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970539"/>
              </p:ext>
            </p:extLst>
          </p:nvPr>
        </p:nvGraphicFramePr>
        <p:xfrm>
          <a:off x="167641" y="3459480"/>
          <a:ext cx="5273039" cy="3354025"/>
        </p:xfrm>
        <a:graphic>
          <a:graphicData uri="http://schemas.openxmlformats.org/drawingml/2006/table">
            <a:tbl>
              <a:tblPr/>
              <a:tblGrid>
                <a:gridCol w="1127760">
                  <a:extLst>
                    <a:ext uri="{9D8B030D-6E8A-4147-A177-3AD203B41FA5}">
                      <a16:colId xmlns:a16="http://schemas.microsoft.com/office/drawing/2014/main" val="3084500398"/>
                    </a:ext>
                  </a:extLst>
                </a:gridCol>
                <a:gridCol w="1403997">
                  <a:extLst>
                    <a:ext uri="{9D8B030D-6E8A-4147-A177-3AD203B41FA5}">
                      <a16:colId xmlns:a16="http://schemas.microsoft.com/office/drawing/2014/main" val="2264845590"/>
                    </a:ext>
                  </a:extLst>
                </a:gridCol>
                <a:gridCol w="2741282">
                  <a:extLst>
                    <a:ext uri="{9D8B030D-6E8A-4147-A177-3AD203B41FA5}">
                      <a16:colId xmlns:a16="http://schemas.microsoft.com/office/drawing/2014/main" val="947121722"/>
                    </a:ext>
                  </a:extLst>
                </a:gridCol>
              </a:tblGrid>
              <a:tr h="4743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300" b="1"/>
                        <a:t>Experiment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300" b="1"/>
                        <a:t>Lens Focus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300" b="1">
                          <a:solidFill>
                            <a:schemeClr val="bg1"/>
                          </a:solidFill>
                        </a:rPr>
                        <a:t>Sub-Question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674404"/>
                  </a:ext>
                </a:extLst>
              </a:tr>
              <a:tr h="859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300" b="1"/>
                        <a:t>Place</a:t>
                      </a:r>
                      <a:endParaRPr lang="en-AU" sz="13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300"/>
                        <a:t>Literal vs Non-Literal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solidFill>
                            <a:schemeClr val="bg1"/>
                          </a:solidFill>
                        </a:rPr>
                        <a:t>How does shifting from literal to non-literal representation change the emotional meaning of place?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563453"/>
                  </a:ext>
                </a:extLst>
              </a:tr>
              <a:tr h="667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300" b="1"/>
                        <a:t>Object</a:t>
                      </a:r>
                      <a:endParaRPr lang="en-AU" sz="13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300"/>
                        <a:t>Objective vs Subjective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solidFill>
                            <a:schemeClr val="bg1"/>
                          </a:solidFill>
                        </a:rPr>
                        <a:t>How does interpretation change the meaning of everyday objects?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765760"/>
                  </a:ext>
                </a:extLst>
              </a:tr>
              <a:tr h="667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300" b="1"/>
                        <a:t>People</a:t>
                      </a:r>
                      <a:endParaRPr lang="en-AU" sz="13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300"/>
                        <a:t>Psychological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solidFill>
                            <a:schemeClr val="bg1"/>
                          </a:solidFill>
                        </a:rPr>
                        <a:t>How can visual elements communicate identity and inner experience?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145644"/>
                  </a:ext>
                </a:extLst>
              </a:tr>
              <a:tr h="667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300" b="1"/>
                        <a:t>Time</a:t>
                      </a:r>
                      <a:endParaRPr lang="en-AU" sz="13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300"/>
                        <a:t>Psychological over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solidFill>
                            <a:schemeClr val="bg1"/>
                          </a:solidFill>
                        </a:rPr>
                        <a:t>How does representing change over time alter meaning and identity?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949603"/>
                  </a:ext>
                </a:extLst>
              </a:tr>
            </a:tbl>
          </a:graphicData>
        </a:graphic>
      </p:graphicFrame>
      <p:sp>
        <p:nvSpPr>
          <p:cNvPr id="10" name="Arrow: Left 9">
            <a:extLst>
              <a:ext uri="{FF2B5EF4-FFF2-40B4-BE49-F238E27FC236}">
                <a16:creationId xmlns:a16="http://schemas.microsoft.com/office/drawing/2014/main" id="{5F5BA4F9-F448-76EA-DE06-82A3A50C2631}"/>
              </a:ext>
            </a:extLst>
          </p:cNvPr>
          <p:cNvSpPr/>
          <p:nvPr/>
        </p:nvSpPr>
        <p:spPr>
          <a:xfrm rot="675240">
            <a:off x="5059736" y="4828085"/>
            <a:ext cx="2881883" cy="1765677"/>
          </a:xfrm>
          <a:custGeom>
            <a:avLst/>
            <a:gdLst>
              <a:gd name="csX0" fmla="*/ 0 w 2881883"/>
              <a:gd name="csY0" fmla="*/ 882839 h 1765677"/>
              <a:gd name="csX1" fmla="*/ 835201 w 2881883"/>
              <a:gd name="csY1" fmla="*/ 0 h 1765677"/>
              <a:gd name="csX2" fmla="*/ 835201 w 2881883"/>
              <a:gd name="csY2" fmla="*/ 441419 h 1765677"/>
              <a:gd name="csX3" fmla="*/ 2881883 w 2881883"/>
              <a:gd name="csY3" fmla="*/ 441419 h 1765677"/>
              <a:gd name="csX4" fmla="*/ 2881883 w 2881883"/>
              <a:gd name="csY4" fmla="*/ 1324258 h 1765677"/>
              <a:gd name="csX5" fmla="*/ 835201 w 2881883"/>
              <a:gd name="csY5" fmla="*/ 1324258 h 1765677"/>
              <a:gd name="csX6" fmla="*/ 835201 w 2881883"/>
              <a:gd name="csY6" fmla="*/ 1765677 h 1765677"/>
              <a:gd name="csX7" fmla="*/ 0 w 2881883"/>
              <a:gd name="csY7" fmla="*/ 882839 h 17656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881883" h="1765677" fill="none" extrusionOk="0">
                <a:moveTo>
                  <a:pt x="0" y="882839"/>
                </a:moveTo>
                <a:cubicBezTo>
                  <a:pt x="141832" y="790709"/>
                  <a:pt x="366013" y="377087"/>
                  <a:pt x="835201" y="0"/>
                </a:cubicBezTo>
                <a:cubicBezTo>
                  <a:pt x="856420" y="137484"/>
                  <a:pt x="825887" y="377205"/>
                  <a:pt x="835201" y="441419"/>
                </a:cubicBezTo>
                <a:cubicBezTo>
                  <a:pt x="1496032" y="293980"/>
                  <a:pt x="2379682" y="275203"/>
                  <a:pt x="2881883" y="441419"/>
                </a:cubicBezTo>
                <a:cubicBezTo>
                  <a:pt x="2907630" y="567230"/>
                  <a:pt x="2932286" y="951571"/>
                  <a:pt x="2881883" y="1324258"/>
                </a:cubicBezTo>
                <a:cubicBezTo>
                  <a:pt x="2002686" y="1457675"/>
                  <a:pt x="1578135" y="1396879"/>
                  <a:pt x="835201" y="1324258"/>
                </a:cubicBezTo>
                <a:cubicBezTo>
                  <a:pt x="830331" y="1516969"/>
                  <a:pt x="861433" y="1705783"/>
                  <a:pt x="835201" y="1765677"/>
                </a:cubicBezTo>
                <a:cubicBezTo>
                  <a:pt x="544964" y="1526151"/>
                  <a:pt x="106636" y="1124516"/>
                  <a:pt x="0" y="882839"/>
                </a:cubicBezTo>
                <a:close/>
              </a:path>
              <a:path w="2881883" h="1765677" stroke="0" extrusionOk="0">
                <a:moveTo>
                  <a:pt x="0" y="882839"/>
                </a:moveTo>
                <a:cubicBezTo>
                  <a:pt x="244963" y="644452"/>
                  <a:pt x="373258" y="331989"/>
                  <a:pt x="835201" y="0"/>
                </a:cubicBezTo>
                <a:cubicBezTo>
                  <a:pt x="806554" y="107755"/>
                  <a:pt x="838403" y="289043"/>
                  <a:pt x="835201" y="441419"/>
                </a:cubicBezTo>
                <a:cubicBezTo>
                  <a:pt x="1069923" y="285079"/>
                  <a:pt x="2207842" y="296591"/>
                  <a:pt x="2881883" y="441419"/>
                </a:cubicBezTo>
                <a:cubicBezTo>
                  <a:pt x="2912270" y="743995"/>
                  <a:pt x="2821856" y="1143513"/>
                  <a:pt x="2881883" y="1324258"/>
                </a:cubicBezTo>
                <a:cubicBezTo>
                  <a:pt x="2007690" y="1292500"/>
                  <a:pt x="1601783" y="1207957"/>
                  <a:pt x="835201" y="1324258"/>
                </a:cubicBezTo>
                <a:cubicBezTo>
                  <a:pt x="847585" y="1471027"/>
                  <a:pt x="853040" y="1571484"/>
                  <a:pt x="835201" y="1765677"/>
                </a:cubicBezTo>
                <a:cubicBezTo>
                  <a:pt x="447405" y="1476059"/>
                  <a:pt x="292068" y="1186318"/>
                  <a:pt x="0" y="882839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560293050">
                  <a:prstGeom prst="leftArrow">
                    <a:avLst>
                      <a:gd name="adj1" fmla="val 50000"/>
                      <a:gd name="adj2" fmla="val 47302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SUB-QUESTIONS FOR EACH EXPERIMENT</a:t>
            </a:r>
          </a:p>
          <a:p>
            <a:pPr algn="ctr"/>
            <a:endParaRPr lang="en-US" sz="1200" b="1">
              <a:solidFill>
                <a:schemeClr val="tx1"/>
              </a:solidFill>
            </a:endParaRPr>
          </a:p>
          <a:p>
            <a:pPr algn="ctr"/>
            <a:r>
              <a:rPr lang="en-US" sz="1200">
                <a:solidFill>
                  <a:schemeClr val="tx1"/>
                </a:solidFill>
              </a:rPr>
              <a:t>Each experiment looks at the main question from</a:t>
            </a:r>
            <a:r>
              <a:rPr lang="en-US" sz="1400">
                <a:solidFill>
                  <a:schemeClr val="tx1"/>
                </a:solidFill>
              </a:rPr>
              <a:t> a different angle.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CD4AC5-6792-238C-780B-DC46E1BD34E4}"/>
              </a:ext>
            </a:extLst>
          </p:cNvPr>
          <p:cNvSpPr txBox="1"/>
          <p:nvPr/>
        </p:nvSpPr>
        <p:spPr>
          <a:xfrm rot="1000560">
            <a:off x="136727" y="715420"/>
            <a:ext cx="3314277" cy="1650742"/>
          </a:xfrm>
          <a:custGeom>
            <a:avLst/>
            <a:gdLst>
              <a:gd name="csX0" fmla="*/ 0 w 3314277"/>
              <a:gd name="csY0" fmla="*/ 412686 h 1650742"/>
              <a:gd name="csX1" fmla="*/ 2488906 w 3314277"/>
              <a:gd name="csY1" fmla="*/ 412686 h 1650742"/>
              <a:gd name="csX2" fmla="*/ 2488906 w 3314277"/>
              <a:gd name="csY2" fmla="*/ 0 h 1650742"/>
              <a:gd name="csX3" fmla="*/ 3314277 w 3314277"/>
              <a:gd name="csY3" fmla="*/ 825371 h 1650742"/>
              <a:gd name="csX4" fmla="*/ 2488906 w 3314277"/>
              <a:gd name="csY4" fmla="*/ 1650742 h 1650742"/>
              <a:gd name="csX5" fmla="*/ 2488906 w 3314277"/>
              <a:gd name="csY5" fmla="*/ 1238057 h 1650742"/>
              <a:gd name="csX6" fmla="*/ 0 w 3314277"/>
              <a:gd name="csY6" fmla="*/ 1238057 h 1650742"/>
              <a:gd name="csX7" fmla="*/ 0 w 3314277"/>
              <a:gd name="csY7" fmla="*/ 412686 h 16507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314277" h="1650742" fill="none" extrusionOk="0">
                <a:moveTo>
                  <a:pt x="0" y="412686"/>
                </a:moveTo>
                <a:cubicBezTo>
                  <a:pt x="799588" y="302816"/>
                  <a:pt x="1693166" y="556544"/>
                  <a:pt x="2488906" y="412686"/>
                </a:cubicBezTo>
                <a:cubicBezTo>
                  <a:pt x="2465879" y="317900"/>
                  <a:pt x="2521229" y="121154"/>
                  <a:pt x="2488906" y="0"/>
                </a:cubicBezTo>
                <a:cubicBezTo>
                  <a:pt x="2668849" y="263600"/>
                  <a:pt x="3075012" y="551563"/>
                  <a:pt x="3314277" y="825371"/>
                </a:cubicBezTo>
                <a:cubicBezTo>
                  <a:pt x="3283273" y="999885"/>
                  <a:pt x="2891257" y="1296871"/>
                  <a:pt x="2488906" y="1650742"/>
                </a:cubicBezTo>
                <a:cubicBezTo>
                  <a:pt x="2506638" y="1591438"/>
                  <a:pt x="2476086" y="1321911"/>
                  <a:pt x="2488906" y="1238057"/>
                </a:cubicBezTo>
                <a:cubicBezTo>
                  <a:pt x="1306415" y="1167470"/>
                  <a:pt x="911730" y="1216887"/>
                  <a:pt x="0" y="1238057"/>
                </a:cubicBezTo>
                <a:cubicBezTo>
                  <a:pt x="42547" y="988641"/>
                  <a:pt x="-70070" y="776238"/>
                  <a:pt x="0" y="412686"/>
                </a:cubicBezTo>
                <a:close/>
              </a:path>
              <a:path w="3314277" h="1650742" stroke="0" extrusionOk="0">
                <a:moveTo>
                  <a:pt x="0" y="412686"/>
                </a:moveTo>
                <a:cubicBezTo>
                  <a:pt x="1002179" y="283353"/>
                  <a:pt x="2172597" y="445103"/>
                  <a:pt x="2488906" y="412686"/>
                </a:cubicBezTo>
                <a:cubicBezTo>
                  <a:pt x="2457365" y="227403"/>
                  <a:pt x="2512026" y="54871"/>
                  <a:pt x="2488906" y="0"/>
                </a:cubicBezTo>
                <a:cubicBezTo>
                  <a:pt x="2752144" y="272414"/>
                  <a:pt x="3131093" y="623221"/>
                  <a:pt x="3314277" y="825371"/>
                </a:cubicBezTo>
                <a:cubicBezTo>
                  <a:pt x="3062335" y="1125314"/>
                  <a:pt x="2842040" y="1204098"/>
                  <a:pt x="2488906" y="1650742"/>
                </a:cubicBezTo>
                <a:cubicBezTo>
                  <a:pt x="2459633" y="1498655"/>
                  <a:pt x="2468915" y="1436438"/>
                  <a:pt x="2488906" y="1238057"/>
                </a:cubicBezTo>
                <a:cubicBezTo>
                  <a:pt x="1499816" y="1255895"/>
                  <a:pt x="1099339" y="1245744"/>
                  <a:pt x="0" y="1238057"/>
                </a:cubicBezTo>
                <a:cubicBezTo>
                  <a:pt x="45733" y="1137078"/>
                  <a:pt x="-31830" y="614962"/>
                  <a:pt x="0" y="412686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823318213">
                  <a:prstGeom prst="right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200"/>
              <a:t>You are completing </a:t>
            </a:r>
            <a:r>
              <a:rPr lang="en-US" sz="1200" b="1"/>
              <a:t>one investigation</a:t>
            </a:r>
            <a:r>
              <a:rPr lang="en-US" sz="1200"/>
              <a:t>.</a:t>
            </a:r>
          </a:p>
          <a:p>
            <a:pPr algn="ctr">
              <a:buNone/>
            </a:pPr>
            <a:endParaRPr lang="en-US" sz="1200"/>
          </a:p>
          <a:p>
            <a:pPr algn="ctr">
              <a:buNone/>
            </a:pPr>
            <a:r>
              <a:rPr lang="en-US" sz="1200"/>
              <a:t>All 4 experiments help you answer the same main question.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C52BF0-3233-1770-71E3-A97E29165100}"/>
              </a:ext>
            </a:extLst>
          </p:cNvPr>
          <p:cNvSpPr txBox="1"/>
          <p:nvPr/>
        </p:nvSpPr>
        <p:spPr>
          <a:xfrm>
            <a:off x="8281604" y="4051020"/>
            <a:ext cx="3551750" cy="2485787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US" sz="1400" b="1"/>
              <a:t>WHAT THIS MEANS FOR FIA1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/>
              <a:t>Each experiment gives you evidence to answer the main question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/>
              <a:t>Your reflection questions show your thinking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/>
              <a:t>Your final statement explains your overall viewpoint about connection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1400"/>
          </a:p>
          <a:p>
            <a:r>
              <a:rPr lang="en-US" sz="1400"/>
              <a:t>You are not doing 4 separate tasks. </a:t>
            </a:r>
          </a:p>
          <a:p>
            <a:r>
              <a:rPr lang="en-US" sz="1400"/>
              <a:t>You are building one investigation!</a:t>
            </a: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D8604E74-F0E9-8EE0-2080-23EEE4A70722}"/>
              </a:ext>
            </a:extLst>
          </p:cNvPr>
          <p:cNvSpPr/>
          <p:nvPr/>
        </p:nvSpPr>
        <p:spPr>
          <a:xfrm rot="1077184" flipH="1">
            <a:off x="7971775" y="3617093"/>
            <a:ext cx="619658" cy="623235"/>
          </a:xfrm>
          <a:custGeom>
            <a:avLst/>
            <a:gdLst/>
            <a:ahLst/>
            <a:cxnLst/>
            <a:rect l="l" t="t" r="r" b="b"/>
            <a:pathLst>
              <a:path w="568073" h="631192">
                <a:moveTo>
                  <a:pt x="568073" y="0"/>
                </a:moveTo>
                <a:lnTo>
                  <a:pt x="0" y="0"/>
                </a:lnTo>
                <a:lnTo>
                  <a:pt x="0" y="631193"/>
                </a:lnTo>
                <a:lnTo>
                  <a:pt x="568073" y="631193"/>
                </a:lnTo>
                <a:lnTo>
                  <a:pt x="56807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E8D78F-1AA1-5B24-B0D2-71E697E53A6B}"/>
              </a:ext>
            </a:extLst>
          </p:cNvPr>
          <p:cNvSpPr txBox="1"/>
          <p:nvPr/>
        </p:nvSpPr>
        <p:spPr>
          <a:xfrm rot="20828550">
            <a:off x="8325711" y="1464122"/>
            <a:ext cx="4547967" cy="908864"/>
          </a:xfrm>
          <a:custGeom>
            <a:avLst/>
            <a:gdLst>
              <a:gd name="csX0" fmla="*/ 0 w 4547967"/>
              <a:gd name="csY0" fmla="*/ 454432 h 908864"/>
              <a:gd name="csX1" fmla="*/ 2273984 w 4547967"/>
              <a:gd name="csY1" fmla="*/ 0 h 908864"/>
              <a:gd name="csX2" fmla="*/ 4547967 w 4547967"/>
              <a:gd name="csY2" fmla="*/ 0 h 908864"/>
              <a:gd name="csX3" fmla="*/ 4547967 w 4547967"/>
              <a:gd name="csY3" fmla="*/ 454432 h 908864"/>
              <a:gd name="csX4" fmla="*/ 2273983 w 4547967"/>
              <a:gd name="csY4" fmla="*/ 908864 h 908864"/>
              <a:gd name="csX5" fmla="*/ -1 w 4547967"/>
              <a:gd name="csY5" fmla="*/ 454432 h 908864"/>
              <a:gd name="csX6" fmla="*/ 0 w 4547967"/>
              <a:gd name="csY6" fmla="*/ 454432 h 9088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547967" h="908864" extrusionOk="0">
                <a:moveTo>
                  <a:pt x="0" y="454432"/>
                </a:moveTo>
                <a:cubicBezTo>
                  <a:pt x="-50105" y="254785"/>
                  <a:pt x="1048074" y="28363"/>
                  <a:pt x="2273984" y="0"/>
                </a:cubicBezTo>
                <a:cubicBezTo>
                  <a:pt x="3113662" y="-17331"/>
                  <a:pt x="3911975" y="-59754"/>
                  <a:pt x="4547967" y="0"/>
                </a:cubicBezTo>
                <a:cubicBezTo>
                  <a:pt x="4534836" y="133122"/>
                  <a:pt x="4511992" y="271470"/>
                  <a:pt x="4547967" y="454432"/>
                </a:cubicBezTo>
                <a:cubicBezTo>
                  <a:pt x="4630186" y="758969"/>
                  <a:pt x="3595890" y="1007330"/>
                  <a:pt x="2273983" y="908864"/>
                </a:cubicBezTo>
                <a:cubicBezTo>
                  <a:pt x="1004330" y="908875"/>
                  <a:pt x="1558" y="692184"/>
                  <a:pt x="-1" y="454432"/>
                </a:cubicBezTo>
                <a:lnTo>
                  <a:pt x="0" y="454432"/>
                </a:ln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146020352">
                  <a:prstGeom prst="teardrop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 lIns="0" tIns="0" rIns="0" bIns="0">
            <a:spAutoFit/>
          </a:bodyPr>
          <a:lstStyle/>
          <a:p>
            <a:r>
              <a:rPr lang="en-US" sz="1400" b="1"/>
              <a:t>Experiments = evidence of making</a:t>
            </a:r>
          </a:p>
          <a:p>
            <a:r>
              <a:rPr lang="en-US" sz="1400" b="1"/>
              <a:t>Reflections = evidence of thinking</a:t>
            </a:r>
          </a:p>
          <a:p>
            <a:r>
              <a:rPr lang="en-US" sz="1400" b="1"/>
              <a:t>Final slides = evidence of progression</a:t>
            </a:r>
            <a:endParaRPr lang="en-AU" sz="1400" b="1"/>
          </a:p>
        </p:txBody>
      </p:sp>
    </p:spTree>
    <p:extLst>
      <p:ext uri="{BB962C8B-B14F-4D97-AF65-F5344CB8AC3E}">
        <p14:creationId xmlns:p14="http://schemas.microsoft.com/office/powerpoint/2010/main" val="2722533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5FDF1F-14A0-470A-5417-B6CBFC8C3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06430" cy="752580"/>
          </a:xfrm>
          <a:prstGeom prst="rect">
            <a:avLst/>
          </a:prstGeom>
        </p:spPr>
      </p:pic>
      <p:sp>
        <p:nvSpPr>
          <p:cNvPr id="4" name="Google Shape;114;p17">
            <a:extLst>
              <a:ext uri="{FF2B5EF4-FFF2-40B4-BE49-F238E27FC236}">
                <a16:creationId xmlns:a16="http://schemas.microsoft.com/office/drawing/2014/main" id="{74E66F81-0763-39A6-2639-5A20835CF897}"/>
              </a:ext>
            </a:extLst>
          </p:cNvPr>
          <p:cNvSpPr/>
          <p:nvPr/>
        </p:nvSpPr>
        <p:spPr>
          <a:xfrm>
            <a:off x="551869" y="1194162"/>
            <a:ext cx="5754561" cy="508885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>
                <a:latin typeface="+mj-lt"/>
                <a:ea typeface="Lato"/>
                <a:cs typeface="Lato"/>
                <a:sym typeface="Lato"/>
              </a:rPr>
              <a:t>Insert clear image of artwork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>
                <a:latin typeface="+mj-lt"/>
                <a:ea typeface="Lato"/>
                <a:cs typeface="Lato"/>
                <a:sym typeface="Lato"/>
              </a:rPr>
              <a:t>Crop the image to frame the work (nothing in the background)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BEA68-60A4-07F7-B4CA-7C77D194B30E}"/>
              </a:ext>
            </a:extLst>
          </p:cNvPr>
          <p:cNvSpPr txBox="1"/>
          <p:nvPr/>
        </p:nvSpPr>
        <p:spPr>
          <a:xfrm>
            <a:off x="6519793" y="4750678"/>
            <a:ext cx="3462408" cy="1532334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b="1"/>
              <a:t>Title: </a:t>
            </a:r>
          </a:p>
          <a:p>
            <a:endParaRPr lang="en-US" sz="1400" b="1"/>
          </a:p>
          <a:p>
            <a:r>
              <a:rPr lang="en-US" sz="1400" b="1"/>
              <a:t>Media:</a:t>
            </a:r>
          </a:p>
          <a:p>
            <a:endParaRPr lang="en-US" sz="1400" b="1"/>
          </a:p>
          <a:p>
            <a:r>
              <a:rPr lang="en-US" sz="1400" b="1"/>
              <a:t>Size: </a:t>
            </a:r>
          </a:p>
          <a:p>
            <a:endParaRPr lang="en-US" sz="1400" b="1"/>
          </a:p>
        </p:txBody>
      </p:sp>
      <p:sp>
        <p:nvSpPr>
          <p:cNvPr id="7" name="Google Shape;114;p17">
            <a:extLst>
              <a:ext uri="{FF2B5EF4-FFF2-40B4-BE49-F238E27FC236}">
                <a16:creationId xmlns:a16="http://schemas.microsoft.com/office/drawing/2014/main" id="{2AFC5E56-7FEB-2FBC-D49B-815CF64B7FBF}"/>
              </a:ext>
            </a:extLst>
          </p:cNvPr>
          <p:cNvSpPr/>
          <p:nvPr/>
        </p:nvSpPr>
        <p:spPr>
          <a:xfrm>
            <a:off x="8778240" y="224468"/>
            <a:ext cx="3139441" cy="285401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>
                <a:latin typeface="+mj-lt"/>
                <a:ea typeface="Lato"/>
                <a:cs typeface="Lato"/>
                <a:sym typeface="Lato"/>
              </a:rPr>
              <a:t>Insert clear image of </a:t>
            </a:r>
            <a:r>
              <a:rPr lang="en-US" b="1" i="1">
                <a:latin typeface="+mj-lt"/>
                <a:ea typeface="Lato"/>
                <a:cs typeface="Lato"/>
                <a:sym typeface="Lato"/>
              </a:rPr>
              <a:t>Marian Drew’s</a:t>
            </a:r>
            <a:r>
              <a:rPr lang="en-US" i="1">
                <a:latin typeface="+mj-lt"/>
                <a:ea typeface="Lato"/>
                <a:cs typeface="Lato"/>
                <a:sym typeface="Lato"/>
              </a:rPr>
              <a:t> artwork that has influenced your creative decision for this experiment </a:t>
            </a:r>
          </a:p>
        </p:txBody>
      </p:sp>
    </p:spTree>
    <p:extLst>
      <p:ext uri="{BB962C8B-B14F-4D97-AF65-F5344CB8AC3E}">
        <p14:creationId xmlns:p14="http://schemas.microsoft.com/office/powerpoint/2010/main" val="4142623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3CDCDF-33A4-133C-5D78-61B521EA3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06430" cy="7525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A53335-3E35-72E1-99A0-D19E19FD339E}"/>
              </a:ext>
            </a:extLst>
          </p:cNvPr>
          <p:cNvSpPr txBox="1"/>
          <p:nvPr/>
        </p:nvSpPr>
        <p:spPr>
          <a:xfrm>
            <a:off x="175260" y="922152"/>
            <a:ext cx="11841480" cy="598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AU" sz="12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Where does your artwork shift from literal depiction to non-literal interpretation?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AU" sz="12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AU" sz="12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AU" sz="12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AU" sz="12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How does your use of colour, texture, or layering communicate your personal connection to place?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AU" sz="1200" kern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AU" sz="1200" kern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AU" sz="12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AU" sz="12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How does your work reflect a contemporary concern or issue connected to place?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AU" sz="1200" kern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AU" sz="12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AU" sz="12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AU" sz="12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How did Drew’s symbolic approach influence your decisions?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AU" sz="1200" kern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AU" sz="1200" kern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AU" sz="12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AU" sz="12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How does this experiment help you explore the idea of connection?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AU" sz="1200" kern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AU" sz="12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AU" sz="12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black letter on a white background&#10;&#10;AI-generated content may be incorrect.">
            <a:extLst>
              <a:ext uri="{FF2B5EF4-FFF2-40B4-BE49-F238E27FC236}">
                <a16:creationId xmlns:a16="http://schemas.microsoft.com/office/drawing/2014/main" id="{8BC86E5E-25D7-335E-5673-0915DBBEC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500" y="150519"/>
            <a:ext cx="5115639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285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FAE8F-47BB-5747-52ED-A7AEC8B96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4;p17">
            <a:extLst>
              <a:ext uri="{FF2B5EF4-FFF2-40B4-BE49-F238E27FC236}">
                <a16:creationId xmlns:a16="http://schemas.microsoft.com/office/drawing/2014/main" id="{30E215FF-6677-2BDD-BB63-68C6561D28D8}"/>
              </a:ext>
            </a:extLst>
          </p:cNvPr>
          <p:cNvSpPr/>
          <p:nvPr/>
        </p:nvSpPr>
        <p:spPr>
          <a:xfrm>
            <a:off x="551869" y="1194162"/>
            <a:ext cx="5754561" cy="508885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>
                <a:latin typeface="+mj-lt"/>
                <a:ea typeface="Lato"/>
                <a:cs typeface="Lato"/>
                <a:sym typeface="Lato"/>
              </a:rPr>
              <a:t>Insert clear image of artwork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>
                <a:latin typeface="+mj-lt"/>
                <a:ea typeface="Lato"/>
                <a:cs typeface="Lato"/>
                <a:sym typeface="Lato"/>
              </a:rPr>
              <a:t>Crop the image to frame the work (nothing in the background)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05D8A1-472C-7504-CE86-9D08A35F90AC}"/>
              </a:ext>
            </a:extLst>
          </p:cNvPr>
          <p:cNvSpPr txBox="1"/>
          <p:nvPr/>
        </p:nvSpPr>
        <p:spPr>
          <a:xfrm>
            <a:off x="6519793" y="4750678"/>
            <a:ext cx="3462408" cy="1532334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b="1"/>
              <a:t>Title: </a:t>
            </a:r>
          </a:p>
          <a:p>
            <a:endParaRPr lang="en-US" sz="1400" b="1"/>
          </a:p>
          <a:p>
            <a:r>
              <a:rPr lang="en-US" sz="1400" b="1"/>
              <a:t>Media:</a:t>
            </a:r>
          </a:p>
          <a:p>
            <a:endParaRPr lang="en-US" sz="1400" b="1"/>
          </a:p>
          <a:p>
            <a:r>
              <a:rPr lang="en-US" sz="1400" b="1"/>
              <a:t>Size: </a:t>
            </a:r>
          </a:p>
          <a:p>
            <a:endParaRPr lang="en-US" sz="1400" b="1"/>
          </a:p>
        </p:txBody>
      </p:sp>
      <p:sp>
        <p:nvSpPr>
          <p:cNvPr id="7" name="Google Shape;114;p17">
            <a:extLst>
              <a:ext uri="{FF2B5EF4-FFF2-40B4-BE49-F238E27FC236}">
                <a16:creationId xmlns:a16="http://schemas.microsoft.com/office/drawing/2014/main" id="{AF527BEC-D197-23FD-2AFB-B845E360A955}"/>
              </a:ext>
            </a:extLst>
          </p:cNvPr>
          <p:cNvSpPr/>
          <p:nvPr/>
        </p:nvSpPr>
        <p:spPr>
          <a:xfrm>
            <a:off x="8778240" y="224468"/>
            <a:ext cx="3139441" cy="285401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i="1">
                <a:latin typeface="+mj-lt"/>
                <a:ea typeface="Lato"/>
                <a:cs typeface="Lato"/>
                <a:sym typeface="Lato"/>
              </a:rPr>
              <a:t>Insert clear image of </a:t>
            </a:r>
            <a:r>
              <a:rPr lang="en-AU" b="1" i="1">
                <a:latin typeface="+mj-lt"/>
              </a:rPr>
              <a:t>Leigh </a:t>
            </a:r>
            <a:r>
              <a:rPr lang="en-AU" b="1" i="1" err="1">
                <a:latin typeface="+mj-lt"/>
              </a:rPr>
              <a:t>Schoenheimer</a:t>
            </a:r>
            <a:r>
              <a:rPr lang="en-US" b="1" i="1">
                <a:latin typeface="+mj-lt"/>
                <a:ea typeface="Lato"/>
                <a:cs typeface="Lato"/>
                <a:sym typeface="Lato"/>
              </a:rPr>
              <a:t>’s </a:t>
            </a:r>
            <a:r>
              <a:rPr lang="en-US" i="1">
                <a:latin typeface="+mj-lt"/>
                <a:ea typeface="Lato"/>
                <a:cs typeface="Lato"/>
                <a:sym typeface="Lato"/>
              </a:rPr>
              <a:t>artwork that has influenced your creative decision for this experiment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434753-CBD5-B083-308A-4CFDE1844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23"/>
            <a:ext cx="6916115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807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28A8A-B17E-66A6-6714-C6B462358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FAF431-63B3-A3CA-0D15-BCDAD5E2B37D}"/>
              </a:ext>
            </a:extLst>
          </p:cNvPr>
          <p:cNvSpPr txBox="1"/>
          <p:nvPr/>
        </p:nvSpPr>
        <p:spPr>
          <a:xfrm>
            <a:off x="0" y="922152"/>
            <a:ext cx="11841480" cy="598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2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How did using an objective lens influence how the object was understood visually?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2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How did your subjective interpretation change the meaning of the object?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2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How does your object connect to your personal context?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2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How does your work relate to contemporary ideas about everyday materials or consumer culture?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2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How does this experiment develop your understanding of connection?</a:t>
            </a:r>
            <a:endParaRPr lang="en-AU" sz="1200" kern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AU" sz="1200" kern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AU" sz="12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AU" sz="12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black letter on a white background&#10;&#10;AI-generated content may be incorrect.">
            <a:extLst>
              <a:ext uri="{FF2B5EF4-FFF2-40B4-BE49-F238E27FC236}">
                <a16:creationId xmlns:a16="http://schemas.microsoft.com/office/drawing/2014/main" id="{68D3FB79-4BFF-C143-7EE3-5376FF895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6361" y="150519"/>
            <a:ext cx="5115639" cy="7716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F58B806-AD87-20AF-EC6B-1847717EA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023"/>
            <a:ext cx="6916115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092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36DE-9602-CD87-018C-A18B7836D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4;p17">
            <a:extLst>
              <a:ext uri="{FF2B5EF4-FFF2-40B4-BE49-F238E27FC236}">
                <a16:creationId xmlns:a16="http://schemas.microsoft.com/office/drawing/2014/main" id="{21927D1C-5A96-6760-9B7D-DD1C003EEC4D}"/>
              </a:ext>
            </a:extLst>
          </p:cNvPr>
          <p:cNvSpPr/>
          <p:nvPr/>
        </p:nvSpPr>
        <p:spPr>
          <a:xfrm>
            <a:off x="551869" y="1194162"/>
            <a:ext cx="5754561" cy="508885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>
                <a:latin typeface="+mj-lt"/>
                <a:ea typeface="Lato"/>
                <a:cs typeface="Lato"/>
                <a:sym typeface="Lato"/>
              </a:rPr>
              <a:t>Insert clear image of artwork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>
                <a:latin typeface="+mj-lt"/>
                <a:ea typeface="Lato"/>
                <a:cs typeface="Lato"/>
                <a:sym typeface="Lato"/>
              </a:rPr>
              <a:t>Crop the image to frame the work (nothing in the background)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51A519-3834-9965-72FE-85FB593B7A72}"/>
              </a:ext>
            </a:extLst>
          </p:cNvPr>
          <p:cNvSpPr txBox="1"/>
          <p:nvPr/>
        </p:nvSpPr>
        <p:spPr>
          <a:xfrm>
            <a:off x="6519793" y="4750678"/>
            <a:ext cx="3462408" cy="1532334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b="1"/>
              <a:t>Title: </a:t>
            </a:r>
          </a:p>
          <a:p>
            <a:endParaRPr lang="en-US" sz="1400" b="1"/>
          </a:p>
          <a:p>
            <a:r>
              <a:rPr lang="en-US" sz="1400" b="1"/>
              <a:t>Media:</a:t>
            </a:r>
          </a:p>
          <a:p>
            <a:endParaRPr lang="en-US" sz="1400" b="1"/>
          </a:p>
          <a:p>
            <a:r>
              <a:rPr lang="en-US" sz="1400" b="1"/>
              <a:t>Size: </a:t>
            </a:r>
          </a:p>
          <a:p>
            <a:endParaRPr lang="en-US" sz="1400" b="1"/>
          </a:p>
        </p:txBody>
      </p:sp>
      <p:sp>
        <p:nvSpPr>
          <p:cNvPr id="7" name="Google Shape;114;p17">
            <a:extLst>
              <a:ext uri="{FF2B5EF4-FFF2-40B4-BE49-F238E27FC236}">
                <a16:creationId xmlns:a16="http://schemas.microsoft.com/office/drawing/2014/main" id="{260B3F7C-E7F8-35FA-0268-A5AB6D8D5E60}"/>
              </a:ext>
            </a:extLst>
          </p:cNvPr>
          <p:cNvSpPr/>
          <p:nvPr/>
        </p:nvSpPr>
        <p:spPr>
          <a:xfrm>
            <a:off x="8778240" y="224468"/>
            <a:ext cx="3139441" cy="285401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i="1">
                <a:latin typeface="+mj-lt"/>
                <a:ea typeface="Lato"/>
                <a:cs typeface="Lato"/>
                <a:sym typeface="Lato"/>
              </a:rPr>
              <a:t>Insert clear image of </a:t>
            </a:r>
            <a:r>
              <a:rPr lang="en-AU" b="1" i="1">
                <a:latin typeface="+mj-lt"/>
                <a:ea typeface="Lato"/>
                <a:cs typeface="Lato"/>
                <a:sym typeface="Lato"/>
              </a:rPr>
              <a:t>Sam Tupou</a:t>
            </a:r>
            <a:r>
              <a:rPr lang="en-US" b="1" i="1">
                <a:latin typeface="+mj-lt"/>
                <a:ea typeface="Lato"/>
                <a:cs typeface="Lato"/>
                <a:sym typeface="Lato"/>
              </a:rPr>
              <a:t>’s </a:t>
            </a:r>
            <a:r>
              <a:rPr lang="en-US" i="1">
                <a:latin typeface="+mj-lt"/>
                <a:ea typeface="Lato"/>
                <a:cs typeface="Lato"/>
                <a:sym typeface="Lato"/>
              </a:rPr>
              <a:t>artwork that has influenced your creative decision for this experiment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93D925-127F-E771-7583-871A52C72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" y="0"/>
            <a:ext cx="6849431" cy="73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313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8C3DD-98F1-EECC-7359-0DF61BA6F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9BF758-167C-51F6-A6C7-A8FD1CCA8200}"/>
              </a:ext>
            </a:extLst>
          </p:cNvPr>
          <p:cNvSpPr txBox="1"/>
          <p:nvPr/>
        </p:nvSpPr>
        <p:spPr>
          <a:xfrm>
            <a:off x="0" y="922152"/>
            <a:ext cx="11841480" cy="598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2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How does your portrait move beyond physical appearance to show psychological or identity-based meaning?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2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What symbols or patterns communicate personal or cultural context?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2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How does your work relate to contemporary ideas about identity?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2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How did Tupou’s use of pattern influence your approach?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2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How does this experiment deepen your understanding of connection?</a:t>
            </a:r>
            <a:endParaRPr lang="en-AU" sz="1200" kern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AU" sz="1200" kern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AU" sz="12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AU" sz="12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black letter on a white background&#10;&#10;AI-generated content may be incorrect.">
            <a:extLst>
              <a:ext uri="{FF2B5EF4-FFF2-40B4-BE49-F238E27FC236}">
                <a16:creationId xmlns:a16="http://schemas.microsoft.com/office/drawing/2014/main" id="{AD21EC74-3B8B-9627-CE7D-A303FA35F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928" y="150519"/>
            <a:ext cx="5115639" cy="77163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96A3B1D-F935-FDC8-A3C0-9B1FFD0FF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" y="0"/>
            <a:ext cx="6849431" cy="73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323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50B85-EFFB-34E0-B5CD-9C9B338E6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4;p17">
            <a:extLst>
              <a:ext uri="{FF2B5EF4-FFF2-40B4-BE49-F238E27FC236}">
                <a16:creationId xmlns:a16="http://schemas.microsoft.com/office/drawing/2014/main" id="{F1F8A0FE-8DA9-0288-241D-7BF39304D4B6}"/>
              </a:ext>
            </a:extLst>
          </p:cNvPr>
          <p:cNvSpPr/>
          <p:nvPr/>
        </p:nvSpPr>
        <p:spPr>
          <a:xfrm>
            <a:off x="551869" y="1194162"/>
            <a:ext cx="5754561" cy="508885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>
                <a:latin typeface="+mj-lt"/>
                <a:ea typeface="Lato"/>
                <a:cs typeface="Lato"/>
                <a:sym typeface="Lato"/>
              </a:rPr>
              <a:t>Insert clear image of artwork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>
                <a:latin typeface="+mj-lt"/>
                <a:ea typeface="Lato"/>
                <a:cs typeface="Lato"/>
                <a:sym typeface="Lato"/>
              </a:rPr>
              <a:t>Crop the image to frame the work (nothing in the background)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E80B08-08BF-2E97-1F31-043E7DA18E35}"/>
              </a:ext>
            </a:extLst>
          </p:cNvPr>
          <p:cNvSpPr txBox="1"/>
          <p:nvPr/>
        </p:nvSpPr>
        <p:spPr>
          <a:xfrm>
            <a:off x="6519793" y="4750678"/>
            <a:ext cx="3462408" cy="1532334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b="1"/>
              <a:t>Title: </a:t>
            </a:r>
          </a:p>
          <a:p>
            <a:endParaRPr lang="en-US" sz="1400" b="1"/>
          </a:p>
          <a:p>
            <a:r>
              <a:rPr lang="en-US" sz="1400" b="1"/>
              <a:t>Media:</a:t>
            </a:r>
          </a:p>
          <a:p>
            <a:endParaRPr lang="en-US" sz="1400" b="1"/>
          </a:p>
          <a:p>
            <a:r>
              <a:rPr lang="en-US" sz="1400" b="1"/>
              <a:t>Size: </a:t>
            </a:r>
          </a:p>
          <a:p>
            <a:endParaRPr lang="en-US" sz="1400" b="1"/>
          </a:p>
        </p:txBody>
      </p:sp>
      <p:sp>
        <p:nvSpPr>
          <p:cNvPr id="7" name="Google Shape;114;p17">
            <a:extLst>
              <a:ext uri="{FF2B5EF4-FFF2-40B4-BE49-F238E27FC236}">
                <a16:creationId xmlns:a16="http://schemas.microsoft.com/office/drawing/2014/main" id="{25E75678-6E4E-87EA-CA02-5FD92DC76C19}"/>
              </a:ext>
            </a:extLst>
          </p:cNvPr>
          <p:cNvSpPr/>
          <p:nvPr/>
        </p:nvSpPr>
        <p:spPr>
          <a:xfrm>
            <a:off x="8778240" y="224468"/>
            <a:ext cx="3139441" cy="285401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i="1">
                <a:latin typeface="+mj-lt"/>
                <a:ea typeface="Lato"/>
                <a:cs typeface="Lato"/>
                <a:sym typeface="Lato"/>
              </a:rPr>
              <a:t>Insert clear image of </a:t>
            </a:r>
            <a:r>
              <a:rPr lang="en-AU" b="1" i="1">
                <a:latin typeface="+mj-lt"/>
                <a:ea typeface="Lato"/>
                <a:cs typeface="Lato"/>
                <a:sym typeface="Lato"/>
              </a:rPr>
              <a:t> Vernon Ah Kee</a:t>
            </a:r>
            <a:r>
              <a:rPr lang="en-US" b="1" i="1">
                <a:latin typeface="+mj-lt"/>
                <a:ea typeface="Lato"/>
                <a:cs typeface="Lato"/>
                <a:sym typeface="Lato"/>
              </a:rPr>
              <a:t>’s </a:t>
            </a:r>
            <a:r>
              <a:rPr lang="en-US" i="1">
                <a:latin typeface="+mj-lt"/>
                <a:ea typeface="Lato"/>
                <a:cs typeface="Lato"/>
                <a:sym typeface="Lato"/>
              </a:rPr>
              <a:t>artwork that has influenced your creative decision for this experiment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78A152-F360-F146-65A3-3C1C932CC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78380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711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39556-A6D6-6042-0FBC-15FD30EBB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ADDEFB-6E5F-D33D-9F30-ABC13BAF8C56}"/>
              </a:ext>
            </a:extLst>
          </p:cNvPr>
          <p:cNvSpPr txBox="1"/>
          <p:nvPr/>
        </p:nvSpPr>
        <p:spPr>
          <a:xfrm>
            <a:off x="0" y="922152"/>
            <a:ext cx="12192000" cy="598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2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How does time change the meaning of your work compared to a single image?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2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What psychological or emotional ideas are communicated through sequence or movement?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2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How does your work connect to your personal context?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2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How does it reflect a contemporary issue or experience?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1200" kern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12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How did Ah Kee’s practice influence your understanding of identity and time?</a:t>
            </a:r>
            <a:endParaRPr lang="en-AU" sz="1200" kern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AU" sz="1200" kern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AU" sz="12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en-AU" sz="1200" kern="10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FA90E2-C8DD-806B-4464-BD7737DD1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78380" cy="809738"/>
          </a:xfrm>
          <a:prstGeom prst="rect">
            <a:avLst/>
          </a:prstGeom>
        </p:spPr>
      </p:pic>
      <p:pic>
        <p:nvPicPr>
          <p:cNvPr id="6" name="Picture 5" descr="A black letter on a white background&#10;&#10;AI-generated content may be incorrect.">
            <a:extLst>
              <a:ext uri="{FF2B5EF4-FFF2-40B4-BE49-F238E27FC236}">
                <a16:creationId xmlns:a16="http://schemas.microsoft.com/office/drawing/2014/main" id="{66A92234-211D-A176-91F7-7F2D0C948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0" y="561358"/>
            <a:ext cx="4038600" cy="60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607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FA31F2-DC69-488D-9BD4-CFC3A5AB8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992590" cy="6001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D6CE64-833B-CDD6-D900-06F0DE80FD97}"/>
              </a:ext>
            </a:extLst>
          </p:cNvPr>
          <p:cNvSpPr txBox="1"/>
          <p:nvPr/>
        </p:nvSpPr>
        <p:spPr>
          <a:xfrm>
            <a:off x="0" y="600159"/>
            <a:ext cx="1219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/>
              <a:t>Write a 200-300 word paragraph explaining how your investigation will develop in FIA2. This statement should show clear thinking about your direction, ideas and artistic decisions.</a:t>
            </a:r>
            <a:endParaRPr lang="en-US" sz="1200"/>
          </a:p>
          <a:p>
            <a:pPr>
              <a:buNone/>
            </a:pPr>
            <a:endParaRPr lang="en-US" sz="1200"/>
          </a:p>
          <a:p>
            <a:pPr>
              <a:buNone/>
            </a:pPr>
            <a:r>
              <a:rPr lang="en-US" sz="1200"/>
              <a:t>Use these prompts to structure your paragraph:</a:t>
            </a:r>
          </a:p>
          <a:p>
            <a:pPr lvl="1"/>
            <a:r>
              <a:rPr lang="en-US" sz="1200"/>
              <a:t>• What direction do you want to explore further?</a:t>
            </a:r>
            <a:br>
              <a:rPr lang="en-US" sz="1200"/>
            </a:br>
            <a:r>
              <a:rPr lang="en-US" sz="1200"/>
              <a:t>• Which subject focus will you concentrate on — people, place, or object?</a:t>
            </a:r>
            <a:br>
              <a:rPr lang="en-US" sz="1200"/>
            </a:br>
            <a:r>
              <a:rPr lang="en-US" sz="1200"/>
              <a:t>• What lens or idea do you want to deepen?</a:t>
            </a:r>
            <a:br>
              <a:rPr lang="en-US" sz="1200"/>
            </a:br>
            <a:r>
              <a:rPr lang="en-US" sz="1200"/>
              <a:t>• Why does this matter to your personal viewpoint about connection?</a:t>
            </a:r>
          </a:p>
          <a:p>
            <a:pPr>
              <a:buNone/>
            </a:pPr>
            <a:endParaRPr lang="en-US" sz="1200"/>
          </a:p>
          <a:p>
            <a:pPr>
              <a:buNone/>
            </a:pPr>
            <a:r>
              <a:rPr lang="en-US" sz="1200"/>
              <a:t>Finish with: </a:t>
            </a:r>
            <a:r>
              <a:rPr lang="en-US" sz="1200" b="1"/>
              <a:t>My work will aim to make the audience understand that connection can be ____________________.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473219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text&#10;&#10;AI-generated content may be incorrect.">
            <a:extLst>
              <a:ext uri="{FF2B5EF4-FFF2-40B4-BE49-F238E27FC236}">
                <a16:creationId xmlns:a16="http://schemas.microsoft.com/office/drawing/2014/main" id="{9FF0C984-7BF8-2E49-6F2E-D907EB54E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80"/>
            <a:ext cx="3734321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363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Southport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Jacqueline Ockwell</dc:creator>
  <cp:revision>1</cp:revision>
  <dcterms:created xsi:type="dcterms:W3CDTF">2026-02-03T21:29:46Z</dcterms:created>
  <dcterms:modified xsi:type="dcterms:W3CDTF">2026-02-09T00:57:23Z</dcterms:modified>
</cp:coreProperties>
</file>
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9" r:id="rId6"/>
    <p:sldId id="256" r:id="rId7"/>
    <p:sldId id="260" r:id="rId8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98B"/>
    <a:srgbClr val="C7BD80"/>
    <a:srgbClr val="FF6699"/>
    <a:srgbClr val="FF66FF"/>
    <a:srgbClr val="EBC249"/>
    <a:srgbClr val="FDDFDF"/>
    <a:srgbClr val="F1F0D8"/>
    <a:srgbClr val="DCE2EC"/>
    <a:srgbClr val="E0E7DD"/>
    <a:srgbClr val="CFF2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54" autoAdjust="0"/>
    <p:restoredTop sz="92736" autoAdjust="0"/>
  </p:normalViewPr>
  <p:slideViewPr>
    <p:cSldViewPr snapToGrid="0">
      <p:cViewPr varScale="1">
        <p:scale>
          <a:sx n="56" d="100"/>
          <a:sy n="56" d="100"/>
        </p:scale>
        <p:origin x="96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9D654-7EB1-4796-9003-F6D051A65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5A26D9-2B7A-4CD6-9165-562737A1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E7777-C23C-4214-AFB5-9B58DBC1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153F0-CE86-41EA-86A3-5355DFAEE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5FF28-D119-4AC6-B78E-F0153A11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89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E3DD-B95C-4DD7-A791-33D7E789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04E16-3C4D-4156-B5B1-2BE83DB3E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AFC8E-AE96-4CCF-9DCE-AAE969C3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5FEAE-8A29-4FB7-A47D-673271042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E50A5-B479-45C1-8580-1804AA08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11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ABFE-2FC5-4E58-9BA3-17D1D4EE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D4FBB-9C11-45B0-ACE4-14597FAB9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7E040-C082-483E-8B41-2C819DB8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D561E-AA55-47D5-9686-473D1B41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EE793-D8A0-4EE4-BADF-5063E2D1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545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F0F6-1D4C-4638-A387-E839ACB5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118D-5616-4006-8C2D-9C2EF9C28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6F94D-D80A-4EE6-855E-399031B5B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2B7A2-DB75-4514-A58D-DCAAB218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9837-622F-408D-8F2E-59A6CC8A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66B98-653C-4C48-85BA-90E171570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955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7B22-C73B-4A83-88F4-46D9DD52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4AF4A-9DBE-4F37-8DF8-80F3137F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3A0C7-5832-4EE2-8CA8-7AB5F82B8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5C962-C3F8-460F-BAF7-B51CB227A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DCDAB-F8EB-4A82-A29A-7002E0E5A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A8FE2-9451-437E-8E0F-9AD904A9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EAC03-517A-4574-8562-7886235EC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CF3E5-4604-45FD-BBE4-E00B8289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013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9BEA-847C-457E-9305-832F5CC1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B73EDA-A7C5-47F4-9E36-33CE0498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CBFE3-2478-44C4-AB12-BDD1380A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D3F62-840F-4702-9302-8C5F587E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94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3B09D-652A-4BAE-B5C8-266273C5A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9D8B8D-4E6D-4217-B0DB-1B2E938E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84A49-D760-4333-8253-3A17B98D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75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F23C-0A5B-4376-85A3-4596BAA4B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A52BD-039A-42F3-93C6-6FE59DE4B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EEAD8-61D1-4B94-AF07-2D35F7779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EB1E1-6D12-44AE-B3C0-4FBC1C57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5E4A9-A218-4FCA-8CDC-92FBC3ED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52D27-1310-4006-AB9C-FDC7416B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545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CEB9-2900-4F6C-8645-55AA1BBA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B1CE80-75EF-49B3-8CDD-31135D5FC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2DFD0-1590-4589-8E5B-184BC9509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0F9EA-A438-40D8-87C3-600A02EF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BE1FD-FF87-42C2-A70F-F7EA55AF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D63EB-FEE7-42F2-8F92-76A9C0B2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123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6993-4345-4726-BE99-7E923115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A08A5-F027-4140-9D69-3935046C1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94A52-D03C-4262-B0D0-4CB82693F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6FD26-BFD5-4DDD-B46E-CAF2DB4C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3278-6F41-4528-9500-29674A98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409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ADDA52-318B-4397-B11D-8E49B861E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611C8-2C80-4196-B0E8-84B51849E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E2094-66B4-45B9-9DC7-29F54610E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F4414-F113-45A5-A95C-E64B8B0E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3A10C-B9AD-4E92-A7B1-BA920406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056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BD1E8-5422-49E5-A415-9AE1606EE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BF7B1-BBB9-4D3E-94A9-13C60F54F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6B848-A5E6-4228-8D3A-583560415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418D9-30EB-48DD-885F-B0A8B146FAD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D2E33-2AA4-4501-9E38-D04510933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DD8E-164F-4160-BD18-9DAA5DD75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450FF-D7FC-4626-8187-B003F73450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371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5B18988-B133-C84E-BCAB-A312E970D439}"/>
              </a:ext>
            </a:extLst>
          </p:cNvPr>
          <p:cNvSpPr/>
          <p:nvPr/>
        </p:nvSpPr>
        <p:spPr>
          <a:xfrm>
            <a:off x="383524" y="835101"/>
            <a:ext cx="9347310" cy="3856792"/>
          </a:xfrm>
          <a:custGeom>
            <a:avLst/>
            <a:gdLst>
              <a:gd name="csX0" fmla="*/ 0 w 9347310"/>
              <a:gd name="csY0" fmla="*/ 1928396 h 3856792"/>
              <a:gd name="csX1" fmla="*/ 4673655 w 9347310"/>
              <a:gd name="csY1" fmla="*/ 0 h 3856792"/>
              <a:gd name="csX2" fmla="*/ 9347310 w 9347310"/>
              <a:gd name="csY2" fmla="*/ 1928396 h 3856792"/>
              <a:gd name="csX3" fmla="*/ 4673655 w 9347310"/>
              <a:gd name="csY3" fmla="*/ 3856792 h 3856792"/>
              <a:gd name="csX4" fmla="*/ 0 w 9347310"/>
              <a:gd name="csY4" fmla="*/ 1928396 h 3856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347310" h="3856792" fill="none" extrusionOk="0">
                <a:moveTo>
                  <a:pt x="0" y="1928396"/>
                </a:moveTo>
                <a:cubicBezTo>
                  <a:pt x="343206" y="1150189"/>
                  <a:pt x="1922973" y="-212553"/>
                  <a:pt x="4673655" y="0"/>
                </a:cubicBezTo>
                <a:cubicBezTo>
                  <a:pt x="7011160" y="15301"/>
                  <a:pt x="9298919" y="1058925"/>
                  <a:pt x="9347310" y="1928396"/>
                </a:cubicBezTo>
                <a:cubicBezTo>
                  <a:pt x="9349205" y="2428964"/>
                  <a:pt x="6871669" y="3987922"/>
                  <a:pt x="4673655" y="3856792"/>
                </a:cubicBezTo>
                <a:cubicBezTo>
                  <a:pt x="2039297" y="3787996"/>
                  <a:pt x="64682" y="2957142"/>
                  <a:pt x="0" y="1928396"/>
                </a:cubicBezTo>
                <a:close/>
              </a:path>
              <a:path w="9347310" h="3856792" stroke="0" extrusionOk="0">
                <a:moveTo>
                  <a:pt x="0" y="1928396"/>
                </a:moveTo>
                <a:cubicBezTo>
                  <a:pt x="-68917" y="736287"/>
                  <a:pt x="2282748" y="-84856"/>
                  <a:pt x="4673655" y="0"/>
                </a:cubicBezTo>
                <a:cubicBezTo>
                  <a:pt x="7322036" y="142445"/>
                  <a:pt x="9323872" y="874299"/>
                  <a:pt x="9347310" y="1928396"/>
                </a:cubicBezTo>
                <a:cubicBezTo>
                  <a:pt x="8938159" y="2638370"/>
                  <a:pt x="7741181" y="3676038"/>
                  <a:pt x="4673655" y="3856792"/>
                </a:cubicBezTo>
                <a:cubicBezTo>
                  <a:pt x="1965422" y="3724378"/>
                  <a:pt x="200707" y="3145506"/>
                  <a:pt x="0" y="1928396"/>
                </a:cubicBezTo>
                <a:close/>
              </a:path>
            </a:pathLst>
          </a:custGeom>
          <a:solidFill>
            <a:srgbClr val="C7BD80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sz="1000" b="1" dirty="0">
              <a:solidFill>
                <a:schemeClr val="tx1"/>
              </a:solidFill>
              <a:latin typeface="American Typewriter" panose="02090604020004020304"/>
            </a:endParaRPr>
          </a:p>
          <a:p>
            <a:endParaRPr lang="en-US" sz="1000" b="1" dirty="0">
              <a:solidFill>
                <a:schemeClr val="tx1"/>
              </a:solidFill>
              <a:latin typeface="American Typewriter" panose="02090604020004020304"/>
            </a:endParaRPr>
          </a:p>
          <a:p>
            <a:endParaRPr lang="en-US" sz="1000" b="1" dirty="0">
              <a:solidFill>
                <a:schemeClr val="tx1"/>
              </a:solidFill>
              <a:latin typeface="American Typewriter" panose="02090604020004020304"/>
            </a:endParaRPr>
          </a:p>
          <a:p>
            <a:endParaRPr lang="en-US" sz="1000" b="1" dirty="0">
              <a:solidFill>
                <a:schemeClr val="tx1"/>
              </a:solidFill>
              <a:latin typeface="American Typewriter" panose="02090604020004020304"/>
            </a:endParaRPr>
          </a:p>
          <a:p>
            <a:endParaRPr lang="en-US" sz="1000" b="1" dirty="0">
              <a:solidFill>
                <a:schemeClr val="tx1"/>
              </a:solidFill>
              <a:latin typeface="American Typewriter" panose="02090604020004020304"/>
            </a:endParaRPr>
          </a:p>
          <a:p>
            <a:endParaRPr lang="en-US" sz="1000" b="1" dirty="0">
              <a:solidFill>
                <a:schemeClr val="tx1"/>
              </a:solidFill>
              <a:latin typeface="American Typewriter" panose="02090604020004020304"/>
            </a:endParaRPr>
          </a:p>
          <a:p>
            <a:endParaRPr lang="en-US" sz="1000" b="1" dirty="0">
              <a:solidFill>
                <a:schemeClr val="tx1"/>
              </a:solidFill>
              <a:latin typeface="American Typewriter" panose="02090604020004020304"/>
            </a:endParaRP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FIA2, you explored how artists use different lenses to interpret people, places and objects. Through a series of experiments, you investigated how visual language can communicate your personal viewpoint about connection.</a:t>
            </a:r>
          </a:p>
          <a:p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FIA2, you will continue developing ONE direction from your FIA2 investigation. You will refine your ideas, test alternatives, and begin resolving your work with greater clarity and intention.</a:t>
            </a:r>
          </a:p>
          <a:p>
            <a:pPr algn="ctr"/>
            <a:endParaRPr lang="en-US" b="1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ctr"/>
            <a:endParaRPr lang="en-AU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D38284-7DDA-354A-A9B0-97ECDBF2E294}"/>
              </a:ext>
            </a:extLst>
          </p:cNvPr>
          <p:cNvSpPr/>
          <p:nvPr/>
        </p:nvSpPr>
        <p:spPr>
          <a:xfrm>
            <a:off x="1621816" y="85634"/>
            <a:ext cx="8948368" cy="1017610"/>
          </a:xfrm>
          <a:custGeom>
            <a:avLst/>
            <a:gdLst>
              <a:gd name="csX0" fmla="*/ 0 w 8948368"/>
              <a:gd name="csY0" fmla="*/ 508805 h 1017610"/>
              <a:gd name="csX1" fmla="*/ 4474184 w 8948368"/>
              <a:gd name="csY1" fmla="*/ 0 h 1017610"/>
              <a:gd name="csX2" fmla="*/ 8948368 w 8948368"/>
              <a:gd name="csY2" fmla="*/ 508805 h 1017610"/>
              <a:gd name="csX3" fmla="*/ 4474184 w 8948368"/>
              <a:gd name="csY3" fmla="*/ 1017610 h 1017610"/>
              <a:gd name="csX4" fmla="*/ 0 w 8948368"/>
              <a:gd name="csY4" fmla="*/ 508805 h 1017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948368" h="1017610" fill="none" extrusionOk="0">
                <a:moveTo>
                  <a:pt x="0" y="508805"/>
                </a:moveTo>
                <a:cubicBezTo>
                  <a:pt x="87711" y="301100"/>
                  <a:pt x="1873002" y="-163224"/>
                  <a:pt x="4474184" y="0"/>
                </a:cubicBezTo>
                <a:cubicBezTo>
                  <a:pt x="6927675" y="1101"/>
                  <a:pt x="8937452" y="271914"/>
                  <a:pt x="8948368" y="508805"/>
                </a:cubicBezTo>
                <a:cubicBezTo>
                  <a:pt x="8950004" y="302408"/>
                  <a:pt x="6674532" y="1110241"/>
                  <a:pt x="4474184" y="1017610"/>
                </a:cubicBezTo>
                <a:cubicBezTo>
                  <a:pt x="1968082" y="972223"/>
                  <a:pt x="6987" y="785891"/>
                  <a:pt x="0" y="508805"/>
                </a:cubicBezTo>
                <a:close/>
              </a:path>
              <a:path w="8948368" h="1017610" stroke="0" extrusionOk="0">
                <a:moveTo>
                  <a:pt x="0" y="508805"/>
                </a:moveTo>
                <a:cubicBezTo>
                  <a:pt x="-170215" y="-86080"/>
                  <a:pt x="2177723" y="-77847"/>
                  <a:pt x="4474184" y="0"/>
                </a:cubicBezTo>
                <a:cubicBezTo>
                  <a:pt x="6963031" y="37784"/>
                  <a:pt x="8921815" y="240180"/>
                  <a:pt x="8948368" y="508805"/>
                </a:cubicBezTo>
                <a:cubicBezTo>
                  <a:pt x="8683849" y="560268"/>
                  <a:pt x="7204319" y="921308"/>
                  <a:pt x="4474184" y="1017610"/>
                </a:cubicBezTo>
                <a:cubicBezTo>
                  <a:pt x="1970212" y="983269"/>
                  <a:pt x="54101" y="830805"/>
                  <a:pt x="0" y="508805"/>
                </a:cubicBezTo>
                <a:close/>
              </a:path>
            </a:pathLst>
          </a:custGeom>
          <a:solidFill>
            <a:srgbClr val="26398B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 </a:t>
            </a:r>
            <a:r>
              <a:rPr lang="en-AU" sz="2000" b="1" dirty="0">
                <a:solidFill>
                  <a:schemeClr val="bg1"/>
                </a:solidFill>
              </a:rPr>
              <a:t>VISUAL ART</a:t>
            </a:r>
          </a:p>
          <a:p>
            <a:pPr algn="ctr"/>
            <a:r>
              <a:rPr lang="en-AU" sz="2000" b="1" dirty="0">
                <a:solidFill>
                  <a:schemeClr val="bg1"/>
                </a:solidFill>
                <a:latin typeface="American Typewriter" panose="02090604020004020304" pitchFamily="18" charset="77"/>
              </a:rPr>
              <a:t>FIA2 – DEVELOPING YOUR INQUIRY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FA52C3-BE8F-1746-BEF1-F6F2D30CB090}"/>
              </a:ext>
            </a:extLst>
          </p:cNvPr>
          <p:cNvSpPr/>
          <p:nvPr/>
        </p:nvSpPr>
        <p:spPr>
          <a:xfrm>
            <a:off x="7274893" y="5554637"/>
            <a:ext cx="4334133" cy="1190031"/>
          </a:xfrm>
          <a:custGeom>
            <a:avLst/>
            <a:gdLst>
              <a:gd name="csX0" fmla="*/ 0 w 4334133"/>
              <a:gd name="csY0" fmla="*/ 595016 h 1190031"/>
              <a:gd name="csX1" fmla="*/ 2167067 w 4334133"/>
              <a:gd name="csY1" fmla="*/ 0 h 1190031"/>
              <a:gd name="csX2" fmla="*/ 4334134 w 4334133"/>
              <a:gd name="csY2" fmla="*/ 595016 h 1190031"/>
              <a:gd name="csX3" fmla="*/ 2167067 w 4334133"/>
              <a:gd name="csY3" fmla="*/ 1190032 h 1190031"/>
              <a:gd name="csX4" fmla="*/ 0 w 4334133"/>
              <a:gd name="csY4" fmla="*/ 595016 h 11900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34133" h="1190031" fill="none" extrusionOk="0">
                <a:moveTo>
                  <a:pt x="0" y="595016"/>
                </a:moveTo>
                <a:cubicBezTo>
                  <a:pt x="83744" y="336383"/>
                  <a:pt x="939536" y="-38491"/>
                  <a:pt x="2167067" y="0"/>
                </a:cubicBezTo>
                <a:cubicBezTo>
                  <a:pt x="3349831" y="884"/>
                  <a:pt x="4314935" y="343982"/>
                  <a:pt x="4334134" y="595016"/>
                </a:cubicBezTo>
                <a:cubicBezTo>
                  <a:pt x="4334600" y="784941"/>
                  <a:pt x="3214011" y="1241329"/>
                  <a:pt x="2167067" y="1190032"/>
                </a:cubicBezTo>
                <a:cubicBezTo>
                  <a:pt x="954632" y="1169851"/>
                  <a:pt x="67847" y="885581"/>
                  <a:pt x="0" y="595016"/>
                </a:cubicBezTo>
                <a:close/>
              </a:path>
              <a:path w="4334133" h="1190031" stroke="0" extrusionOk="0">
                <a:moveTo>
                  <a:pt x="0" y="595016"/>
                </a:moveTo>
                <a:cubicBezTo>
                  <a:pt x="-17315" y="234469"/>
                  <a:pt x="1072173" y="-45462"/>
                  <a:pt x="2167067" y="0"/>
                </a:cubicBezTo>
                <a:cubicBezTo>
                  <a:pt x="3393764" y="63300"/>
                  <a:pt x="4260543" y="300709"/>
                  <a:pt x="4334134" y="595016"/>
                </a:cubicBezTo>
                <a:cubicBezTo>
                  <a:pt x="4173924" y="784608"/>
                  <a:pt x="3426198" y="1166880"/>
                  <a:pt x="2167067" y="1190032"/>
                </a:cubicBezTo>
                <a:cubicBezTo>
                  <a:pt x="959205" y="1178542"/>
                  <a:pt x="22641" y="940790"/>
                  <a:pt x="0" y="595016"/>
                </a:cubicBezTo>
                <a:close/>
              </a:path>
            </a:pathLst>
          </a:custGeom>
          <a:solidFill>
            <a:srgbClr val="EBC249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merican Typewriter" panose="02090604020004020304"/>
              </a:rPr>
              <a:t>Research. Experiment. Explore. Create</a:t>
            </a:r>
            <a:endParaRPr lang="en-AU" b="1" dirty="0">
              <a:solidFill>
                <a:schemeClr val="tx1">
                  <a:lumMod val="95000"/>
                  <a:lumOff val="5000"/>
                </a:schemeClr>
              </a:solidFill>
              <a:latin typeface="American Typewriter" panose="02090604020004020304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A9F7654-3228-69CB-BBD9-EEF4DF8F1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541" y="951261"/>
            <a:ext cx="3371828" cy="445408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75AE2F7-3069-8D59-23A3-81EC50AF6476}"/>
              </a:ext>
            </a:extLst>
          </p:cNvPr>
          <p:cNvSpPr/>
          <p:nvPr/>
        </p:nvSpPr>
        <p:spPr>
          <a:xfrm>
            <a:off x="327631" y="4423749"/>
            <a:ext cx="6866799" cy="2260120"/>
          </a:xfrm>
          <a:custGeom>
            <a:avLst/>
            <a:gdLst>
              <a:gd name="csX0" fmla="*/ 0 w 6866799"/>
              <a:gd name="csY0" fmla="*/ 1130060 h 2260120"/>
              <a:gd name="csX1" fmla="*/ 3433400 w 6866799"/>
              <a:gd name="csY1" fmla="*/ 0 h 2260120"/>
              <a:gd name="csX2" fmla="*/ 6866800 w 6866799"/>
              <a:gd name="csY2" fmla="*/ 1130060 h 2260120"/>
              <a:gd name="csX3" fmla="*/ 3433400 w 6866799"/>
              <a:gd name="csY3" fmla="*/ 2260120 h 2260120"/>
              <a:gd name="csX4" fmla="*/ 0 w 6866799"/>
              <a:gd name="csY4" fmla="*/ 1130060 h 2260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866799" h="2260120" fill="none" extrusionOk="0">
                <a:moveTo>
                  <a:pt x="0" y="1130060"/>
                </a:moveTo>
                <a:cubicBezTo>
                  <a:pt x="162578" y="641811"/>
                  <a:pt x="1327481" y="-262980"/>
                  <a:pt x="3433400" y="0"/>
                </a:cubicBezTo>
                <a:cubicBezTo>
                  <a:pt x="5290309" y="2468"/>
                  <a:pt x="6852122" y="565258"/>
                  <a:pt x="6866800" y="1130060"/>
                </a:cubicBezTo>
                <a:cubicBezTo>
                  <a:pt x="6867476" y="1552836"/>
                  <a:pt x="5082221" y="2344783"/>
                  <a:pt x="3433400" y="2260120"/>
                </a:cubicBezTo>
                <a:cubicBezTo>
                  <a:pt x="1517531" y="2234689"/>
                  <a:pt x="94529" y="1701157"/>
                  <a:pt x="0" y="1130060"/>
                </a:cubicBezTo>
                <a:close/>
              </a:path>
              <a:path w="6866799" h="2260120" stroke="0" extrusionOk="0">
                <a:moveTo>
                  <a:pt x="0" y="1130060"/>
                </a:moveTo>
                <a:cubicBezTo>
                  <a:pt x="-100381" y="320840"/>
                  <a:pt x="1681189" y="-64218"/>
                  <a:pt x="3433400" y="0"/>
                </a:cubicBezTo>
                <a:cubicBezTo>
                  <a:pt x="5359623" y="63617"/>
                  <a:pt x="6733991" y="567865"/>
                  <a:pt x="6866800" y="1130060"/>
                </a:cubicBezTo>
                <a:cubicBezTo>
                  <a:pt x="6804376" y="1700005"/>
                  <a:pt x="5591064" y="2162949"/>
                  <a:pt x="3433400" y="2260120"/>
                </a:cubicBezTo>
                <a:cubicBezTo>
                  <a:pt x="1516640" y="2238706"/>
                  <a:pt x="118180" y="1843726"/>
                  <a:pt x="0" y="1130060"/>
                </a:cubicBezTo>
                <a:close/>
              </a:path>
            </a:pathLst>
          </a:custGeom>
          <a:solidFill>
            <a:srgbClr val="26398B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FIA2?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FIA1 = exploration</a:t>
            </a:r>
            <a:br>
              <a:rPr lang="en-US" b="1" dirty="0"/>
            </a:br>
            <a:r>
              <a:rPr lang="en-US" b="1" dirty="0"/>
              <a:t>FIA2 = development</a:t>
            </a:r>
          </a:p>
          <a:p>
            <a:pPr algn="ctr"/>
            <a:r>
              <a:rPr lang="en-US" i="1" dirty="0"/>
              <a:t>You are not starting again.</a:t>
            </a:r>
            <a:br>
              <a:rPr lang="en-US" i="1" dirty="0"/>
            </a:br>
            <a:r>
              <a:rPr lang="en-US" i="1" dirty="0"/>
              <a:t>You are continuing what you have already begun.</a:t>
            </a:r>
          </a:p>
        </p:txBody>
      </p:sp>
    </p:spTree>
    <p:extLst>
      <p:ext uri="{BB962C8B-B14F-4D97-AF65-F5344CB8AC3E}">
        <p14:creationId xmlns:p14="http://schemas.microsoft.com/office/powerpoint/2010/main" val="86102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A858EE-747D-A4D3-2CEC-3D4C94AB81C0}"/>
              </a:ext>
            </a:extLst>
          </p:cNvPr>
          <p:cNvSpPr/>
          <p:nvPr/>
        </p:nvSpPr>
        <p:spPr>
          <a:xfrm>
            <a:off x="3723601" y="358031"/>
            <a:ext cx="8142933" cy="106632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AU" sz="1400" dirty="0"/>
          </a:p>
          <a:p>
            <a:pPr algn="ctr"/>
            <a:endParaRPr lang="en-AU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77D945-4D76-418E-B1C0-CDDB5492190C}"/>
              </a:ext>
            </a:extLst>
          </p:cNvPr>
          <p:cNvSpPr/>
          <p:nvPr/>
        </p:nvSpPr>
        <p:spPr>
          <a:xfrm>
            <a:off x="3723601" y="2088420"/>
            <a:ext cx="8142933" cy="106632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AU" sz="1400" dirty="0"/>
          </a:p>
          <a:p>
            <a:pPr algn="ctr"/>
            <a:endParaRPr lang="en-AU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80CC44-A015-4C08-4543-32436BF4CEA0}"/>
              </a:ext>
            </a:extLst>
          </p:cNvPr>
          <p:cNvSpPr/>
          <p:nvPr/>
        </p:nvSpPr>
        <p:spPr>
          <a:xfrm>
            <a:off x="3706678" y="3503677"/>
            <a:ext cx="8142933" cy="31294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AU" sz="1400" dirty="0"/>
          </a:p>
          <a:p>
            <a:pPr algn="ctr"/>
            <a:endParaRPr lang="en-AU" sz="14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C81C77-BD10-A0C6-C92A-490AAF17AD8F}"/>
              </a:ext>
            </a:extLst>
          </p:cNvPr>
          <p:cNvSpPr/>
          <p:nvPr/>
        </p:nvSpPr>
        <p:spPr>
          <a:xfrm>
            <a:off x="269528" y="130687"/>
            <a:ext cx="4544013" cy="1273288"/>
          </a:xfrm>
          <a:custGeom>
            <a:avLst/>
            <a:gdLst>
              <a:gd name="csX0" fmla="*/ 0 w 4544013"/>
              <a:gd name="csY0" fmla="*/ 636644 h 1273288"/>
              <a:gd name="csX1" fmla="*/ 2272007 w 4544013"/>
              <a:gd name="csY1" fmla="*/ 0 h 1273288"/>
              <a:gd name="csX2" fmla="*/ 4544014 w 4544013"/>
              <a:gd name="csY2" fmla="*/ 636644 h 1273288"/>
              <a:gd name="csX3" fmla="*/ 2272007 w 4544013"/>
              <a:gd name="csY3" fmla="*/ 1273288 h 1273288"/>
              <a:gd name="csX4" fmla="*/ 0 w 4544013"/>
              <a:gd name="csY4" fmla="*/ 636644 h 1273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44013" h="1273288" fill="none" extrusionOk="0">
                <a:moveTo>
                  <a:pt x="0" y="636644"/>
                </a:moveTo>
                <a:cubicBezTo>
                  <a:pt x="166979" y="424579"/>
                  <a:pt x="898473" y="-148904"/>
                  <a:pt x="2272007" y="0"/>
                </a:cubicBezTo>
                <a:cubicBezTo>
                  <a:pt x="3444205" y="5186"/>
                  <a:pt x="4529888" y="342121"/>
                  <a:pt x="4544014" y="636644"/>
                </a:cubicBezTo>
                <a:cubicBezTo>
                  <a:pt x="4544625" y="806273"/>
                  <a:pt x="3381765" y="1322923"/>
                  <a:pt x="2272007" y="1273288"/>
                </a:cubicBezTo>
                <a:cubicBezTo>
                  <a:pt x="966401" y="1207545"/>
                  <a:pt x="58743" y="955306"/>
                  <a:pt x="0" y="636644"/>
                </a:cubicBezTo>
                <a:close/>
              </a:path>
              <a:path w="4544013" h="1273288" stroke="0" extrusionOk="0">
                <a:moveTo>
                  <a:pt x="0" y="636644"/>
                </a:moveTo>
                <a:cubicBezTo>
                  <a:pt x="-76718" y="143565"/>
                  <a:pt x="1227798" y="-93912"/>
                  <a:pt x="2272007" y="0"/>
                </a:cubicBezTo>
                <a:cubicBezTo>
                  <a:pt x="3532543" y="12171"/>
                  <a:pt x="4536458" y="288558"/>
                  <a:pt x="4544014" y="636644"/>
                </a:cubicBezTo>
                <a:cubicBezTo>
                  <a:pt x="4371068" y="838175"/>
                  <a:pt x="3748197" y="1191004"/>
                  <a:pt x="2272007" y="1273288"/>
                </a:cubicBezTo>
                <a:cubicBezTo>
                  <a:pt x="990096" y="1245026"/>
                  <a:pt x="28866" y="1010126"/>
                  <a:pt x="0" y="636644"/>
                </a:cubicBezTo>
                <a:close/>
              </a:path>
            </a:pathLst>
          </a:custGeom>
          <a:solidFill>
            <a:srgbClr val="26398B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latin typeface="American Typewriter" panose="02090604020004020304"/>
              </a:rPr>
              <a:t>YOUR DIRECTION</a:t>
            </a:r>
          </a:p>
          <a:p>
            <a:r>
              <a:rPr lang="en-US" sz="1200" dirty="0">
                <a:latin typeface="American Typewriter" panose="02090604020004020304"/>
              </a:rPr>
              <a:t>What focus are you continuing from FIA1?</a:t>
            </a:r>
          </a:p>
          <a:p>
            <a:r>
              <a:rPr lang="en-US" sz="1200" dirty="0">
                <a:latin typeface="American Typewriter" panose="02090604020004020304"/>
              </a:rPr>
              <a:t>• Place / Object / People / Time</a:t>
            </a:r>
            <a:br>
              <a:rPr lang="en-US" sz="1200" dirty="0">
                <a:latin typeface="American Typewriter" panose="02090604020004020304"/>
              </a:rPr>
            </a:br>
            <a:r>
              <a:rPr lang="en-US" sz="1200" dirty="0">
                <a:latin typeface="American Typewriter" panose="02090604020004020304"/>
              </a:rPr>
              <a:t>• Which lens are you exploring?</a:t>
            </a:r>
            <a:endParaRPr lang="en-AU" sz="1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5186F1-E641-8530-86DF-69D9C77BE070}"/>
              </a:ext>
            </a:extLst>
          </p:cNvPr>
          <p:cNvSpPr/>
          <p:nvPr/>
        </p:nvSpPr>
        <p:spPr>
          <a:xfrm>
            <a:off x="0" y="1568829"/>
            <a:ext cx="4867636" cy="1415257"/>
          </a:xfrm>
          <a:custGeom>
            <a:avLst/>
            <a:gdLst>
              <a:gd name="csX0" fmla="*/ 0 w 4867636"/>
              <a:gd name="csY0" fmla="*/ 707629 h 1415257"/>
              <a:gd name="csX1" fmla="*/ 2433818 w 4867636"/>
              <a:gd name="csY1" fmla="*/ 0 h 1415257"/>
              <a:gd name="csX2" fmla="*/ 4867636 w 4867636"/>
              <a:gd name="csY2" fmla="*/ 707629 h 1415257"/>
              <a:gd name="csX3" fmla="*/ 2433818 w 4867636"/>
              <a:gd name="csY3" fmla="*/ 1415258 h 1415257"/>
              <a:gd name="csX4" fmla="*/ 0 w 4867636"/>
              <a:gd name="csY4" fmla="*/ 707629 h 14152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67636" h="1415257" fill="none" extrusionOk="0">
                <a:moveTo>
                  <a:pt x="0" y="707629"/>
                </a:moveTo>
                <a:cubicBezTo>
                  <a:pt x="125751" y="421906"/>
                  <a:pt x="1033388" y="-70564"/>
                  <a:pt x="2433818" y="0"/>
                </a:cubicBezTo>
                <a:cubicBezTo>
                  <a:pt x="3764492" y="847"/>
                  <a:pt x="4863259" y="334502"/>
                  <a:pt x="4867636" y="707629"/>
                </a:cubicBezTo>
                <a:cubicBezTo>
                  <a:pt x="4868482" y="846307"/>
                  <a:pt x="3571813" y="1485812"/>
                  <a:pt x="2433818" y="1415258"/>
                </a:cubicBezTo>
                <a:cubicBezTo>
                  <a:pt x="1053562" y="1368555"/>
                  <a:pt x="77997" y="1054696"/>
                  <a:pt x="0" y="707629"/>
                </a:cubicBezTo>
                <a:close/>
              </a:path>
              <a:path w="4867636" h="1415257" stroke="0" extrusionOk="0">
                <a:moveTo>
                  <a:pt x="0" y="707629"/>
                </a:moveTo>
                <a:cubicBezTo>
                  <a:pt x="-86983" y="156417"/>
                  <a:pt x="1121099" y="-14022"/>
                  <a:pt x="2433818" y="0"/>
                </a:cubicBezTo>
                <a:cubicBezTo>
                  <a:pt x="3790566" y="26684"/>
                  <a:pt x="4818036" y="339941"/>
                  <a:pt x="4867636" y="707629"/>
                </a:cubicBezTo>
                <a:cubicBezTo>
                  <a:pt x="4808569" y="1047185"/>
                  <a:pt x="3865397" y="1382768"/>
                  <a:pt x="2433818" y="1415258"/>
                </a:cubicBezTo>
                <a:cubicBezTo>
                  <a:pt x="1073573" y="1398494"/>
                  <a:pt x="47815" y="1134674"/>
                  <a:pt x="0" y="707629"/>
                </a:cubicBezTo>
                <a:close/>
              </a:path>
            </a:pathLst>
          </a:custGeom>
          <a:solidFill>
            <a:srgbClr val="26398B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American Typewriter" panose="02090604020004020304"/>
              </a:rPr>
              <a:t>REFINED INQUIRY</a:t>
            </a:r>
          </a:p>
          <a:p>
            <a:r>
              <a:rPr lang="en-US" sz="1400" dirty="0">
                <a:latin typeface="American Typewriter" panose="02090604020004020304"/>
              </a:rPr>
              <a:t>Write your inquiry question:</a:t>
            </a:r>
          </a:p>
          <a:p>
            <a:r>
              <a:rPr lang="en-US" sz="1400" dirty="0">
                <a:latin typeface="American Typewriter" panose="02090604020004020304"/>
              </a:rPr>
              <a:t>(You may refine your FIA1 question if needed)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79D1E4-E224-A05E-3677-29F9DF6E85DE}"/>
              </a:ext>
            </a:extLst>
          </p:cNvPr>
          <p:cNvSpPr/>
          <p:nvPr/>
        </p:nvSpPr>
        <p:spPr>
          <a:xfrm>
            <a:off x="198242" y="3148940"/>
            <a:ext cx="4471152" cy="2538972"/>
          </a:xfrm>
          <a:custGeom>
            <a:avLst/>
            <a:gdLst>
              <a:gd name="csX0" fmla="*/ 0 w 4471152"/>
              <a:gd name="csY0" fmla="*/ 1269486 h 2538972"/>
              <a:gd name="csX1" fmla="*/ 2235576 w 4471152"/>
              <a:gd name="csY1" fmla="*/ 0 h 2538972"/>
              <a:gd name="csX2" fmla="*/ 4471152 w 4471152"/>
              <a:gd name="csY2" fmla="*/ 1269486 h 2538972"/>
              <a:gd name="csX3" fmla="*/ 2235576 w 4471152"/>
              <a:gd name="csY3" fmla="*/ 2538972 h 2538972"/>
              <a:gd name="csX4" fmla="*/ 0 w 4471152"/>
              <a:gd name="csY4" fmla="*/ 1269486 h 25389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71152" h="2538972" fill="none" extrusionOk="0">
                <a:moveTo>
                  <a:pt x="0" y="1269486"/>
                </a:moveTo>
                <a:cubicBezTo>
                  <a:pt x="145712" y="690140"/>
                  <a:pt x="932020" y="-86380"/>
                  <a:pt x="2235576" y="0"/>
                </a:cubicBezTo>
                <a:cubicBezTo>
                  <a:pt x="3386889" y="5234"/>
                  <a:pt x="4443572" y="679822"/>
                  <a:pt x="4471152" y="1269486"/>
                </a:cubicBezTo>
                <a:cubicBezTo>
                  <a:pt x="4471528" y="1858530"/>
                  <a:pt x="3214648" y="2626444"/>
                  <a:pt x="2235576" y="2538972"/>
                </a:cubicBezTo>
                <a:cubicBezTo>
                  <a:pt x="919231" y="2433300"/>
                  <a:pt x="43398" y="1946264"/>
                  <a:pt x="0" y="1269486"/>
                </a:cubicBezTo>
                <a:close/>
              </a:path>
              <a:path w="4471152" h="2538972" stroke="0" extrusionOk="0">
                <a:moveTo>
                  <a:pt x="0" y="1269486"/>
                </a:moveTo>
                <a:cubicBezTo>
                  <a:pt x="-131468" y="325937"/>
                  <a:pt x="1187524" y="-83225"/>
                  <a:pt x="2235576" y="0"/>
                </a:cubicBezTo>
                <a:cubicBezTo>
                  <a:pt x="3514730" y="94293"/>
                  <a:pt x="4369455" y="615783"/>
                  <a:pt x="4471152" y="1269486"/>
                </a:cubicBezTo>
                <a:cubicBezTo>
                  <a:pt x="4442275" y="1945545"/>
                  <a:pt x="3628905" y="2480006"/>
                  <a:pt x="2235576" y="2538972"/>
                </a:cubicBezTo>
                <a:cubicBezTo>
                  <a:pt x="972435" y="2509303"/>
                  <a:pt x="58685" y="2015073"/>
                  <a:pt x="0" y="1269486"/>
                </a:cubicBezTo>
                <a:close/>
              </a:path>
            </a:pathLst>
          </a:custGeom>
          <a:solidFill>
            <a:srgbClr val="26398B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American Typewriter" panose="02090604020004020304"/>
              </a:rPr>
              <a:t>PROPOSAL (100–150 words)</a:t>
            </a:r>
          </a:p>
          <a:p>
            <a:r>
              <a:rPr lang="en-US" sz="1400" dirty="0">
                <a:latin typeface="American Typewriter" panose="02090604020004020304"/>
              </a:rPr>
              <a:t>Explain:</a:t>
            </a:r>
          </a:p>
          <a:p>
            <a:r>
              <a:rPr lang="en-US" sz="1400" dirty="0">
                <a:latin typeface="American Typewriter" panose="02090604020004020304"/>
              </a:rPr>
              <a:t>• What you will create? What ideas you are exploring? How your work connects to your FIA1 experiment? What you want your audience to understand</a:t>
            </a:r>
          </a:p>
        </p:txBody>
      </p:sp>
    </p:spTree>
    <p:extLst>
      <p:ext uri="{BB962C8B-B14F-4D97-AF65-F5344CB8AC3E}">
        <p14:creationId xmlns:p14="http://schemas.microsoft.com/office/powerpoint/2010/main" val="265229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7530F53-B785-4552-9E5F-3C2F0A2AE4BF}"/>
              </a:ext>
            </a:extLst>
          </p:cNvPr>
          <p:cNvSpPr/>
          <p:nvPr/>
        </p:nvSpPr>
        <p:spPr>
          <a:xfrm>
            <a:off x="3117481" y="511650"/>
            <a:ext cx="2481070" cy="25248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ctr"/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ctr"/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ctr"/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ctr"/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ctr"/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ctr"/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AU" sz="1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r>
              <a:rPr lang="en-AU" sz="1000" dirty="0">
                <a:solidFill>
                  <a:schemeClr val="tx1"/>
                </a:solidFill>
                <a:latin typeface="Garamond" panose="02020404030301010803" pitchFamily="18" charset="0"/>
              </a:rPr>
              <a:t>Example of works IMAGES OF ARTISTS WORK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67C887-BADB-4C16-88E5-666F2FA7D464}"/>
              </a:ext>
            </a:extLst>
          </p:cNvPr>
          <p:cNvSpPr/>
          <p:nvPr/>
        </p:nvSpPr>
        <p:spPr>
          <a:xfrm>
            <a:off x="3117481" y="3748708"/>
            <a:ext cx="2481070" cy="25248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675CA6-7752-4D2D-9CC7-9B0E141C19A6}"/>
              </a:ext>
            </a:extLst>
          </p:cNvPr>
          <p:cNvSpPr/>
          <p:nvPr/>
        </p:nvSpPr>
        <p:spPr>
          <a:xfrm>
            <a:off x="46545" y="2013826"/>
            <a:ext cx="1440615" cy="1607514"/>
          </a:xfrm>
          <a:custGeom>
            <a:avLst/>
            <a:gdLst>
              <a:gd name="csX0" fmla="*/ 0 w 1440615"/>
              <a:gd name="csY0" fmla="*/ 803757 h 1607514"/>
              <a:gd name="csX1" fmla="*/ 720308 w 1440615"/>
              <a:gd name="csY1" fmla="*/ 0 h 1607514"/>
              <a:gd name="csX2" fmla="*/ 1440616 w 1440615"/>
              <a:gd name="csY2" fmla="*/ 803757 h 1607514"/>
              <a:gd name="csX3" fmla="*/ 720308 w 1440615"/>
              <a:gd name="csY3" fmla="*/ 1607514 h 1607514"/>
              <a:gd name="csX4" fmla="*/ 0 w 1440615"/>
              <a:gd name="csY4" fmla="*/ 803757 h 1607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40615" h="1607514" fill="none" extrusionOk="0">
                <a:moveTo>
                  <a:pt x="0" y="803757"/>
                </a:moveTo>
                <a:cubicBezTo>
                  <a:pt x="7886" y="366444"/>
                  <a:pt x="269213" y="-66816"/>
                  <a:pt x="720308" y="0"/>
                </a:cubicBezTo>
                <a:cubicBezTo>
                  <a:pt x="1052792" y="4102"/>
                  <a:pt x="1420821" y="439847"/>
                  <a:pt x="1440616" y="803757"/>
                </a:cubicBezTo>
                <a:cubicBezTo>
                  <a:pt x="1440677" y="1229491"/>
                  <a:pt x="1080519" y="1620383"/>
                  <a:pt x="720308" y="1607514"/>
                </a:cubicBezTo>
                <a:cubicBezTo>
                  <a:pt x="294363" y="1571117"/>
                  <a:pt x="35917" y="1227516"/>
                  <a:pt x="0" y="803757"/>
                </a:cubicBezTo>
                <a:close/>
              </a:path>
              <a:path w="1440615" h="1607514" stroke="0" extrusionOk="0">
                <a:moveTo>
                  <a:pt x="0" y="803757"/>
                </a:moveTo>
                <a:cubicBezTo>
                  <a:pt x="-40697" y="284807"/>
                  <a:pt x="412347" y="-40071"/>
                  <a:pt x="720308" y="0"/>
                </a:cubicBezTo>
                <a:cubicBezTo>
                  <a:pt x="1154675" y="77488"/>
                  <a:pt x="1355609" y="399488"/>
                  <a:pt x="1440616" y="803757"/>
                </a:cubicBezTo>
                <a:cubicBezTo>
                  <a:pt x="1429682" y="1238171"/>
                  <a:pt x="1176471" y="1585828"/>
                  <a:pt x="720308" y="1607514"/>
                </a:cubicBezTo>
                <a:cubicBezTo>
                  <a:pt x="286899" y="1570416"/>
                  <a:pt x="47187" y="1283416"/>
                  <a:pt x="0" y="803757"/>
                </a:cubicBezTo>
                <a:close/>
              </a:path>
            </a:pathLst>
          </a:custGeom>
          <a:solidFill>
            <a:srgbClr val="EBC249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5494B-E16B-40E4-900E-E3D21B2A77B3}"/>
              </a:ext>
            </a:extLst>
          </p:cNvPr>
          <p:cNvSpPr txBox="1"/>
          <p:nvPr/>
        </p:nvSpPr>
        <p:spPr>
          <a:xfrm>
            <a:off x="136529" y="2475425"/>
            <a:ext cx="1415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1" dirty="0">
                <a:latin typeface="American Typewriter" panose="02090604020004020304"/>
              </a:rPr>
              <a:t>Mentor </a:t>
            </a:r>
          </a:p>
          <a:p>
            <a:pPr algn="ctr"/>
            <a:r>
              <a:rPr lang="en-AU" sz="2000" b="1" dirty="0">
                <a:latin typeface="American Typewriter" panose="02090604020004020304"/>
              </a:rPr>
              <a:t>Artists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0A06C9-4F2D-4D3A-96D3-80205CE94ECE}"/>
              </a:ext>
            </a:extLst>
          </p:cNvPr>
          <p:cNvSpPr/>
          <p:nvPr/>
        </p:nvSpPr>
        <p:spPr>
          <a:xfrm>
            <a:off x="153646" y="127695"/>
            <a:ext cx="2481070" cy="648261"/>
          </a:xfrm>
          <a:prstGeom prst="rect">
            <a:avLst/>
          </a:prstGeom>
          <a:solidFill>
            <a:srgbClr val="26398B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b="1" dirty="0">
                <a:solidFill>
                  <a:schemeClr val="bg1"/>
                </a:solidFill>
                <a:latin typeface="American Typewriter" panose="02090604020004020304"/>
              </a:rPr>
              <a:t>PROPOSAL – FIA2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C5B4BF-5C3A-40EB-B301-0545ACAF86EC}"/>
              </a:ext>
            </a:extLst>
          </p:cNvPr>
          <p:cNvSpPr/>
          <p:nvPr/>
        </p:nvSpPr>
        <p:spPr>
          <a:xfrm>
            <a:off x="1347182" y="1771891"/>
            <a:ext cx="952660" cy="578823"/>
          </a:xfrm>
          <a:custGeom>
            <a:avLst/>
            <a:gdLst>
              <a:gd name="csX0" fmla="*/ 0 w 952660"/>
              <a:gd name="csY0" fmla="*/ 289412 h 578823"/>
              <a:gd name="csX1" fmla="*/ 476330 w 952660"/>
              <a:gd name="csY1" fmla="*/ 0 h 578823"/>
              <a:gd name="csX2" fmla="*/ 952660 w 952660"/>
              <a:gd name="csY2" fmla="*/ 289412 h 578823"/>
              <a:gd name="csX3" fmla="*/ 476330 w 952660"/>
              <a:gd name="csY3" fmla="*/ 578824 h 578823"/>
              <a:gd name="csX4" fmla="*/ 0 w 952660"/>
              <a:gd name="csY4" fmla="*/ 289412 h 578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2660" h="578823" fill="none" extrusionOk="0">
                <a:moveTo>
                  <a:pt x="0" y="289412"/>
                </a:moveTo>
                <a:cubicBezTo>
                  <a:pt x="27357" y="93995"/>
                  <a:pt x="224780" y="-6364"/>
                  <a:pt x="476330" y="0"/>
                </a:cubicBezTo>
                <a:cubicBezTo>
                  <a:pt x="750187" y="-6223"/>
                  <a:pt x="958137" y="128161"/>
                  <a:pt x="952660" y="289412"/>
                </a:cubicBezTo>
                <a:cubicBezTo>
                  <a:pt x="991911" y="469188"/>
                  <a:pt x="681756" y="563320"/>
                  <a:pt x="476330" y="578824"/>
                </a:cubicBezTo>
                <a:cubicBezTo>
                  <a:pt x="210357" y="539121"/>
                  <a:pt x="-14686" y="448072"/>
                  <a:pt x="0" y="289412"/>
                </a:cubicBezTo>
                <a:close/>
              </a:path>
              <a:path w="952660" h="578823" stroke="0" extrusionOk="0">
                <a:moveTo>
                  <a:pt x="0" y="289412"/>
                </a:moveTo>
                <a:cubicBezTo>
                  <a:pt x="-48060" y="102070"/>
                  <a:pt x="255555" y="-40376"/>
                  <a:pt x="476330" y="0"/>
                </a:cubicBezTo>
                <a:cubicBezTo>
                  <a:pt x="766613" y="2243"/>
                  <a:pt x="932518" y="97110"/>
                  <a:pt x="952660" y="289412"/>
                </a:cubicBezTo>
                <a:cubicBezTo>
                  <a:pt x="955718" y="455809"/>
                  <a:pt x="713300" y="593563"/>
                  <a:pt x="476330" y="578824"/>
                </a:cubicBezTo>
                <a:cubicBezTo>
                  <a:pt x="234653" y="548365"/>
                  <a:pt x="18281" y="469736"/>
                  <a:pt x="0" y="289412"/>
                </a:cubicBezTo>
                <a:close/>
              </a:path>
            </a:pathLst>
          </a:custGeom>
          <a:solidFill>
            <a:schemeClr val="bg1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47619919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Garamond" panose="02020404030301010803" pitchFamily="18" charset="0"/>
              </a:rPr>
              <a:t>Artist name </a:t>
            </a:r>
            <a:endParaRPr lang="en-AU" sz="10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A5D4DC-A006-463F-919B-7F0FA54C62CB}"/>
              </a:ext>
            </a:extLst>
          </p:cNvPr>
          <p:cNvCxnSpPr>
            <a:cxnSpLocks/>
          </p:cNvCxnSpPr>
          <p:nvPr/>
        </p:nvCxnSpPr>
        <p:spPr>
          <a:xfrm>
            <a:off x="2426561" y="4131147"/>
            <a:ext cx="564521" cy="492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BD4EEF-7362-4A63-A002-3F1F58E6AED9}"/>
              </a:ext>
            </a:extLst>
          </p:cNvPr>
          <p:cNvCxnSpPr>
            <a:cxnSpLocks/>
          </p:cNvCxnSpPr>
          <p:nvPr/>
        </p:nvCxnSpPr>
        <p:spPr>
          <a:xfrm>
            <a:off x="6013046" y="1517826"/>
            <a:ext cx="527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3DA792-3934-4A41-B690-887AE1F5B4F2}"/>
              </a:ext>
            </a:extLst>
          </p:cNvPr>
          <p:cNvCxnSpPr>
            <a:cxnSpLocks/>
          </p:cNvCxnSpPr>
          <p:nvPr/>
        </p:nvCxnSpPr>
        <p:spPr>
          <a:xfrm flipV="1">
            <a:off x="2349945" y="1251083"/>
            <a:ext cx="593683" cy="513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D3F468D-ECEC-944E-BEA4-FB1E9F8843D1}"/>
              </a:ext>
            </a:extLst>
          </p:cNvPr>
          <p:cNvSpPr/>
          <p:nvPr/>
        </p:nvSpPr>
        <p:spPr>
          <a:xfrm>
            <a:off x="1393652" y="3552324"/>
            <a:ext cx="952660" cy="578823"/>
          </a:xfrm>
          <a:custGeom>
            <a:avLst/>
            <a:gdLst>
              <a:gd name="csX0" fmla="*/ 0 w 952660"/>
              <a:gd name="csY0" fmla="*/ 289412 h 578823"/>
              <a:gd name="csX1" fmla="*/ 476330 w 952660"/>
              <a:gd name="csY1" fmla="*/ 0 h 578823"/>
              <a:gd name="csX2" fmla="*/ 952660 w 952660"/>
              <a:gd name="csY2" fmla="*/ 289412 h 578823"/>
              <a:gd name="csX3" fmla="*/ 476330 w 952660"/>
              <a:gd name="csY3" fmla="*/ 578824 h 578823"/>
              <a:gd name="csX4" fmla="*/ 0 w 952660"/>
              <a:gd name="csY4" fmla="*/ 289412 h 578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2660" h="578823" fill="none" extrusionOk="0">
                <a:moveTo>
                  <a:pt x="0" y="289412"/>
                </a:moveTo>
                <a:cubicBezTo>
                  <a:pt x="27357" y="93995"/>
                  <a:pt x="224780" y="-6364"/>
                  <a:pt x="476330" y="0"/>
                </a:cubicBezTo>
                <a:cubicBezTo>
                  <a:pt x="750187" y="-6223"/>
                  <a:pt x="958137" y="128161"/>
                  <a:pt x="952660" y="289412"/>
                </a:cubicBezTo>
                <a:cubicBezTo>
                  <a:pt x="991911" y="469188"/>
                  <a:pt x="681756" y="563320"/>
                  <a:pt x="476330" y="578824"/>
                </a:cubicBezTo>
                <a:cubicBezTo>
                  <a:pt x="210357" y="539121"/>
                  <a:pt x="-14686" y="448072"/>
                  <a:pt x="0" y="289412"/>
                </a:cubicBezTo>
                <a:close/>
              </a:path>
              <a:path w="952660" h="578823" stroke="0" extrusionOk="0">
                <a:moveTo>
                  <a:pt x="0" y="289412"/>
                </a:moveTo>
                <a:cubicBezTo>
                  <a:pt x="-48060" y="102070"/>
                  <a:pt x="255555" y="-40376"/>
                  <a:pt x="476330" y="0"/>
                </a:cubicBezTo>
                <a:cubicBezTo>
                  <a:pt x="766613" y="2243"/>
                  <a:pt x="932518" y="97110"/>
                  <a:pt x="952660" y="289412"/>
                </a:cubicBezTo>
                <a:cubicBezTo>
                  <a:pt x="955718" y="455809"/>
                  <a:pt x="713300" y="593563"/>
                  <a:pt x="476330" y="578824"/>
                </a:cubicBezTo>
                <a:cubicBezTo>
                  <a:pt x="234653" y="548365"/>
                  <a:pt x="18281" y="469736"/>
                  <a:pt x="0" y="289412"/>
                </a:cubicBezTo>
                <a:close/>
              </a:path>
            </a:pathLst>
          </a:custGeom>
          <a:solidFill>
            <a:schemeClr val="bg1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47619919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Garamond" panose="02020404030301010803" pitchFamily="18" charset="0"/>
              </a:rPr>
              <a:t>Artist name</a:t>
            </a:r>
            <a:endParaRPr lang="en-AU" sz="10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8E2A8-9D05-B95C-D348-7D1F828A06B5}"/>
              </a:ext>
            </a:extLst>
          </p:cNvPr>
          <p:cNvSpPr txBox="1"/>
          <p:nvPr/>
        </p:nvSpPr>
        <p:spPr>
          <a:xfrm>
            <a:off x="6908281" y="200130"/>
            <a:ext cx="5078298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ARTIST CONNECTION</a:t>
            </a:r>
          </a:p>
          <a:p>
            <a:r>
              <a:rPr lang="en-US" dirty="0"/>
              <a:t>• What do they explore?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• How do they use visual language?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• What will you apply in your work?</a:t>
            </a:r>
          </a:p>
          <a:p>
            <a:endParaRPr lang="en-US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DA7E4-C74F-D214-5EDE-4CF5F2B993A3}"/>
              </a:ext>
            </a:extLst>
          </p:cNvPr>
          <p:cNvSpPr txBox="1"/>
          <p:nvPr/>
        </p:nvSpPr>
        <p:spPr>
          <a:xfrm>
            <a:off x="6908281" y="3712035"/>
            <a:ext cx="507829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ARTIST CONNECTION</a:t>
            </a:r>
          </a:p>
          <a:p>
            <a:r>
              <a:rPr lang="en-US" dirty="0"/>
              <a:t>• What do they explore?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• How do they use visual language?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• What will you apply in your work?</a:t>
            </a:r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F53286-0FE3-031A-A21A-A85F8AA41173}"/>
              </a:ext>
            </a:extLst>
          </p:cNvPr>
          <p:cNvCxnSpPr>
            <a:cxnSpLocks/>
          </p:cNvCxnSpPr>
          <p:nvPr/>
        </p:nvCxnSpPr>
        <p:spPr>
          <a:xfrm>
            <a:off x="5989675" y="5059590"/>
            <a:ext cx="527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044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FD9C5F7-322A-1EE2-FBB5-CA096A848C80}"/>
              </a:ext>
            </a:extLst>
          </p:cNvPr>
          <p:cNvSpPr/>
          <p:nvPr/>
        </p:nvSpPr>
        <p:spPr>
          <a:xfrm>
            <a:off x="262999" y="110180"/>
            <a:ext cx="3017834" cy="829737"/>
          </a:xfrm>
          <a:custGeom>
            <a:avLst/>
            <a:gdLst>
              <a:gd name="csX0" fmla="*/ 0 w 3017834"/>
              <a:gd name="csY0" fmla="*/ 414869 h 829737"/>
              <a:gd name="csX1" fmla="*/ 1508917 w 3017834"/>
              <a:gd name="csY1" fmla="*/ 0 h 829737"/>
              <a:gd name="csX2" fmla="*/ 3017834 w 3017834"/>
              <a:gd name="csY2" fmla="*/ 414869 h 829737"/>
              <a:gd name="csX3" fmla="*/ 1508917 w 3017834"/>
              <a:gd name="csY3" fmla="*/ 829738 h 829737"/>
              <a:gd name="csX4" fmla="*/ 0 w 3017834"/>
              <a:gd name="csY4" fmla="*/ 414869 h 829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17834" h="829737" fill="none" extrusionOk="0">
                <a:moveTo>
                  <a:pt x="0" y="414869"/>
                </a:moveTo>
                <a:cubicBezTo>
                  <a:pt x="121959" y="287664"/>
                  <a:pt x="627556" y="-60205"/>
                  <a:pt x="1508917" y="0"/>
                </a:cubicBezTo>
                <a:cubicBezTo>
                  <a:pt x="2292953" y="3097"/>
                  <a:pt x="3015241" y="196222"/>
                  <a:pt x="3017834" y="414869"/>
                </a:cubicBezTo>
                <a:cubicBezTo>
                  <a:pt x="3017892" y="626591"/>
                  <a:pt x="2193573" y="880625"/>
                  <a:pt x="1508917" y="829738"/>
                </a:cubicBezTo>
                <a:cubicBezTo>
                  <a:pt x="645290" y="790566"/>
                  <a:pt x="32401" y="625822"/>
                  <a:pt x="0" y="414869"/>
                </a:cubicBezTo>
                <a:close/>
              </a:path>
              <a:path w="3017834" h="829737" stroke="0" extrusionOk="0">
                <a:moveTo>
                  <a:pt x="0" y="414869"/>
                </a:moveTo>
                <a:cubicBezTo>
                  <a:pt x="-23896" y="141679"/>
                  <a:pt x="824812" y="-66557"/>
                  <a:pt x="1508917" y="0"/>
                </a:cubicBezTo>
                <a:cubicBezTo>
                  <a:pt x="2349832" y="16034"/>
                  <a:pt x="2991513" y="198015"/>
                  <a:pt x="3017834" y="414869"/>
                </a:cubicBezTo>
                <a:cubicBezTo>
                  <a:pt x="2979634" y="610846"/>
                  <a:pt x="2425377" y="798850"/>
                  <a:pt x="1508917" y="829738"/>
                </a:cubicBezTo>
                <a:cubicBezTo>
                  <a:pt x="655507" y="808832"/>
                  <a:pt x="41810" y="675676"/>
                  <a:pt x="0" y="414869"/>
                </a:cubicBezTo>
                <a:close/>
              </a:path>
            </a:pathLst>
          </a:custGeom>
          <a:solidFill>
            <a:srgbClr val="26398B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merican Typewriter" panose="02090604020004020304"/>
              </a:rPr>
              <a:t>Visual Stimuli </a:t>
            </a:r>
            <a:endParaRPr lang="en-AU" b="1" dirty="0">
              <a:solidFill>
                <a:schemeClr val="bg1"/>
              </a:solidFill>
              <a:latin typeface="American Typewriter" panose="02090604020004020304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EB0971-9568-5176-241A-DF0A53F82265}"/>
              </a:ext>
            </a:extLst>
          </p:cNvPr>
          <p:cNvSpPr/>
          <p:nvPr/>
        </p:nvSpPr>
        <p:spPr>
          <a:xfrm>
            <a:off x="2964178" y="0"/>
            <a:ext cx="3885195" cy="1388172"/>
          </a:xfrm>
          <a:custGeom>
            <a:avLst/>
            <a:gdLst>
              <a:gd name="csX0" fmla="*/ 0 w 3885195"/>
              <a:gd name="csY0" fmla="*/ 694086 h 1388172"/>
              <a:gd name="csX1" fmla="*/ 1942598 w 3885195"/>
              <a:gd name="csY1" fmla="*/ 0 h 1388172"/>
              <a:gd name="csX2" fmla="*/ 3885196 w 3885195"/>
              <a:gd name="csY2" fmla="*/ 694086 h 1388172"/>
              <a:gd name="csX3" fmla="*/ 1942598 w 3885195"/>
              <a:gd name="csY3" fmla="*/ 1388172 h 1388172"/>
              <a:gd name="csX4" fmla="*/ 0 w 3885195"/>
              <a:gd name="csY4" fmla="*/ 694086 h 1388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85195" h="1388172" fill="none" extrusionOk="0">
                <a:moveTo>
                  <a:pt x="0" y="694086"/>
                </a:moveTo>
                <a:cubicBezTo>
                  <a:pt x="29139" y="272856"/>
                  <a:pt x="935746" y="-36470"/>
                  <a:pt x="1942598" y="0"/>
                </a:cubicBezTo>
                <a:cubicBezTo>
                  <a:pt x="3029879" y="-8315"/>
                  <a:pt x="3922692" y="301078"/>
                  <a:pt x="3885196" y="694086"/>
                </a:cubicBezTo>
                <a:cubicBezTo>
                  <a:pt x="4018461" y="1145113"/>
                  <a:pt x="2890335" y="1354517"/>
                  <a:pt x="1942598" y="1388172"/>
                </a:cubicBezTo>
                <a:cubicBezTo>
                  <a:pt x="862759" y="1292824"/>
                  <a:pt x="-15325" y="1076189"/>
                  <a:pt x="0" y="694086"/>
                </a:cubicBezTo>
                <a:close/>
              </a:path>
              <a:path w="3885195" h="1388172" stroke="0" extrusionOk="0">
                <a:moveTo>
                  <a:pt x="0" y="694086"/>
                </a:moveTo>
                <a:cubicBezTo>
                  <a:pt x="-124624" y="239432"/>
                  <a:pt x="950781" y="-77372"/>
                  <a:pt x="1942598" y="0"/>
                </a:cubicBezTo>
                <a:cubicBezTo>
                  <a:pt x="3047455" y="2637"/>
                  <a:pt x="3851052" y="255721"/>
                  <a:pt x="3885196" y="694086"/>
                </a:cubicBezTo>
                <a:cubicBezTo>
                  <a:pt x="3935898" y="1186166"/>
                  <a:pt x="2895360" y="1455995"/>
                  <a:pt x="1942598" y="1388172"/>
                </a:cubicBezTo>
                <a:cubicBezTo>
                  <a:pt x="914455" y="1324493"/>
                  <a:pt x="5897" y="1084027"/>
                  <a:pt x="0" y="694086"/>
                </a:cubicBezTo>
                <a:close/>
              </a:path>
            </a:pathLst>
          </a:custGeom>
          <a:solidFill>
            <a:schemeClr val="bg1"/>
          </a:solidFill>
          <a:ln w="31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47619919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American Typewriter" panose="02090604020004020304"/>
              </a:rPr>
              <a:t>Include 4–6 images:</a:t>
            </a:r>
          </a:p>
          <a:p>
            <a:r>
              <a:rPr lang="en-US" sz="1400" dirty="0">
                <a:solidFill>
                  <a:schemeClr val="tx1"/>
                </a:solidFill>
                <a:latin typeface="American Typewriter" panose="02090604020004020304"/>
              </a:rPr>
              <a:t>• your own FIA1 work</a:t>
            </a:r>
            <a:br>
              <a:rPr lang="en-US" sz="1400" dirty="0">
                <a:solidFill>
                  <a:schemeClr val="tx1"/>
                </a:solidFill>
                <a:latin typeface="American Typewriter" panose="02090604020004020304"/>
              </a:rPr>
            </a:br>
            <a:r>
              <a:rPr lang="en-US" sz="1400" dirty="0">
                <a:solidFill>
                  <a:schemeClr val="tx1"/>
                </a:solidFill>
                <a:latin typeface="American Typewriter" panose="02090604020004020304"/>
              </a:rPr>
              <a:t>• artist references</a:t>
            </a:r>
            <a:br>
              <a:rPr lang="en-US" sz="1400" dirty="0">
                <a:solidFill>
                  <a:schemeClr val="tx1"/>
                </a:solidFill>
                <a:latin typeface="American Typewriter" panose="02090604020004020304"/>
              </a:rPr>
            </a:br>
            <a:r>
              <a:rPr lang="en-US" sz="1400" dirty="0">
                <a:solidFill>
                  <a:schemeClr val="tx1"/>
                </a:solidFill>
                <a:latin typeface="American Typewriter" panose="02090604020004020304"/>
              </a:rPr>
              <a:t>• inspiration images</a:t>
            </a:r>
            <a:br>
              <a:rPr lang="en-US" sz="1400" dirty="0">
                <a:solidFill>
                  <a:schemeClr val="tx1"/>
                </a:solidFill>
                <a:latin typeface="American Typewriter" panose="02090604020004020304"/>
              </a:rPr>
            </a:br>
            <a:r>
              <a:rPr lang="en-US" sz="1400" dirty="0">
                <a:solidFill>
                  <a:schemeClr val="tx1"/>
                </a:solidFill>
                <a:latin typeface="American Typewriter" panose="02090604020004020304"/>
              </a:rPr>
              <a:t>• material ideas</a:t>
            </a:r>
          </a:p>
        </p:txBody>
      </p:sp>
    </p:spTree>
    <p:extLst>
      <p:ext uri="{BB962C8B-B14F-4D97-AF65-F5344CB8AC3E}">
        <p14:creationId xmlns:p14="http://schemas.microsoft.com/office/powerpoint/2010/main" val="1303349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e625cd-20be-46cd-b9af-43f151819b9b" xsi:nil="true"/>
    <lcf76f155ced4ddcb4097134ff3c332f xmlns="6648ede1-a4fe-4f09-bd34-8b5f14dba2f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23FE070741BE4593719E3D7BAF0F83" ma:contentTypeVersion="13" ma:contentTypeDescription="Create a new document." ma:contentTypeScope="" ma:versionID="0ac61ce818829fcdcde1f801e2f30aa9">
  <xsd:schema xmlns:xsd="http://www.w3.org/2001/XMLSchema" xmlns:xs="http://www.w3.org/2001/XMLSchema" xmlns:p="http://schemas.microsoft.com/office/2006/metadata/properties" xmlns:ns2="6648ede1-a4fe-4f09-bd34-8b5f14dba2f3" xmlns:ns3="afe625cd-20be-46cd-b9af-43f151819b9b" targetNamespace="http://schemas.microsoft.com/office/2006/metadata/properties" ma:root="true" ma:fieldsID="4b559d8bc5766fc21508cd64f58d4258" ns2:_="" ns3:_="">
    <xsd:import namespace="6648ede1-a4fe-4f09-bd34-8b5f14dba2f3"/>
    <xsd:import namespace="afe625cd-20be-46cd-b9af-43f151819b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48ede1-a4fe-4f09-bd34-8b5f14dba2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f282c0e-de5e-4f85-8fa8-0214f0ad4d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e625cd-20be-46cd-b9af-43f151819b9b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7dce5be-a7ab-49a6-95db-bfe2b33b3680}" ma:internalName="TaxCatchAll" ma:showField="CatchAllData" ma:web="afe625cd-20be-46cd-b9af-43f151819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D89521-C41F-4D32-A7E0-5EB547EF631F}">
  <ds:schemaRefs>
    <ds:schemaRef ds:uri="6648ede1-a4fe-4f09-bd34-8b5f14dba2f3"/>
    <ds:schemaRef ds:uri="afe625cd-20be-46cd-b9af-43f151819b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D22111E-D28F-4813-8618-4AC6A1433183}">
  <ds:schemaRefs>
    <ds:schemaRef ds:uri="6648ede1-a4fe-4f09-bd34-8b5f14dba2f3"/>
    <ds:schemaRef ds:uri="afe625cd-20be-46cd-b9af-43f151819b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EE54C3-1F17-4D4F-AA55-57B4D87328C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9b8a18a-7af3-4931-9d08-29df45da2bd9}" enabled="0" method="" siteId="{49b8a18a-7af3-4931-9d08-29df45da2bd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284</Words>
  <Application>Microsoft Office PowerPoint</Application>
  <PresentationFormat>Widescreen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American Typewriter</vt:lpstr>
      <vt:lpstr>Arial</vt:lpstr>
      <vt:lpstr>Calibri</vt:lpstr>
      <vt:lpstr>Calibri Light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Townsend, Samuel</dc:creator>
  <cp:lastModifiedBy>Jacqueline Ockwell</cp:lastModifiedBy>
  <cp:revision>2</cp:revision>
  <cp:lastPrinted>2024-01-30T21:18:30Z</cp:lastPrinted>
  <dcterms:created xsi:type="dcterms:W3CDTF">2020-06-19T03:53:33Z</dcterms:created>
  <dcterms:modified xsi:type="dcterms:W3CDTF">2026-04-21T23:18:09Z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0x0101007823FE070741BE4593719E3D7BAF0F83</vt:lpwstr>
  </property>
</Properties>
</file>
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E713-C003-12AE-1E0E-4F749ED6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CB029-25B8-8B07-C302-A7CDD72F0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EF4F-8898-B80B-CFDC-3DEA3399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36DFC-0908-AED4-18EB-B97EE7349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FFADA-FDCF-3458-1498-1125FD61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31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A8AA-F268-A70F-E092-6D3FFCDA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0E41-C613-6507-1F79-B03F22BC9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95781-1CBC-34FB-05B8-E4F456CD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3686A-F277-8270-35BC-C4DBC5F7F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455D-5826-C1D9-238E-B9E89DB0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8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B323-653C-64D3-4912-648E476E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E66FB-D49B-B2D6-FBC8-47D11F0CC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3D9CC-77C5-0ABE-83E6-1A302399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5D8F0-AED2-D184-1CBC-3163020B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7BB3-48E1-7ACD-EB33-D619EAD5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39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A04C-E21F-BD17-6F49-24B8E6B7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F23D-62C9-C9A1-668E-B0FF93D36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45016-5824-BE8F-8B5C-A1932968F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49C95-D200-B917-80A6-27EC2CF8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49C21-A02D-799A-278C-0DE18AEB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127C5-011A-53A5-88A9-A4438943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00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9D0C-5514-097B-D39E-0D8E0401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38142-F07F-0B96-CE3F-684B03FF8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BA69D-899A-B52D-D1B4-5B3643403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E2BAA-B84B-D4CC-6624-C069B666E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CB937-9848-88F5-873C-CF00A6A0E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80E04-8CA7-11B5-E879-2C6B7EB1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D2758-CEB3-6ED1-0514-017AA677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25987-26A2-7DD2-D17E-484D9714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025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B14C-22D9-64D0-3E12-33D77BD6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9767D-58AB-5EFB-D44B-DF8C731F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0F8AA-955F-D9F7-2BBE-61D896D7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8F1FC-83CC-0296-A4FD-0DEAAF88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00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FB952-C558-3DDB-23DF-EB0E71DA1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46307-210C-98DD-C215-2FF647F0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8E99D-06DF-FA61-1F44-6DE11C7D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36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E159-0607-1DE9-F728-39B0DB0F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4A8D0-E782-D180-20FE-F60EC6153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EB4EC-5397-419F-1423-9F468579A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2F0F2-3F91-FC04-75B4-40948370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B77C8-E60E-D779-856A-8EB6262C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BF6ED-F670-BEE3-3D96-7F9D9A1B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65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32C9-359F-B72D-8D33-C390878A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9DC5DD-8B58-9FE3-4109-CDE7689B0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EDD16-DABA-3555-368E-280C7F2F8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4C26C-F62F-CFEE-360E-074F51673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3C0B-8B3A-8EB9-BA2F-AE177738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FB98-1BC5-9559-D219-BA3BA578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59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EFCC-B2FD-3A9F-112D-385733D9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AC89A-5731-62D2-D11C-19C798A37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04A77-3521-A1C1-8D6F-433C6FE6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E58B8-33A1-20BE-5748-5A318F94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3C97F-F26B-1804-EB3B-FCB1AF40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056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24A49-94F6-6F29-618A-3115588A3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D1811-C40D-BC9C-D8D6-C6336A12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2D2C3-09C0-E1D6-02A3-FB096C0A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B10C6-BC2C-92EB-1374-70D0E459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C5D05-0BC2-1CA2-BA3A-E9AAE7B6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51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29563-8753-90D2-9627-B6DB2067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D3B38-B359-09C0-CDDC-ABCA37C51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777F-46EF-8CED-7B65-D72E033AA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32D1D-0863-46F0-91C1-5FFAF50C2B07}" type="datetimeFigureOut">
              <a:rPr lang="en-AU" smtClean="0"/>
              <a:t>16/05/2025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E1B1F-4F6B-C82D-6E06-FC629CE03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E174-C064-FD50-0153-247DE6610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A3340-8701-4187-94C3-51E668A30C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570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F53C2-9018-F73A-56F8-573841A8D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489586" y="3013978"/>
            <a:ext cx="6672852" cy="644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20DF9-2642-571F-3BA8-2CB0753A1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" y="0"/>
            <a:ext cx="11195957" cy="587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C282FC-408A-EA73-7C8F-10025EDC576A}"/>
              </a:ext>
            </a:extLst>
          </p:cNvPr>
          <p:cNvSpPr txBox="1"/>
          <p:nvPr/>
        </p:nvSpPr>
        <p:spPr>
          <a:xfrm>
            <a:off x="375556" y="946581"/>
            <a:ext cx="4351892" cy="550437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+mj-lt"/>
              </a:rPr>
              <a:t>Weekly Checkpoint: Mentor Artist &amp; Experiment Annotation</a:t>
            </a:r>
          </a:p>
          <a:p>
            <a:pPr>
              <a:buNone/>
            </a:pPr>
            <a:endParaRPr lang="en-US" sz="1400" dirty="0">
              <a:latin typeface="+mj-lt"/>
            </a:endParaRPr>
          </a:p>
          <a:p>
            <a:pPr>
              <a:buNone/>
            </a:pPr>
            <a:r>
              <a:rPr lang="en-US" sz="1400" dirty="0">
                <a:latin typeface="+mj-lt"/>
              </a:rPr>
              <a:t>Over the next </a:t>
            </a:r>
            <a:r>
              <a:rPr lang="en-US" sz="1400" b="1" dirty="0">
                <a:latin typeface="+mj-lt"/>
              </a:rPr>
              <a:t>3 weeks</a:t>
            </a:r>
            <a:r>
              <a:rPr lang="en-US" sz="1400" dirty="0">
                <a:latin typeface="+mj-lt"/>
              </a:rPr>
              <a:t>, you will complete:</a:t>
            </a:r>
          </a:p>
          <a:p>
            <a:pPr>
              <a:buNone/>
            </a:pPr>
            <a:endParaRPr lang="en-US" sz="1400" dirty="0">
              <a:latin typeface="+mj-lt"/>
            </a:endParaRPr>
          </a:p>
          <a:p>
            <a:pPr>
              <a:buNone/>
            </a:pPr>
            <a:r>
              <a:rPr lang="en-US" sz="1400" dirty="0">
                <a:latin typeface="+mj-lt"/>
              </a:rPr>
              <a:t>🔹 </a:t>
            </a:r>
            <a:r>
              <a:rPr lang="en-US" sz="1400" b="1" dirty="0">
                <a:latin typeface="+mj-lt"/>
              </a:rPr>
              <a:t>One annotated mentor artist per week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Include an image of one artwork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Annotate how this artist connects to your inquiry question and focus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Explain what you’ve learned and how it’s influenced your own ideas</a:t>
            </a:r>
          </a:p>
          <a:p>
            <a:pPr lvl="1"/>
            <a:endParaRPr lang="en-US" sz="1400" dirty="0">
              <a:latin typeface="+mj-lt"/>
            </a:endParaRPr>
          </a:p>
          <a:p>
            <a:pPr>
              <a:buNone/>
            </a:pPr>
            <a:r>
              <a:rPr lang="en-US" sz="1400" dirty="0">
                <a:latin typeface="+mj-lt"/>
              </a:rPr>
              <a:t>🔹 </a:t>
            </a:r>
            <a:r>
              <a:rPr lang="en-US" sz="1400" b="1" dirty="0">
                <a:latin typeface="+mj-lt"/>
              </a:rPr>
              <a:t>One annotated experiment per week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Include images of your practical experiment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Annotate what worked, what didn’t, and how it’s helping you move forward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</a:rPr>
              <a:t>Reflect on whether it’s shaping your ideas, materials, or concepts</a:t>
            </a:r>
          </a:p>
          <a:p>
            <a:endParaRPr lang="en-US" sz="1400" dirty="0">
              <a:latin typeface="+mj-lt"/>
            </a:endParaRP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These annotations will help </a:t>
            </a:r>
            <a:r>
              <a:rPr lang="en-US" sz="1400" b="1" dirty="0">
                <a:latin typeface="+mj-lt"/>
              </a:rPr>
              <a:t>track your progress</a:t>
            </a:r>
            <a:r>
              <a:rPr lang="en-US" sz="1400" dirty="0">
                <a:latin typeface="+mj-lt"/>
              </a:rPr>
              <a:t> and give you </a:t>
            </a:r>
            <a:r>
              <a:rPr lang="en-US" sz="1400" b="1" dirty="0">
                <a:latin typeface="+mj-lt"/>
              </a:rPr>
              <a:t>clear direction</a:t>
            </a:r>
            <a:r>
              <a:rPr lang="en-US" sz="1400" dirty="0">
                <a:latin typeface="+mj-lt"/>
              </a:rPr>
              <a:t> toward your final artwork.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CD6CA6-AE3F-AC3A-E285-5ED875543F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18"/>
          <a:stretch/>
        </p:blipFill>
        <p:spPr>
          <a:xfrm>
            <a:off x="8118550" y="1054106"/>
            <a:ext cx="3321007" cy="2561863"/>
          </a:xfrm>
          <a:prstGeom prst="rect">
            <a:avLst/>
          </a:prstGeom>
        </p:spPr>
      </p:pic>
      <p:pic>
        <p:nvPicPr>
          <p:cNvPr id="1026" name="Picture 2" descr="Art Sketchbook Ideas: Creative Examples to Inspire Students">
            <a:extLst>
              <a:ext uri="{FF2B5EF4-FFF2-40B4-BE49-F238E27FC236}">
                <a16:creationId xmlns:a16="http://schemas.microsoft.com/office/drawing/2014/main" id="{A598AFB3-23E7-6FD7-4E5D-4C97C6C91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070" y="4078198"/>
            <a:ext cx="2148580" cy="210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ketchbook containing pieces of fabric, photos of fabric and notes">
            <a:extLst>
              <a:ext uri="{FF2B5EF4-FFF2-40B4-BE49-F238E27FC236}">
                <a16:creationId xmlns:a16="http://schemas.microsoft.com/office/drawing/2014/main" id="{FAAAB7C2-0716-D384-12FA-328EDC995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352" y="4082556"/>
            <a:ext cx="3019803" cy="21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2049BD-40B7-5B21-75FC-87DED18E0897}"/>
              </a:ext>
            </a:extLst>
          </p:cNvPr>
          <p:cNvCxnSpPr/>
          <p:nvPr/>
        </p:nvCxnSpPr>
        <p:spPr>
          <a:xfrm flipV="1">
            <a:off x="4086280" y="2323623"/>
            <a:ext cx="960120" cy="173736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9DD6C49-0D04-337A-8FA5-71F3473474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748"/>
          <a:stretch/>
        </p:blipFill>
        <p:spPr>
          <a:xfrm>
            <a:off x="5129138" y="1551362"/>
            <a:ext cx="3019803" cy="171825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032F36-91FD-537E-ABDE-970D665472CB}"/>
              </a:ext>
            </a:extLst>
          </p:cNvPr>
          <p:cNvCxnSpPr>
            <a:cxnSpLocks/>
          </p:cNvCxnSpPr>
          <p:nvPr/>
        </p:nvCxnSpPr>
        <p:spPr>
          <a:xfrm>
            <a:off x="5129138" y="3771922"/>
            <a:ext cx="6110361" cy="0"/>
          </a:xfrm>
          <a:prstGeom prst="line">
            <a:avLst/>
          </a:prstGeom>
          <a:ln w="28575">
            <a:prstDash val="soli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2C7D58-11B6-D46D-54B2-DEC7BA89747B}"/>
              </a:ext>
            </a:extLst>
          </p:cNvPr>
          <p:cNvCxnSpPr>
            <a:cxnSpLocks/>
          </p:cNvCxnSpPr>
          <p:nvPr/>
        </p:nvCxnSpPr>
        <p:spPr>
          <a:xfrm>
            <a:off x="4282219" y="4729136"/>
            <a:ext cx="890458" cy="344856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54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C87112-2857-1A77-A05C-79CE24E8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6096" cy="663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614035-90D5-824B-5438-B0244F1A5BAE}"/>
              </a:ext>
            </a:extLst>
          </p:cNvPr>
          <p:cNvSpPr txBox="1"/>
          <p:nvPr/>
        </p:nvSpPr>
        <p:spPr>
          <a:xfrm>
            <a:off x="9125712" y="135874"/>
            <a:ext cx="2855976" cy="4819412"/>
          </a:xfrm>
          <a:prstGeom prst="round2DiagRect">
            <a:avLst/>
          </a:prstGeom>
          <a:solidFill>
            <a:srgbClr val="FF9933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What to include: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 clear image of one artwork by your mentor artist</a:t>
            </a:r>
          </a:p>
          <a:p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Annotate the image with: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What materials and techniques they used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What ideas or messages they are exploring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How the work is </a:t>
            </a:r>
            <a:r>
              <a:rPr lang="en-US" sz="1200" i="1" dirty="0">
                <a:solidFill>
                  <a:schemeClr val="bg1"/>
                </a:solidFill>
                <a:latin typeface="+mj-lt"/>
              </a:rPr>
              <a:t>alternate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(e.g. in materials, meaning, display, or audience interaction)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Why you chose this artist – how do they relate to your inquiry question and focus statement?</a:t>
            </a:r>
          </a:p>
          <a:p>
            <a:endParaRPr lang="en-US" sz="12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Use dot points – keep it clear and focused.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algn="ctr">
              <a:buNone/>
            </a:pPr>
            <a:endParaRPr lang="en-US" sz="1400" dirty="0">
              <a:solidFill>
                <a:schemeClr val="bg1"/>
              </a:solidFill>
              <a:latin typeface="+mj-lt"/>
            </a:endParaRPr>
          </a:p>
          <a:p>
            <a:pPr algn="ctr">
              <a:buNone/>
            </a:pPr>
            <a:r>
              <a:rPr lang="en-US" sz="1200" b="1" i="1" u="sng" dirty="0">
                <a:solidFill>
                  <a:schemeClr val="bg1"/>
                </a:solidFill>
                <a:latin typeface="+mj-lt"/>
              </a:rPr>
              <a:t>These instructions are a reference DELETE once you’ve completed the slide</a:t>
            </a:r>
          </a:p>
        </p:txBody>
      </p:sp>
    </p:spTree>
    <p:extLst>
      <p:ext uri="{BB962C8B-B14F-4D97-AF65-F5344CB8AC3E}">
        <p14:creationId xmlns:p14="http://schemas.microsoft.com/office/powerpoint/2010/main" val="79390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46BD3-226C-1F03-4F7E-DE4B6E664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78440" cy="662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0B2DF-59A9-981C-B7ED-1D9341379446}"/>
              </a:ext>
            </a:extLst>
          </p:cNvPr>
          <p:cNvSpPr txBox="1"/>
          <p:nvPr/>
        </p:nvSpPr>
        <p:spPr>
          <a:xfrm>
            <a:off x="9079992" y="830818"/>
            <a:ext cx="2855976" cy="3514844"/>
          </a:xfrm>
          <a:prstGeom prst="round2DiagRect">
            <a:avLst/>
          </a:prstGeom>
          <a:solidFill>
            <a:srgbClr val="FF9933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What to include:</a:t>
            </a:r>
          </a:p>
          <a:p>
            <a:pPr>
              <a:buNone/>
            </a:pP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Several clear photos of your experiments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Any reference images, media tests, or materials you’ve explored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Annotate each image with: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What were you trying to do?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What worked well?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What didn’t work?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Will you continue this idea or change direction? Why?</a:t>
            </a:r>
          </a:p>
          <a:p>
            <a:pPr algn="ctr">
              <a:buNone/>
            </a:pPr>
            <a:endParaRPr lang="en-US" sz="1400" dirty="0">
              <a:solidFill>
                <a:schemeClr val="bg1"/>
              </a:solidFill>
              <a:latin typeface="+mj-lt"/>
            </a:endParaRPr>
          </a:p>
          <a:p>
            <a:pPr algn="ctr">
              <a:buNone/>
            </a:pPr>
            <a:r>
              <a:rPr lang="en-US" sz="1200" b="1" i="1" u="sng" dirty="0">
                <a:solidFill>
                  <a:schemeClr val="bg1"/>
                </a:solidFill>
                <a:latin typeface="+mj-lt"/>
              </a:rPr>
              <a:t>These instructions are a reference DELETE once you’ve completed the slide</a:t>
            </a:r>
          </a:p>
        </p:txBody>
      </p:sp>
    </p:spTree>
    <p:extLst>
      <p:ext uri="{BB962C8B-B14F-4D97-AF65-F5344CB8AC3E}">
        <p14:creationId xmlns:p14="http://schemas.microsoft.com/office/powerpoint/2010/main" val="1176170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E9DC8-F164-D025-32C7-221341F9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" y="0"/>
            <a:ext cx="11378184" cy="63502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68264B-5A68-BA0C-5704-BEB7FA5C2134}"/>
              </a:ext>
            </a:extLst>
          </p:cNvPr>
          <p:cNvCxnSpPr>
            <a:cxnSpLocks/>
          </p:cNvCxnSpPr>
          <p:nvPr/>
        </p:nvCxnSpPr>
        <p:spPr>
          <a:xfrm>
            <a:off x="6946392" y="864691"/>
            <a:ext cx="0" cy="5669280"/>
          </a:xfrm>
          <a:prstGeom prst="line">
            <a:avLst/>
          </a:prstGeom>
          <a:ln w="28575">
            <a:prstDash val="soli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31CAFC-5E2E-B859-70FC-052EFC783BBF}"/>
              </a:ext>
            </a:extLst>
          </p:cNvPr>
          <p:cNvSpPr txBox="1"/>
          <p:nvPr/>
        </p:nvSpPr>
        <p:spPr>
          <a:xfrm>
            <a:off x="395479" y="992207"/>
            <a:ext cx="6204203" cy="5414248"/>
          </a:xfrm>
          <a:prstGeom prst="round2Diag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>
                <a:latin typeface="+mj-lt"/>
              </a:rPr>
              <a:t>Reflect and plan:</a:t>
            </a:r>
          </a:p>
          <a:p>
            <a:pPr>
              <a:buNone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What will you do next with your ideas and materials?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What do you need to test, collect, or improve?</a:t>
            </a:r>
          </a:p>
          <a:p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How will you push your ideas further – both technically and conceptually?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>
              <a:buNone/>
            </a:pPr>
            <a:r>
              <a:rPr lang="en-US" sz="1200" b="1" dirty="0">
                <a:latin typeface="+mj-lt"/>
              </a:rPr>
              <a:t>Think:</a:t>
            </a:r>
          </a:p>
          <a:p>
            <a:pPr>
              <a:buNone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How does this work fit into </a:t>
            </a:r>
            <a:r>
              <a:rPr lang="en-US" sz="1200" i="1" dirty="0">
                <a:latin typeface="+mj-lt"/>
              </a:rPr>
              <a:t>Art as Alternate</a:t>
            </a:r>
            <a:r>
              <a:rPr lang="en-US" sz="1200" dirty="0">
                <a:latin typeface="+mj-lt"/>
              </a:rPr>
              <a:t>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Are you using unusual materials or display?</a:t>
            </a:r>
          </a:p>
          <a:p>
            <a:pPr lvl="1"/>
            <a:endParaRPr lang="en-US" sz="1200" dirty="0">
              <a:latin typeface="+mj-lt"/>
            </a:endParaRPr>
          </a:p>
          <a:p>
            <a:pPr lvl="1"/>
            <a:endParaRPr lang="en-US" sz="1200" dirty="0">
              <a:latin typeface="+mj-lt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Are you exploring bold or challenging themes?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Are you trying to get the viewer to think or respond in a new way?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F46FB-34EA-7534-B6AE-F372369D5E2F}"/>
              </a:ext>
            </a:extLst>
          </p:cNvPr>
          <p:cNvSpPr txBox="1"/>
          <p:nvPr/>
        </p:nvSpPr>
        <p:spPr>
          <a:xfrm>
            <a:off x="7424933" y="992207"/>
            <a:ext cx="4371588" cy="5319593"/>
          </a:xfrm>
          <a:prstGeom prst="round2Diag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>
                <a:latin typeface="+mj-lt"/>
              </a:rPr>
              <a:t>Make clear connections:</a:t>
            </a: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What have you borrowed or adapted from your mentor artist?</a:t>
            </a:r>
          </a:p>
          <a:p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How has their work helped shape your own ideas or experiments?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latin typeface="+mj-lt"/>
              </a:rPr>
              <a:t>How does your work reflect your inquiry question and focus statement?</a:t>
            </a:r>
          </a:p>
          <a:p>
            <a:pPr>
              <a:buNone/>
            </a:pPr>
            <a:endParaRPr lang="en-US" sz="1200" b="1" i="1" u="sng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endParaRPr lang="en-US" sz="1200" b="1" i="1" u="sng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endParaRPr lang="en-US" sz="1200" b="1" i="1" u="sng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endParaRPr lang="en-US" sz="1200" b="1" i="1" u="sng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BD059-4B0F-F11A-FF9C-5DB339D20F6A}"/>
              </a:ext>
            </a:extLst>
          </p:cNvPr>
          <p:cNvSpPr txBox="1"/>
          <p:nvPr/>
        </p:nvSpPr>
        <p:spPr>
          <a:xfrm>
            <a:off x="10843259" y="635020"/>
            <a:ext cx="1274059" cy="908864"/>
          </a:xfrm>
          <a:prstGeom prst="flowChartConnector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200" b="1" i="1" dirty="0">
                <a:solidFill>
                  <a:schemeClr val="bg1"/>
                </a:solidFill>
                <a:latin typeface="+mj-lt"/>
              </a:rPr>
              <a:t>Respond to these questions!</a:t>
            </a:r>
            <a:endParaRPr lang="en-US" sz="1200" b="1" i="1" u="sng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070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391</Words>
  <Application>Microsoft Office PowerPoint</Application>
  <PresentationFormat>Widescreen</PresentationFormat>
  <Paragraphs>86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2025-05-15T20:52:00Z</dcterms:created>
  <dcterms:modified xsi:type="dcterms:W3CDTF">2025-05-15T21:39:10Z</dcterms:modified>
</cp:coreProperties>
</file>
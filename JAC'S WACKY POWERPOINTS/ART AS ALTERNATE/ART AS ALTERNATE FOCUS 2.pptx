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65" r:id="rId4"/>
    <p:sldId id="267" r:id="rId5"/>
    <p:sldId id="266" r:id="rId6"/>
    <p:sldId id="268" r:id="rId7"/>
    <p:sldId id="270" r:id="rId8"/>
    <p:sldId id="269" r:id="rId9"/>
    <p:sldId id="271" r:id="rId10"/>
    <p:sldId id="272"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5F68A26-3F4A-49B1-A7F6-DD3CC891D413}" v="3" dt="2025-05-07T07:47:07.89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3" d="100"/>
          <a:sy n="63" d="100"/>
        </p:scale>
        <p:origin x="66" y="8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cqueline Ockwell" userId="79a11ae1-9a6a-4dce-9c68-e7607b2827ec" providerId="ADAL" clId="{A5F68A26-3F4A-49B1-A7F6-DD3CC891D413}"/>
    <pc:docChg chg="modSld">
      <pc:chgData name="Jacqueline Ockwell" userId="79a11ae1-9a6a-4dce-9c68-e7607b2827ec" providerId="ADAL" clId="{A5F68A26-3F4A-49B1-A7F6-DD3CC891D413}" dt="2025-05-07T07:47:10.938" v="4" actId="1076"/>
      <pc:docMkLst>
        <pc:docMk/>
      </pc:docMkLst>
      <pc:sldChg chg="addSp modSp mod">
        <pc:chgData name="Jacqueline Ockwell" userId="79a11ae1-9a6a-4dce-9c68-e7607b2827ec" providerId="ADAL" clId="{A5F68A26-3F4A-49B1-A7F6-DD3CC891D413}" dt="2025-05-07T07:47:10.938" v="4" actId="1076"/>
        <pc:sldMkLst>
          <pc:docMk/>
          <pc:sldMk cId="3858886826" sldId="272"/>
        </pc:sldMkLst>
        <pc:spChg chg="add mod">
          <ac:chgData name="Jacqueline Ockwell" userId="79a11ae1-9a6a-4dce-9c68-e7607b2827ec" providerId="ADAL" clId="{A5F68A26-3F4A-49B1-A7F6-DD3CC891D413}" dt="2025-05-07T07:47:10.938" v="4" actId="1076"/>
          <ac:spMkLst>
            <pc:docMk/>
            <pc:sldMk cId="3858886826" sldId="272"/>
            <ac:spMk id="5" creationId="{93F08475-C81C-4C03-3754-E449395AC474}"/>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CF3E8E-7E6A-785D-4675-467D1C03ABEC}"/>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AU"/>
          </a:p>
        </p:txBody>
      </p:sp>
      <p:sp>
        <p:nvSpPr>
          <p:cNvPr id="3" name="Subtitle 2">
            <a:extLst>
              <a:ext uri="{FF2B5EF4-FFF2-40B4-BE49-F238E27FC236}">
                <a16:creationId xmlns:a16="http://schemas.microsoft.com/office/drawing/2014/main" id="{A0DF2B28-4DE4-8AAB-F839-9120613DF2E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AU"/>
          </a:p>
        </p:txBody>
      </p:sp>
      <p:sp>
        <p:nvSpPr>
          <p:cNvPr id="4" name="Date Placeholder 3">
            <a:extLst>
              <a:ext uri="{FF2B5EF4-FFF2-40B4-BE49-F238E27FC236}">
                <a16:creationId xmlns:a16="http://schemas.microsoft.com/office/drawing/2014/main" id="{730967E5-8018-2620-A761-CFAAF86954E0}"/>
              </a:ext>
            </a:extLst>
          </p:cNvPr>
          <p:cNvSpPr>
            <a:spLocks noGrp="1"/>
          </p:cNvSpPr>
          <p:nvPr>
            <p:ph type="dt" sz="half" idx="10"/>
          </p:nvPr>
        </p:nvSpPr>
        <p:spPr/>
        <p:txBody>
          <a:bodyPr/>
          <a:lstStyle/>
          <a:p>
            <a:fld id="{65D68AFB-F5C6-420C-9818-50BF4ADB4BE3}" type="datetimeFigureOut">
              <a:rPr lang="en-AU" smtClean="0"/>
              <a:t>7/05/2025</a:t>
            </a:fld>
            <a:endParaRPr lang="en-AU"/>
          </a:p>
        </p:txBody>
      </p:sp>
      <p:sp>
        <p:nvSpPr>
          <p:cNvPr id="5" name="Footer Placeholder 4">
            <a:extLst>
              <a:ext uri="{FF2B5EF4-FFF2-40B4-BE49-F238E27FC236}">
                <a16:creationId xmlns:a16="http://schemas.microsoft.com/office/drawing/2014/main" id="{61F30114-5B5C-9D26-7670-1C6160D95802}"/>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6EF2E0A0-66C0-2546-BC10-887838C3BB57}"/>
              </a:ext>
            </a:extLst>
          </p:cNvPr>
          <p:cNvSpPr>
            <a:spLocks noGrp="1"/>
          </p:cNvSpPr>
          <p:nvPr>
            <p:ph type="sldNum" sz="quarter" idx="12"/>
          </p:nvPr>
        </p:nvSpPr>
        <p:spPr/>
        <p:txBody>
          <a:bodyPr/>
          <a:lstStyle/>
          <a:p>
            <a:fld id="{CD894D1E-68A8-4823-A6EE-A799D5F2B68C}" type="slidenum">
              <a:rPr lang="en-AU" smtClean="0"/>
              <a:t>‹#›</a:t>
            </a:fld>
            <a:endParaRPr lang="en-AU"/>
          </a:p>
        </p:txBody>
      </p:sp>
    </p:spTree>
    <p:extLst>
      <p:ext uri="{BB962C8B-B14F-4D97-AF65-F5344CB8AC3E}">
        <p14:creationId xmlns:p14="http://schemas.microsoft.com/office/powerpoint/2010/main" val="32151404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FCD6B-29A4-ABA2-D035-5C2FFCC643C7}"/>
              </a:ext>
            </a:extLst>
          </p:cNvPr>
          <p:cNvSpPr>
            <a:spLocks noGrp="1"/>
          </p:cNvSpPr>
          <p:nvPr>
            <p:ph type="title"/>
          </p:nvPr>
        </p:nvSpPr>
        <p:spPr/>
        <p:txBody>
          <a:bodyPr/>
          <a:lstStyle/>
          <a:p>
            <a:r>
              <a:rPr lang="en-GB"/>
              <a:t>Click to edit Master title style</a:t>
            </a:r>
            <a:endParaRPr lang="en-AU"/>
          </a:p>
        </p:txBody>
      </p:sp>
      <p:sp>
        <p:nvSpPr>
          <p:cNvPr id="3" name="Content Placeholder 2">
            <a:extLst>
              <a:ext uri="{FF2B5EF4-FFF2-40B4-BE49-F238E27FC236}">
                <a16:creationId xmlns:a16="http://schemas.microsoft.com/office/drawing/2014/main" id="{D4755B8A-5ACD-FBC6-4E9E-E03CF2CAAD20}"/>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Date Placeholder 3">
            <a:extLst>
              <a:ext uri="{FF2B5EF4-FFF2-40B4-BE49-F238E27FC236}">
                <a16:creationId xmlns:a16="http://schemas.microsoft.com/office/drawing/2014/main" id="{1562056D-F56B-7CE2-79D2-A5287E2CE30A}"/>
              </a:ext>
            </a:extLst>
          </p:cNvPr>
          <p:cNvSpPr>
            <a:spLocks noGrp="1"/>
          </p:cNvSpPr>
          <p:nvPr>
            <p:ph type="dt" sz="half" idx="10"/>
          </p:nvPr>
        </p:nvSpPr>
        <p:spPr/>
        <p:txBody>
          <a:bodyPr/>
          <a:lstStyle/>
          <a:p>
            <a:fld id="{65D68AFB-F5C6-420C-9818-50BF4ADB4BE3}" type="datetimeFigureOut">
              <a:rPr lang="en-AU" smtClean="0"/>
              <a:t>7/05/2025</a:t>
            </a:fld>
            <a:endParaRPr lang="en-AU"/>
          </a:p>
        </p:txBody>
      </p:sp>
      <p:sp>
        <p:nvSpPr>
          <p:cNvPr id="5" name="Footer Placeholder 4">
            <a:extLst>
              <a:ext uri="{FF2B5EF4-FFF2-40B4-BE49-F238E27FC236}">
                <a16:creationId xmlns:a16="http://schemas.microsoft.com/office/drawing/2014/main" id="{AA94E44E-4FF3-7C92-67DE-CD24DC432992}"/>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F76574D5-017C-4695-7740-B8293AB77BAC}"/>
              </a:ext>
            </a:extLst>
          </p:cNvPr>
          <p:cNvSpPr>
            <a:spLocks noGrp="1"/>
          </p:cNvSpPr>
          <p:nvPr>
            <p:ph type="sldNum" sz="quarter" idx="12"/>
          </p:nvPr>
        </p:nvSpPr>
        <p:spPr/>
        <p:txBody>
          <a:bodyPr/>
          <a:lstStyle/>
          <a:p>
            <a:fld id="{CD894D1E-68A8-4823-A6EE-A799D5F2B68C}" type="slidenum">
              <a:rPr lang="en-AU" smtClean="0"/>
              <a:t>‹#›</a:t>
            </a:fld>
            <a:endParaRPr lang="en-AU"/>
          </a:p>
        </p:txBody>
      </p:sp>
    </p:spTree>
    <p:extLst>
      <p:ext uri="{BB962C8B-B14F-4D97-AF65-F5344CB8AC3E}">
        <p14:creationId xmlns:p14="http://schemas.microsoft.com/office/powerpoint/2010/main" val="22506285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FBA3AB-3C08-1261-1E2A-E4012D85377E}"/>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AU"/>
          </a:p>
        </p:txBody>
      </p:sp>
      <p:sp>
        <p:nvSpPr>
          <p:cNvPr id="3" name="Text Placeholder 2">
            <a:extLst>
              <a:ext uri="{FF2B5EF4-FFF2-40B4-BE49-F238E27FC236}">
                <a16:creationId xmlns:a16="http://schemas.microsoft.com/office/drawing/2014/main" id="{02FF1BE9-7C4B-14D0-7BFE-AC0B1E941B0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D5203CC3-6A7D-9251-635E-30DDE13B5187}"/>
              </a:ext>
            </a:extLst>
          </p:cNvPr>
          <p:cNvSpPr>
            <a:spLocks noGrp="1"/>
          </p:cNvSpPr>
          <p:nvPr>
            <p:ph type="dt" sz="half" idx="10"/>
          </p:nvPr>
        </p:nvSpPr>
        <p:spPr/>
        <p:txBody>
          <a:bodyPr/>
          <a:lstStyle/>
          <a:p>
            <a:fld id="{65D68AFB-F5C6-420C-9818-50BF4ADB4BE3}" type="datetimeFigureOut">
              <a:rPr lang="en-AU" smtClean="0"/>
              <a:t>7/05/2025</a:t>
            </a:fld>
            <a:endParaRPr lang="en-AU"/>
          </a:p>
        </p:txBody>
      </p:sp>
      <p:sp>
        <p:nvSpPr>
          <p:cNvPr id="5" name="Footer Placeholder 4">
            <a:extLst>
              <a:ext uri="{FF2B5EF4-FFF2-40B4-BE49-F238E27FC236}">
                <a16:creationId xmlns:a16="http://schemas.microsoft.com/office/drawing/2014/main" id="{3326FBF6-5B4D-58EA-FFD8-B9FDD5ABEEC5}"/>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45871419-C43D-5BA7-B029-2E7FEC218924}"/>
              </a:ext>
            </a:extLst>
          </p:cNvPr>
          <p:cNvSpPr>
            <a:spLocks noGrp="1"/>
          </p:cNvSpPr>
          <p:nvPr>
            <p:ph type="sldNum" sz="quarter" idx="12"/>
          </p:nvPr>
        </p:nvSpPr>
        <p:spPr/>
        <p:txBody>
          <a:bodyPr/>
          <a:lstStyle/>
          <a:p>
            <a:fld id="{CD894D1E-68A8-4823-A6EE-A799D5F2B68C}" type="slidenum">
              <a:rPr lang="en-AU" smtClean="0"/>
              <a:t>‹#›</a:t>
            </a:fld>
            <a:endParaRPr lang="en-AU"/>
          </a:p>
        </p:txBody>
      </p:sp>
    </p:spTree>
    <p:extLst>
      <p:ext uri="{BB962C8B-B14F-4D97-AF65-F5344CB8AC3E}">
        <p14:creationId xmlns:p14="http://schemas.microsoft.com/office/powerpoint/2010/main" val="4988595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41866-B248-6E78-6F12-31EA77BA6DE0}"/>
              </a:ext>
            </a:extLst>
          </p:cNvPr>
          <p:cNvSpPr>
            <a:spLocks noGrp="1"/>
          </p:cNvSpPr>
          <p:nvPr>
            <p:ph type="title"/>
          </p:nvPr>
        </p:nvSpPr>
        <p:spPr/>
        <p:txBody>
          <a:bodyPr/>
          <a:lstStyle/>
          <a:p>
            <a:r>
              <a:rPr lang="en-GB"/>
              <a:t>Click to edit Master title style</a:t>
            </a:r>
            <a:endParaRPr lang="en-AU"/>
          </a:p>
        </p:txBody>
      </p:sp>
      <p:sp>
        <p:nvSpPr>
          <p:cNvPr id="3" name="Content Placeholder 2">
            <a:extLst>
              <a:ext uri="{FF2B5EF4-FFF2-40B4-BE49-F238E27FC236}">
                <a16:creationId xmlns:a16="http://schemas.microsoft.com/office/drawing/2014/main" id="{F41D67CD-80D6-DB28-A3E2-E66487AAD2CB}"/>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Content Placeholder 3">
            <a:extLst>
              <a:ext uri="{FF2B5EF4-FFF2-40B4-BE49-F238E27FC236}">
                <a16:creationId xmlns:a16="http://schemas.microsoft.com/office/drawing/2014/main" id="{6F3024BE-2929-EAB5-65F8-F5CA2CB36344}"/>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5" name="Date Placeholder 4">
            <a:extLst>
              <a:ext uri="{FF2B5EF4-FFF2-40B4-BE49-F238E27FC236}">
                <a16:creationId xmlns:a16="http://schemas.microsoft.com/office/drawing/2014/main" id="{806F0363-79E4-26C6-5D5D-97C7A72C103F}"/>
              </a:ext>
            </a:extLst>
          </p:cNvPr>
          <p:cNvSpPr>
            <a:spLocks noGrp="1"/>
          </p:cNvSpPr>
          <p:nvPr>
            <p:ph type="dt" sz="half" idx="10"/>
          </p:nvPr>
        </p:nvSpPr>
        <p:spPr/>
        <p:txBody>
          <a:bodyPr/>
          <a:lstStyle/>
          <a:p>
            <a:fld id="{65D68AFB-F5C6-420C-9818-50BF4ADB4BE3}" type="datetimeFigureOut">
              <a:rPr lang="en-AU" smtClean="0"/>
              <a:t>7/05/2025</a:t>
            </a:fld>
            <a:endParaRPr lang="en-AU"/>
          </a:p>
        </p:txBody>
      </p:sp>
      <p:sp>
        <p:nvSpPr>
          <p:cNvPr id="6" name="Footer Placeholder 5">
            <a:extLst>
              <a:ext uri="{FF2B5EF4-FFF2-40B4-BE49-F238E27FC236}">
                <a16:creationId xmlns:a16="http://schemas.microsoft.com/office/drawing/2014/main" id="{0EF65F2A-60A8-B153-B836-826D3F67128B}"/>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7385D469-76FC-B37A-C5C1-433E007E24F4}"/>
              </a:ext>
            </a:extLst>
          </p:cNvPr>
          <p:cNvSpPr>
            <a:spLocks noGrp="1"/>
          </p:cNvSpPr>
          <p:nvPr>
            <p:ph type="sldNum" sz="quarter" idx="12"/>
          </p:nvPr>
        </p:nvSpPr>
        <p:spPr/>
        <p:txBody>
          <a:bodyPr/>
          <a:lstStyle/>
          <a:p>
            <a:fld id="{CD894D1E-68A8-4823-A6EE-A799D5F2B68C}" type="slidenum">
              <a:rPr lang="en-AU" smtClean="0"/>
              <a:t>‹#›</a:t>
            </a:fld>
            <a:endParaRPr lang="en-AU"/>
          </a:p>
        </p:txBody>
      </p:sp>
    </p:spTree>
    <p:extLst>
      <p:ext uri="{BB962C8B-B14F-4D97-AF65-F5344CB8AC3E}">
        <p14:creationId xmlns:p14="http://schemas.microsoft.com/office/powerpoint/2010/main" val="26719714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FC735-BA4A-4E1D-857E-A0A4B1BC72DE}"/>
              </a:ext>
            </a:extLst>
          </p:cNvPr>
          <p:cNvSpPr>
            <a:spLocks noGrp="1"/>
          </p:cNvSpPr>
          <p:nvPr>
            <p:ph type="title"/>
          </p:nvPr>
        </p:nvSpPr>
        <p:spPr>
          <a:xfrm>
            <a:off x="839788" y="365125"/>
            <a:ext cx="10515600" cy="1325563"/>
          </a:xfrm>
        </p:spPr>
        <p:txBody>
          <a:bodyPr/>
          <a:lstStyle/>
          <a:p>
            <a:r>
              <a:rPr lang="en-GB"/>
              <a:t>Click to edit Master title style</a:t>
            </a:r>
            <a:endParaRPr lang="en-AU"/>
          </a:p>
        </p:txBody>
      </p:sp>
      <p:sp>
        <p:nvSpPr>
          <p:cNvPr id="3" name="Text Placeholder 2">
            <a:extLst>
              <a:ext uri="{FF2B5EF4-FFF2-40B4-BE49-F238E27FC236}">
                <a16:creationId xmlns:a16="http://schemas.microsoft.com/office/drawing/2014/main" id="{086B39B7-259A-5D94-F9ED-0606A2955B0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9A101AA8-C72B-1602-124E-8ACCAB90F372}"/>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5" name="Text Placeholder 4">
            <a:extLst>
              <a:ext uri="{FF2B5EF4-FFF2-40B4-BE49-F238E27FC236}">
                <a16:creationId xmlns:a16="http://schemas.microsoft.com/office/drawing/2014/main" id="{59857E29-C1DD-FD1C-B40C-CE2018D67AA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8D60E1E3-9188-212C-054B-07F001BC9DAA}"/>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7" name="Date Placeholder 6">
            <a:extLst>
              <a:ext uri="{FF2B5EF4-FFF2-40B4-BE49-F238E27FC236}">
                <a16:creationId xmlns:a16="http://schemas.microsoft.com/office/drawing/2014/main" id="{C574E628-C14B-D4A5-60F3-04ACE545F5A6}"/>
              </a:ext>
            </a:extLst>
          </p:cNvPr>
          <p:cNvSpPr>
            <a:spLocks noGrp="1"/>
          </p:cNvSpPr>
          <p:nvPr>
            <p:ph type="dt" sz="half" idx="10"/>
          </p:nvPr>
        </p:nvSpPr>
        <p:spPr/>
        <p:txBody>
          <a:bodyPr/>
          <a:lstStyle/>
          <a:p>
            <a:fld id="{65D68AFB-F5C6-420C-9818-50BF4ADB4BE3}" type="datetimeFigureOut">
              <a:rPr lang="en-AU" smtClean="0"/>
              <a:t>7/05/2025</a:t>
            </a:fld>
            <a:endParaRPr lang="en-AU"/>
          </a:p>
        </p:txBody>
      </p:sp>
      <p:sp>
        <p:nvSpPr>
          <p:cNvPr id="8" name="Footer Placeholder 7">
            <a:extLst>
              <a:ext uri="{FF2B5EF4-FFF2-40B4-BE49-F238E27FC236}">
                <a16:creationId xmlns:a16="http://schemas.microsoft.com/office/drawing/2014/main" id="{3BD22ED0-B787-6BC1-4F30-B6DDD94D191C}"/>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6C11544D-AD5D-42D0-C269-3FBC0422FDCE}"/>
              </a:ext>
            </a:extLst>
          </p:cNvPr>
          <p:cNvSpPr>
            <a:spLocks noGrp="1"/>
          </p:cNvSpPr>
          <p:nvPr>
            <p:ph type="sldNum" sz="quarter" idx="12"/>
          </p:nvPr>
        </p:nvSpPr>
        <p:spPr/>
        <p:txBody>
          <a:bodyPr/>
          <a:lstStyle/>
          <a:p>
            <a:fld id="{CD894D1E-68A8-4823-A6EE-A799D5F2B68C}" type="slidenum">
              <a:rPr lang="en-AU" smtClean="0"/>
              <a:t>‹#›</a:t>
            </a:fld>
            <a:endParaRPr lang="en-AU"/>
          </a:p>
        </p:txBody>
      </p:sp>
    </p:spTree>
    <p:extLst>
      <p:ext uri="{BB962C8B-B14F-4D97-AF65-F5344CB8AC3E}">
        <p14:creationId xmlns:p14="http://schemas.microsoft.com/office/powerpoint/2010/main" val="17800744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BD925-2518-8DA3-03CD-BAFA0C579464}"/>
              </a:ext>
            </a:extLst>
          </p:cNvPr>
          <p:cNvSpPr>
            <a:spLocks noGrp="1"/>
          </p:cNvSpPr>
          <p:nvPr>
            <p:ph type="title"/>
          </p:nvPr>
        </p:nvSpPr>
        <p:spPr/>
        <p:txBody>
          <a:bodyPr/>
          <a:lstStyle/>
          <a:p>
            <a:r>
              <a:rPr lang="en-GB"/>
              <a:t>Click to edit Master title style</a:t>
            </a:r>
            <a:endParaRPr lang="en-AU"/>
          </a:p>
        </p:txBody>
      </p:sp>
      <p:sp>
        <p:nvSpPr>
          <p:cNvPr id="3" name="Date Placeholder 2">
            <a:extLst>
              <a:ext uri="{FF2B5EF4-FFF2-40B4-BE49-F238E27FC236}">
                <a16:creationId xmlns:a16="http://schemas.microsoft.com/office/drawing/2014/main" id="{71C8F1FF-3E56-A0CE-C639-E78CFC99A23D}"/>
              </a:ext>
            </a:extLst>
          </p:cNvPr>
          <p:cNvSpPr>
            <a:spLocks noGrp="1"/>
          </p:cNvSpPr>
          <p:nvPr>
            <p:ph type="dt" sz="half" idx="10"/>
          </p:nvPr>
        </p:nvSpPr>
        <p:spPr/>
        <p:txBody>
          <a:bodyPr/>
          <a:lstStyle/>
          <a:p>
            <a:fld id="{65D68AFB-F5C6-420C-9818-50BF4ADB4BE3}" type="datetimeFigureOut">
              <a:rPr lang="en-AU" smtClean="0"/>
              <a:t>7/05/2025</a:t>
            </a:fld>
            <a:endParaRPr lang="en-AU"/>
          </a:p>
        </p:txBody>
      </p:sp>
      <p:sp>
        <p:nvSpPr>
          <p:cNvPr id="4" name="Footer Placeholder 3">
            <a:extLst>
              <a:ext uri="{FF2B5EF4-FFF2-40B4-BE49-F238E27FC236}">
                <a16:creationId xmlns:a16="http://schemas.microsoft.com/office/drawing/2014/main" id="{FB26C03A-11A5-4F60-06A8-19CDB11601FD}"/>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E629C0DE-2930-25EF-8486-FA96929C7295}"/>
              </a:ext>
            </a:extLst>
          </p:cNvPr>
          <p:cNvSpPr>
            <a:spLocks noGrp="1"/>
          </p:cNvSpPr>
          <p:nvPr>
            <p:ph type="sldNum" sz="quarter" idx="12"/>
          </p:nvPr>
        </p:nvSpPr>
        <p:spPr/>
        <p:txBody>
          <a:bodyPr/>
          <a:lstStyle/>
          <a:p>
            <a:fld id="{CD894D1E-68A8-4823-A6EE-A799D5F2B68C}" type="slidenum">
              <a:rPr lang="en-AU" smtClean="0"/>
              <a:t>‹#›</a:t>
            </a:fld>
            <a:endParaRPr lang="en-AU"/>
          </a:p>
        </p:txBody>
      </p:sp>
    </p:spTree>
    <p:extLst>
      <p:ext uri="{BB962C8B-B14F-4D97-AF65-F5344CB8AC3E}">
        <p14:creationId xmlns:p14="http://schemas.microsoft.com/office/powerpoint/2010/main" val="19740018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4074C4E-940A-1842-AAAA-F357DA601211}"/>
              </a:ext>
            </a:extLst>
          </p:cNvPr>
          <p:cNvSpPr>
            <a:spLocks noGrp="1"/>
          </p:cNvSpPr>
          <p:nvPr>
            <p:ph type="dt" sz="half" idx="10"/>
          </p:nvPr>
        </p:nvSpPr>
        <p:spPr/>
        <p:txBody>
          <a:bodyPr/>
          <a:lstStyle/>
          <a:p>
            <a:fld id="{65D68AFB-F5C6-420C-9818-50BF4ADB4BE3}" type="datetimeFigureOut">
              <a:rPr lang="en-AU" smtClean="0"/>
              <a:t>7/05/2025</a:t>
            </a:fld>
            <a:endParaRPr lang="en-AU"/>
          </a:p>
        </p:txBody>
      </p:sp>
      <p:sp>
        <p:nvSpPr>
          <p:cNvPr id="3" name="Footer Placeholder 2">
            <a:extLst>
              <a:ext uri="{FF2B5EF4-FFF2-40B4-BE49-F238E27FC236}">
                <a16:creationId xmlns:a16="http://schemas.microsoft.com/office/drawing/2014/main" id="{D5B78190-CD78-D699-D10C-034EDF28ABD3}"/>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A995ABA3-D5A3-ACAB-5CE7-01510D36FD22}"/>
              </a:ext>
            </a:extLst>
          </p:cNvPr>
          <p:cNvSpPr>
            <a:spLocks noGrp="1"/>
          </p:cNvSpPr>
          <p:nvPr>
            <p:ph type="sldNum" sz="quarter" idx="12"/>
          </p:nvPr>
        </p:nvSpPr>
        <p:spPr/>
        <p:txBody>
          <a:bodyPr/>
          <a:lstStyle/>
          <a:p>
            <a:fld id="{CD894D1E-68A8-4823-A6EE-A799D5F2B68C}" type="slidenum">
              <a:rPr lang="en-AU" smtClean="0"/>
              <a:t>‹#›</a:t>
            </a:fld>
            <a:endParaRPr lang="en-AU"/>
          </a:p>
        </p:txBody>
      </p:sp>
    </p:spTree>
    <p:extLst>
      <p:ext uri="{BB962C8B-B14F-4D97-AF65-F5344CB8AC3E}">
        <p14:creationId xmlns:p14="http://schemas.microsoft.com/office/powerpoint/2010/main" val="29414014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395588-60AB-D20E-7135-5753EE628EB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AU"/>
          </a:p>
        </p:txBody>
      </p:sp>
      <p:sp>
        <p:nvSpPr>
          <p:cNvPr id="3" name="Content Placeholder 2">
            <a:extLst>
              <a:ext uri="{FF2B5EF4-FFF2-40B4-BE49-F238E27FC236}">
                <a16:creationId xmlns:a16="http://schemas.microsoft.com/office/drawing/2014/main" id="{46B1205B-35C6-138D-9FA3-FEF99A05B01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Text Placeholder 3">
            <a:extLst>
              <a:ext uri="{FF2B5EF4-FFF2-40B4-BE49-F238E27FC236}">
                <a16:creationId xmlns:a16="http://schemas.microsoft.com/office/drawing/2014/main" id="{64192E6F-770E-731E-DB64-3F9F6A5912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92D1D11-F304-93D2-494F-C4AE26F60F2D}"/>
              </a:ext>
            </a:extLst>
          </p:cNvPr>
          <p:cNvSpPr>
            <a:spLocks noGrp="1"/>
          </p:cNvSpPr>
          <p:nvPr>
            <p:ph type="dt" sz="half" idx="10"/>
          </p:nvPr>
        </p:nvSpPr>
        <p:spPr/>
        <p:txBody>
          <a:bodyPr/>
          <a:lstStyle/>
          <a:p>
            <a:fld id="{65D68AFB-F5C6-420C-9818-50BF4ADB4BE3}" type="datetimeFigureOut">
              <a:rPr lang="en-AU" smtClean="0"/>
              <a:t>7/05/2025</a:t>
            </a:fld>
            <a:endParaRPr lang="en-AU"/>
          </a:p>
        </p:txBody>
      </p:sp>
      <p:sp>
        <p:nvSpPr>
          <p:cNvPr id="6" name="Footer Placeholder 5">
            <a:extLst>
              <a:ext uri="{FF2B5EF4-FFF2-40B4-BE49-F238E27FC236}">
                <a16:creationId xmlns:a16="http://schemas.microsoft.com/office/drawing/2014/main" id="{CED800F5-5ED6-5E95-DA4B-D1641ADAC5D5}"/>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BB28A85F-0BB0-E980-C05E-57F4D66B839D}"/>
              </a:ext>
            </a:extLst>
          </p:cNvPr>
          <p:cNvSpPr>
            <a:spLocks noGrp="1"/>
          </p:cNvSpPr>
          <p:nvPr>
            <p:ph type="sldNum" sz="quarter" idx="12"/>
          </p:nvPr>
        </p:nvSpPr>
        <p:spPr/>
        <p:txBody>
          <a:bodyPr/>
          <a:lstStyle/>
          <a:p>
            <a:fld id="{CD894D1E-68A8-4823-A6EE-A799D5F2B68C}" type="slidenum">
              <a:rPr lang="en-AU" smtClean="0"/>
              <a:t>‹#›</a:t>
            </a:fld>
            <a:endParaRPr lang="en-AU"/>
          </a:p>
        </p:txBody>
      </p:sp>
    </p:spTree>
    <p:extLst>
      <p:ext uri="{BB962C8B-B14F-4D97-AF65-F5344CB8AC3E}">
        <p14:creationId xmlns:p14="http://schemas.microsoft.com/office/powerpoint/2010/main" val="35922150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00831-C373-A8A5-3B59-D45425DB668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AU"/>
          </a:p>
        </p:txBody>
      </p:sp>
      <p:sp>
        <p:nvSpPr>
          <p:cNvPr id="3" name="Picture Placeholder 2">
            <a:extLst>
              <a:ext uri="{FF2B5EF4-FFF2-40B4-BE49-F238E27FC236}">
                <a16:creationId xmlns:a16="http://schemas.microsoft.com/office/drawing/2014/main" id="{FB03D24B-95CD-CE3F-B55A-0A0AB3CBC43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DE084CAF-7851-42AE-E489-09F3529DD78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6717161-6F92-FC3E-5C74-E2F61B4D0F18}"/>
              </a:ext>
            </a:extLst>
          </p:cNvPr>
          <p:cNvSpPr>
            <a:spLocks noGrp="1"/>
          </p:cNvSpPr>
          <p:nvPr>
            <p:ph type="dt" sz="half" idx="10"/>
          </p:nvPr>
        </p:nvSpPr>
        <p:spPr/>
        <p:txBody>
          <a:bodyPr/>
          <a:lstStyle/>
          <a:p>
            <a:fld id="{65D68AFB-F5C6-420C-9818-50BF4ADB4BE3}" type="datetimeFigureOut">
              <a:rPr lang="en-AU" smtClean="0"/>
              <a:t>7/05/2025</a:t>
            </a:fld>
            <a:endParaRPr lang="en-AU"/>
          </a:p>
        </p:txBody>
      </p:sp>
      <p:sp>
        <p:nvSpPr>
          <p:cNvPr id="6" name="Footer Placeholder 5">
            <a:extLst>
              <a:ext uri="{FF2B5EF4-FFF2-40B4-BE49-F238E27FC236}">
                <a16:creationId xmlns:a16="http://schemas.microsoft.com/office/drawing/2014/main" id="{1B6EA105-7A6B-3092-B3D3-2AF2CC376D4C}"/>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450B1847-6458-0FA1-3B11-B91355FEAAC5}"/>
              </a:ext>
            </a:extLst>
          </p:cNvPr>
          <p:cNvSpPr>
            <a:spLocks noGrp="1"/>
          </p:cNvSpPr>
          <p:nvPr>
            <p:ph type="sldNum" sz="quarter" idx="12"/>
          </p:nvPr>
        </p:nvSpPr>
        <p:spPr/>
        <p:txBody>
          <a:bodyPr/>
          <a:lstStyle/>
          <a:p>
            <a:fld id="{CD894D1E-68A8-4823-A6EE-A799D5F2B68C}" type="slidenum">
              <a:rPr lang="en-AU" smtClean="0"/>
              <a:t>‹#›</a:t>
            </a:fld>
            <a:endParaRPr lang="en-AU"/>
          </a:p>
        </p:txBody>
      </p:sp>
    </p:spTree>
    <p:extLst>
      <p:ext uri="{BB962C8B-B14F-4D97-AF65-F5344CB8AC3E}">
        <p14:creationId xmlns:p14="http://schemas.microsoft.com/office/powerpoint/2010/main" val="13823322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7FA06D-F87B-DE32-82AE-D04E26C11AA3}"/>
              </a:ext>
            </a:extLst>
          </p:cNvPr>
          <p:cNvSpPr>
            <a:spLocks noGrp="1"/>
          </p:cNvSpPr>
          <p:nvPr>
            <p:ph type="title"/>
          </p:nvPr>
        </p:nvSpPr>
        <p:spPr/>
        <p:txBody>
          <a:bodyPr/>
          <a:lstStyle/>
          <a:p>
            <a:r>
              <a:rPr lang="en-GB"/>
              <a:t>Click to edit Master title style</a:t>
            </a:r>
            <a:endParaRPr lang="en-AU"/>
          </a:p>
        </p:txBody>
      </p:sp>
      <p:sp>
        <p:nvSpPr>
          <p:cNvPr id="3" name="Vertical Text Placeholder 2">
            <a:extLst>
              <a:ext uri="{FF2B5EF4-FFF2-40B4-BE49-F238E27FC236}">
                <a16:creationId xmlns:a16="http://schemas.microsoft.com/office/drawing/2014/main" id="{84244B28-7134-DBF2-C104-9BD3F2CA6878}"/>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Date Placeholder 3">
            <a:extLst>
              <a:ext uri="{FF2B5EF4-FFF2-40B4-BE49-F238E27FC236}">
                <a16:creationId xmlns:a16="http://schemas.microsoft.com/office/drawing/2014/main" id="{01E7A046-7D3F-F98D-59DB-23D335A7A685}"/>
              </a:ext>
            </a:extLst>
          </p:cNvPr>
          <p:cNvSpPr>
            <a:spLocks noGrp="1"/>
          </p:cNvSpPr>
          <p:nvPr>
            <p:ph type="dt" sz="half" idx="10"/>
          </p:nvPr>
        </p:nvSpPr>
        <p:spPr/>
        <p:txBody>
          <a:bodyPr/>
          <a:lstStyle/>
          <a:p>
            <a:fld id="{65D68AFB-F5C6-420C-9818-50BF4ADB4BE3}" type="datetimeFigureOut">
              <a:rPr lang="en-AU" smtClean="0"/>
              <a:t>7/05/2025</a:t>
            </a:fld>
            <a:endParaRPr lang="en-AU"/>
          </a:p>
        </p:txBody>
      </p:sp>
      <p:sp>
        <p:nvSpPr>
          <p:cNvPr id="5" name="Footer Placeholder 4">
            <a:extLst>
              <a:ext uri="{FF2B5EF4-FFF2-40B4-BE49-F238E27FC236}">
                <a16:creationId xmlns:a16="http://schemas.microsoft.com/office/drawing/2014/main" id="{C027E68E-4258-B210-06F2-58B49D725110}"/>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2C03CCCA-2195-233D-0E69-AE9356EC4690}"/>
              </a:ext>
            </a:extLst>
          </p:cNvPr>
          <p:cNvSpPr>
            <a:spLocks noGrp="1"/>
          </p:cNvSpPr>
          <p:nvPr>
            <p:ph type="sldNum" sz="quarter" idx="12"/>
          </p:nvPr>
        </p:nvSpPr>
        <p:spPr/>
        <p:txBody>
          <a:bodyPr/>
          <a:lstStyle/>
          <a:p>
            <a:fld id="{CD894D1E-68A8-4823-A6EE-A799D5F2B68C}" type="slidenum">
              <a:rPr lang="en-AU" smtClean="0"/>
              <a:t>‹#›</a:t>
            </a:fld>
            <a:endParaRPr lang="en-AU"/>
          </a:p>
        </p:txBody>
      </p:sp>
    </p:spTree>
    <p:extLst>
      <p:ext uri="{BB962C8B-B14F-4D97-AF65-F5344CB8AC3E}">
        <p14:creationId xmlns:p14="http://schemas.microsoft.com/office/powerpoint/2010/main" val="13470241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3279131-0CF6-6930-E02C-512BBBD3F4B7}"/>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AU"/>
          </a:p>
        </p:txBody>
      </p:sp>
      <p:sp>
        <p:nvSpPr>
          <p:cNvPr id="3" name="Vertical Text Placeholder 2">
            <a:extLst>
              <a:ext uri="{FF2B5EF4-FFF2-40B4-BE49-F238E27FC236}">
                <a16:creationId xmlns:a16="http://schemas.microsoft.com/office/drawing/2014/main" id="{7ACC562B-A5F0-7E79-06DC-3EFA1AB77DB3}"/>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Date Placeholder 3">
            <a:extLst>
              <a:ext uri="{FF2B5EF4-FFF2-40B4-BE49-F238E27FC236}">
                <a16:creationId xmlns:a16="http://schemas.microsoft.com/office/drawing/2014/main" id="{8DF8A1D6-26F6-54B7-9B16-C14672E8E9A7}"/>
              </a:ext>
            </a:extLst>
          </p:cNvPr>
          <p:cNvSpPr>
            <a:spLocks noGrp="1"/>
          </p:cNvSpPr>
          <p:nvPr>
            <p:ph type="dt" sz="half" idx="10"/>
          </p:nvPr>
        </p:nvSpPr>
        <p:spPr/>
        <p:txBody>
          <a:bodyPr/>
          <a:lstStyle/>
          <a:p>
            <a:fld id="{65D68AFB-F5C6-420C-9818-50BF4ADB4BE3}" type="datetimeFigureOut">
              <a:rPr lang="en-AU" smtClean="0"/>
              <a:t>7/05/2025</a:t>
            </a:fld>
            <a:endParaRPr lang="en-AU"/>
          </a:p>
        </p:txBody>
      </p:sp>
      <p:sp>
        <p:nvSpPr>
          <p:cNvPr id="5" name="Footer Placeholder 4">
            <a:extLst>
              <a:ext uri="{FF2B5EF4-FFF2-40B4-BE49-F238E27FC236}">
                <a16:creationId xmlns:a16="http://schemas.microsoft.com/office/drawing/2014/main" id="{171A82F5-BF1F-AA5D-B943-EBD657B9E941}"/>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C498C003-93C4-40CF-1878-C6C621E45BF3}"/>
              </a:ext>
            </a:extLst>
          </p:cNvPr>
          <p:cNvSpPr>
            <a:spLocks noGrp="1"/>
          </p:cNvSpPr>
          <p:nvPr>
            <p:ph type="sldNum" sz="quarter" idx="12"/>
          </p:nvPr>
        </p:nvSpPr>
        <p:spPr/>
        <p:txBody>
          <a:bodyPr/>
          <a:lstStyle/>
          <a:p>
            <a:fld id="{CD894D1E-68A8-4823-A6EE-A799D5F2B68C}" type="slidenum">
              <a:rPr lang="en-AU" smtClean="0"/>
              <a:t>‹#›</a:t>
            </a:fld>
            <a:endParaRPr lang="en-AU"/>
          </a:p>
        </p:txBody>
      </p:sp>
    </p:spTree>
    <p:extLst>
      <p:ext uri="{BB962C8B-B14F-4D97-AF65-F5344CB8AC3E}">
        <p14:creationId xmlns:p14="http://schemas.microsoft.com/office/powerpoint/2010/main" val="10737032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6B76484-8F43-7259-2B31-4ACDF413D1A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AU"/>
          </a:p>
        </p:txBody>
      </p:sp>
      <p:sp>
        <p:nvSpPr>
          <p:cNvPr id="3" name="Text Placeholder 2">
            <a:extLst>
              <a:ext uri="{FF2B5EF4-FFF2-40B4-BE49-F238E27FC236}">
                <a16:creationId xmlns:a16="http://schemas.microsoft.com/office/drawing/2014/main" id="{F592F3ED-60EB-5B2B-B8BB-9A8AA53006F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Date Placeholder 3">
            <a:extLst>
              <a:ext uri="{FF2B5EF4-FFF2-40B4-BE49-F238E27FC236}">
                <a16:creationId xmlns:a16="http://schemas.microsoft.com/office/drawing/2014/main" id="{D8F96B1D-736E-654D-0EDD-5BF52806C83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5D68AFB-F5C6-420C-9818-50BF4ADB4BE3}" type="datetimeFigureOut">
              <a:rPr lang="en-AU" smtClean="0"/>
              <a:t>7/05/2025</a:t>
            </a:fld>
            <a:endParaRPr lang="en-AU"/>
          </a:p>
        </p:txBody>
      </p:sp>
      <p:sp>
        <p:nvSpPr>
          <p:cNvPr id="5" name="Footer Placeholder 4">
            <a:extLst>
              <a:ext uri="{FF2B5EF4-FFF2-40B4-BE49-F238E27FC236}">
                <a16:creationId xmlns:a16="http://schemas.microsoft.com/office/drawing/2014/main" id="{ADAB991E-784A-BF8E-9F4C-522E42BD5E9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5C4EE279-D031-DEDB-CED5-57D3A2EDCEB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D894D1E-68A8-4823-A6EE-A799D5F2B68C}" type="slidenum">
              <a:rPr lang="en-AU" smtClean="0"/>
              <a:t>‹#›</a:t>
            </a:fld>
            <a:endParaRPr lang="en-AU"/>
          </a:p>
        </p:txBody>
      </p:sp>
    </p:spTree>
    <p:extLst>
      <p:ext uri="{BB962C8B-B14F-4D97-AF65-F5344CB8AC3E}">
        <p14:creationId xmlns:p14="http://schemas.microsoft.com/office/powerpoint/2010/main" val="3084184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1.jpe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hyperlink" Target="https://www.youtube.com/shorts/fyWzYmBIQe0" TargetMode="External"/><Relationship Id="rId2" Type="http://schemas.openxmlformats.org/officeDocument/2006/relationships/video" Target="https://www.youtube.com/embed/fyWzYmBIQe0?feature=oembed" TargetMode="External"/><Relationship Id="rId1" Type="http://schemas.openxmlformats.org/officeDocument/2006/relationships/video" Target="https://www.youtube.com/embed/Q9E4dA0EGaM?feature=oembed" TargetMode="External"/><Relationship Id="rId6" Type="http://schemas.openxmlformats.org/officeDocument/2006/relationships/image" Target="../media/image9.jpeg"/><Relationship Id="rId5" Type="http://schemas.openxmlformats.org/officeDocument/2006/relationships/hyperlink" Target="https://www.youtube.com/watch?v=Q9E4dA0EGaM" TargetMode="External"/><Relationship Id="rId4" Type="http://schemas.openxmlformats.org/officeDocument/2006/relationships/image" Target="../media/image8.jpeg"/></Relationships>
</file>

<file path=ppt/slides/_rels/slide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slideLayout" Target="../slideLayouts/slideLayout7.xml"/><Relationship Id="rId1" Type="http://schemas.openxmlformats.org/officeDocument/2006/relationships/video" Target="https://www.youtube.com/embed/DFu6jGPiehY?feature=oembed" TargetMode="External"/><Relationship Id="rId4" Type="http://schemas.openxmlformats.org/officeDocument/2006/relationships/hyperlink" Target="https://www.youtube.com/watch?v=DFu6jGPiehY"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1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7.xml"/><Relationship Id="rId4" Type="http://schemas.openxmlformats.org/officeDocument/2006/relationships/hyperlink" Target="https://www.dailymotion.com/video/x6xo60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AD96FDFD-4E42-4A06-B8B5-768A1DB9C2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8BFFC3AA-22EA-D7D8-61FF-E148B61929AC}"/>
              </a:ext>
            </a:extLst>
          </p:cNvPr>
          <p:cNvSpPr txBox="1"/>
          <p:nvPr/>
        </p:nvSpPr>
        <p:spPr>
          <a:xfrm>
            <a:off x="641738" y="3164995"/>
            <a:ext cx="4114801" cy="2485445"/>
          </a:xfrm>
          <a:prstGeom prst="rect">
            <a:avLst/>
          </a:prstGeom>
        </p:spPr>
        <p:txBody>
          <a:bodyPr vert="horz" lIns="91440" tIns="45720" rIns="91440" bIns="45720" rtlCol="0">
            <a:normAutofit/>
          </a:bodyPr>
          <a:lstStyle/>
          <a:p>
            <a:pPr algn="ctr">
              <a:lnSpc>
                <a:spcPct val="90000"/>
              </a:lnSpc>
              <a:spcBef>
                <a:spcPct val="0"/>
              </a:spcBef>
              <a:spcAft>
                <a:spcPts val="1920"/>
              </a:spcAft>
            </a:pPr>
            <a:r>
              <a:rPr lang="en-US" sz="4000" b="1" dirty="0">
                <a:effectLst/>
                <a:latin typeface="+mj-lt"/>
              </a:rPr>
              <a:t>Focus 2</a:t>
            </a:r>
            <a:endParaRPr lang="en-US" sz="4000" b="1" dirty="0">
              <a:latin typeface="+mj-lt"/>
            </a:endParaRPr>
          </a:p>
          <a:p>
            <a:pPr algn="ctr">
              <a:lnSpc>
                <a:spcPct val="90000"/>
              </a:lnSpc>
              <a:spcBef>
                <a:spcPct val="0"/>
              </a:spcBef>
              <a:spcAft>
                <a:spcPts val="1920"/>
              </a:spcAft>
            </a:pPr>
            <a:r>
              <a:rPr lang="en-US" sz="2800" dirty="0">
                <a:effectLst/>
                <a:latin typeface="+mj-lt"/>
              </a:rPr>
              <a:t>Alternate Authorship and Collaboration </a:t>
            </a:r>
          </a:p>
        </p:txBody>
      </p:sp>
      <p:pic>
        <p:nvPicPr>
          <p:cNvPr id="4" name="Picture 4" descr="Sophie Calle TAKE CARE OF YOURSELF | Actuphoto">
            <a:extLst>
              <a:ext uri="{FF2B5EF4-FFF2-40B4-BE49-F238E27FC236}">
                <a16:creationId xmlns:a16="http://schemas.microsoft.com/office/drawing/2014/main" id="{929585DD-63A2-B373-D698-B2E59CF743F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062" r="7727" b="29811"/>
          <a:stretch/>
        </p:blipFill>
        <p:spPr bwMode="auto">
          <a:xfrm>
            <a:off x="8755261" y="3681459"/>
            <a:ext cx="3458367" cy="3176541"/>
          </a:xfrm>
          <a:custGeom>
            <a:avLst/>
            <a:gdLst/>
            <a:ahLst/>
            <a:cxnLst/>
            <a:rect l="l" t="t" r="r" b="b"/>
            <a:pathLst>
              <a:path w="3747932" h="3176541">
                <a:moveTo>
                  <a:pt x="3239865" y="21"/>
                </a:moveTo>
                <a:cubicBezTo>
                  <a:pt x="3261821" y="112"/>
                  <a:pt x="3278837" y="498"/>
                  <a:pt x="3290337" y="938"/>
                </a:cubicBezTo>
                <a:cubicBezTo>
                  <a:pt x="3401766" y="5376"/>
                  <a:pt x="3510165" y="23128"/>
                  <a:pt x="3616543" y="49449"/>
                </a:cubicBezTo>
                <a:lnTo>
                  <a:pt x="3747932" y="87091"/>
                </a:lnTo>
                <a:lnTo>
                  <a:pt x="3747932" y="3176541"/>
                </a:lnTo>
                <a:lnTo>
                  <a:pt x="401358" y="3176541"/>
                </a:lnTo>
                <a:lnTo>
                  <a:pt x="398780" y="3136258"/>
                </a:lnTo>
                <a:cubicBezTo>
                  <a:pt x="400956" y="3079023"/>
                  <a:pt x="437945" y="3052703"/>
                  <a:pt x="483325" y="3030665"/>
                </a:cubicBezTo>
                <a:cubicBezTo>
                  <a:pt x="498866" y="3023015"/>
                  <a:pt x="520932" y="3023320"/>
                  <a:pt x="526840" y="2999447"/>
                </a:cubicBezTo>
                <a:cubicBezTo>
                  <a:pt x="501352" y="2976798"/>
                  <a:pt x="470270" y="2995161"/>
                  <a:pt x="442916" y="2988735"/>
                </a:cubicBezTo>
                <a:cubicBezTo>
                  <a:pt x="420228" y="2983533"/>
                  <a:pt x="382618" y="2986286"/>
                  <a:pt x="413701" y="2944662"/>
                </a:cubicBezTo>
                <a:cubicBezTo>
                  <a:pt x="422716" y="2932726"/>
                  <a:pt x="412147" y="2923542"/>
                  <a:pt x="400645" y="2922625"/>
                </a:cubicBezTo>
                <a:cubicBezTo>
                  <a:pt x="308644" y="2913137"/>
                  <a:pt x="350915" y="2828968"/>
                  <a:pt x="321386" y="2784590"/>
                </a:cubicBezTo>
                <a:cubicBezTo>
                  <a:pt x="313307" y="2772348"/>
                  <a:pt x="322010" y="2751230"/>
                  <a:pt x="334753" y="2746027"/>
                </a:cubicBezTo>
                <a:cubicBezTo>
                  <a:pt x="416187" y="2711746"/>
                  <a:pt x="427377" y="2630027"/>
                  <a:pt x="466852" y="2559632"/>
                </a:cubicBezTo>
                <a:cubicBezTo>
                  <a:pt x="423957" y="2531782"/>
                  <a:pt x="372673" y="2525661"/>
                  <a:pt x="326361" y="2507602"/>
                </a:cubicBezTo>
                <a:cubicBezTo>
                  <a:pt x="278183" y="2488626"/>
                  <a:pt x="278183" y="2474547"/>
                  <a:pt x="317968" y="2419457"/>
                </a:cubicBezTo>
                <a:cubicBezTo>
                  <a:pt x="214465" y="2407519"/>
                  <a:pt x="214465" y="2407519"/>
                  <a:pt x="246479" y="2320903"/>
                </a:cubicBezTo>
                <a:cubicBezTo>
                  <a:pt x="159758" y="2312945"/>
                  <a:pt x="102570" y="2271933"/>
                  <a:pt x="89205" y="2182255"/>
                </a:cubicBezTo>
                <a:cubicBezTo>
                  <a:pt x="82677" y="2138795"/>
                  <a:pt x="43514" y="2118290"/>
                  <a:pt x="0" y="2089213"/>
                </a:cubicBezTo>
                <a:cubicBezTo>
                  <a:pt x="54081" y="2061053"/>
                  <a:pt x="90759" y="2002290"/>
                  <a:pt x="153855" y="2064423"/>
                </a:cubicBezTo>
                <a:cubicBezTo>
                  <a:pt x="176855" y="2087070"/>
                  <a:pt x="174683" y="2058300"/>
                  <a:pt x="177788" y="2050037"/>
                </a:cubicBezTo>
                <a:cubicBezTo>
                  <a:pt x="185247" y="2029838"/>
                  <a:pt x="169707" y="2016369"/>
                  <a:pt x="159450" y="2001067"/>
                </a:cubicBezTo>
                <a:cubicBezTo>
                  <a:pt x="149504" y="1985763"/>
                  <a:pt x="137691" y="1969543"/>
                  <a:pt x="134895" y="1952400"/>
                </a:cubicBezTo>
                <a:cubicBezTo>
                  <a:pt x="133031" y="1940465"/>
                  <a:pt x="142044" y="1923021"/>
                  <a:pt x="151990" y="1914144"/>
                </a:cubicBezTo>
                <a:cubicBezTo>
                  <a:pt x="204209" y="1867316"/>
                  <a:pt x="173127" y="1762030"/>
                  <a:pt x="271969" y="1748562"/>
                </a:cubicBezTo>
                <a:cubicBezTo>
                  <a:pt x="316415" y="1742443"/>
                  <a:pt x="337860" y="1703878"/>
                  <a:pt x="370497" y="1682760"/>
                </a:cubicBezTo>
                <a:cubicBezTo>
                  <a:pt x="483946" y="1608999"/>
                  <a:pt x="559787" y="1514119"/>
                  <a:pt x="594908" y="1383735"/>
                </a:cubicBezTo>
                <a:cubicBezTo>
                  <a:pt x="604543" y="1347620"/>
                  <a:pt x="641532" y="1318542"/>
                  <a:pt x="665465" y="1286713"/>
                </a:cubicBezTo>
                <a:cubicBezTo>
                  <a:pt x="653963" y="1263452"/>
                  <a:pt x="591178" y="1313647"/>
                  <a:pt x="613246" y="1252435"/>
                </a:cubicBezTo>
                <a:cubicBezTo>
                  <a:pt x="630030" y="1206524"/>
                  <a:pt x="672925" y="1178060"/>
                  <a:pt x="713332" y="1150820"/>
                </a:cubicBezTo>
                <a:cubicBezTo>
                  <a:pt x="759333" y="1119908"/>
                  <a:pt x="810307" y="1095117"/>
                  <a:pt x="831133" y="1037883"/>
                </a:cubicBezTo>
                <a:cubicBezTo>
                  <a:pt x="835485" y="1025640"/>
                  <a:pt x="849470" y="1012785"/>
                  <a:pt x="861903" y="1007887"/>
                </a:cubicBezTo>
                <a:cubicBezTo>
                  <a:pt x="1469751" y="63584"/>
                  <a:pt x="2910527" y="-1353"/>
                  <a:pt x="3239865" y="21"/>
                </a:cubicBezTo>
                <a:close/>
              </a:path>
            </a:pathLst>
          </a:custGeom>
          <a:noFill/>
          <a:extLst>
            <a:ext uri="{909E8E84-426E-40DD-AFC4-6F175D3DCCD1}">
              <a14:hiddenFill xmlns:a14="http://schemas.microsoft.com/office/drawing/2010/main">
                <a:solidFill>
                  <a:srgbClr val="FFFFFF"/>
                </a:solidFill>
              </a14:hiddenFill>
            </a:ext>
          </a:extLst>
        </p:spPr>
      </p:pic>
      <p:pic>
        <p:nvPicPr>
          <p:cNvPr id="6" name="Picture 2" descr="Artwork King (a portrait of Michael Jackson) this artwork made of 16-channel video installation: 42:20 minutes, colour, sound, created in 2005-01-01">
            <a:extLst>
              <a:ext uri="{FF2B5EF4-FFF2-40B4-BE49-F238E27FC236}">
                <a16:creationId xmlns:a16="http://schemas.microsoft.com/office/drawing/2014/main" id="{C8661C84-A77A-6394-575E-6A5F2343252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5097" r="18747" b="3"/>
          <a:stretch/>
        </p:blipFill>
        <p:spPr bwMode="auto">
          <a:xfrm>
            <a:off x="5398276" y="2457970"/>
            <a:ext cx="3458367" cy="3476265"/>
          </a:xfrm>
          <a:custGeom>
            <a:avLst/>
            <a:gdLst/>
            <a:ahLst/>
            <a:cxnLst/>
            <a:rect l="l" t="t" r="r" b="b"/>
            <a:pathLst>
              <a:path w="3458367" h="3476265">
                <a:moveTo>
                  <a:pt x="549716" y="15"/>
                </a:moveTo>
                <a:cubicBezTo>
                  <a:pt x="557611" y="271"/>
                  <a:pt x="565778" y="3856"/>
                  <a:pt x="573176" y="4995"/>
                </a:cubicBezTo>
                <a:cubicBezTo>
                  <a:pt x="736504" y="30493"/>
                  <a:pt x="899830" y="58040"/>
                  <a:pt x="1063336" y="82398"/>
                </a:cubicBezTo>
                <a:cubicBezTo>
                  <a:pt x="1216195" y="105163"/>
                  <a:pt x="1370136" y="110398"/>
                  <a:pt x="1523717" y="122237"/>
                </a:cubicBezTo>
                <a:cubicBezTo>
                  <a:pt x="1709602" y="136580"/>
                  <a:pt x="1895127" y="156841"/>
                  <a:pt x="2079929" y="188711"/>
                </a:cubicBezTo>
                <a:cubicBezTo>
                  <a:pt x="2208244" y="211023"/>
                  <a:pt x="2337823" y="226502"/>
                  <a:pt x="2467943" y="208745"/>
                </a:cubicBezTo>
                <a:cubicBezTo>
                  <a:pt x="2474439" y="207834"/>
                  <a:pt x="2481839" y="204876"/>
                  <a:pt x="2487253" y="207834"/>
                </a:cubicBezTo>
                <a:cubicBezTo>
                  <a:pt x="2550419" y="241073"/>
                  <a:pt x="2619357" y="217168"/>
                  <a:pt x="2684869" y="238113"/>
                </a:cubicBezTo>
                <a:cubicBezTo>
                  <a:pt x="2668085" y="318930"/>
                  <a:pt x="2596077" y="312327"/>
                  <a:pt x="2555471" y="368331"/>
                </a:cubicBezTo>
                <a:cubicBezTo>
                  <a:pt x="2621704" y="390639"/>
                  <a:pt x="2681259" y="413178"/>
                  <a:pt x="2741717" y="430023"/>
                </a:cubicBezTo>
                <a:cubicBezTo>
                  <a:pt x="2805785" y="447780"/>
                  <a:pt x="2860106" y="495816"/>
                  <a:pt x="2922728" y="517216"/>
                </a:cubicBezTo>
                <a:cubicBezTo>
                  <a:pt x="2936085" y="521769"/>
                  <a:pt x="2952146" y="537704"/>
                  <a:pt x="2956838" y="553184"/>
                </a:cubicBezTo>
                <a:cubicBezTo>
                  <a:pt x="2971997" y="603269"/>
                  <a:pt x="3274647" y="743732"/>
                  <a:pt x="3238914" y="788350"/>
                </a:cubicBezTo>
                <a:cubicBezTo>
                  <a:pt x="3224116" y="806791"/>
                  <a:pt x="3204986" y="819994"/>
                  <a:pt x="3184953" y="838207"/>
                </a:cubicBezTo>
                <a:cubicBezTo>
                  <a:pt x="3215093" y="872582"/>
                  <a:pt x="3249020" y="887608"/>
                  <a:pt x="3285115" y="897852"/>
                </a:cubicBezTo>
                <a:cubicBezTo>
                  <a:pt x="3295944" y="901039"/>
                  <a:pt x="3306591" y="907413"/>
                  <a:pt x="3307674" y="922894"/>
                </a:cubicBezTo>
                <a:cubicBezTo>
                  <a:pt x="3308757" y="939056"/>
                  <a:pt x="3297748" y="945429"/>
                  <a:pt x="3288544" y="952944"/>
                </a:cubicBezTo>
                <a:cubicBezTo>
                  <a:pt x="3275731" y="963415"/>
                  <a:pt x="3263278" y="972523"/>
                  <a:pt x="3247036" y="973888"/>
                </a:cubicBezTo>
                <a:cubicBezTo>
                  <a:pt x="3220325" y="975937"/>
                  <a:pt x="3207513" y="1005076"/>
                  <a:pt x="3191993" y="1026930"/>
                </a:cubicBezTo>
                <a:cubicBezTo>
                  <a:pt x="3183330" y="1039224"/>
                  <a:pt x="3178998" y="1064037"/>
                  <a:pt x="3194157" y="1068363"/>
                </a:cubicBezTo>
                <a:cubicBezTo>
                  <a:pt x="3230613" y="1078837"/>
                  <a:pt x="3227725" y="1109114"/>
                  <a:pt x="3226824" y="1143489"/>
                </a:cubicBezTo>
                <a:cubicBezTo>
                  <a:pt x="3225560" y="1186061"/>
                  <a:pt x="3204083" y="1205638"/>
                  <a:pt x="3177734" y="1222030"/>
                </a:cubicBezTo>
                <a:cubicBezTo>
                  <a:pt x="3168711" y="1227720"/>
                  <a:pt x="3155898" y="1227493"/>
                  <a:pt x="3152469" y="1245250"/>
                </a:cubicBezTo>
                <a:cubicBezTo>
                  <a:pt x="3167267" y="1262097"/>
                  <a:pt x="3185314" y="1248439"/>
                  <a:pt x="3201197" y="1253218"/>
                </a:cubicBezTo>
                <a:cubicBezTo>
                  <a:pt x="3214370" y="1257088"/>
                  <a:pt x="3236208" y="1255040"/>
                  <a:pt x="3218160" y="1286000"/>
                </a:cubicBezTo>
                <a:cubicBezTo>
                  <a:pt x="3212926" y="1294878"/>
                  <a:pt x="3219062" y="1301709"/>
                  <a:pt x="3225741" y="1302392"/>
                </a:cubicBezTo>
                <a:cubicBezTo>
                  <a:pt x="3279159" y="1309449"/>
                  <a:pt x="3254615" y="1372054"/>
                  <a:pt x="3271761" y="1405063"/>
                </a:cubicBezTo>
                <a:cubicBezTo>
                  <a:pt x="3276452" y="1414169"/>
                  <a:pt x="3271399" y="1429877"/>
                  <a:pt x="3263999" y="1433747"/>
                </a:cubicBezTo>
                <a:cubicBezTo>
                  <a:pt x="3216716" y="1459245"/>
                  <a:pt x="3210220" y="1520028"/>
                  <a:pt x="3187299" y="1572389"/>
                </a:cubicBezTo>
                <a:cubicBezTo>
                  <a:pt x="3212205" y="1593104"/>
                  <a:pt x="3241982" y="1597657"/>
                  <a:pt x="3268872" y="1611089"/>
                </a:cubicBezTo>
                <a:cubicBezTo>
                  <a:pt x="3296846" y="1625204"/>
                  <a:pt x="3296846" y="1635676"/>
                  <a:pt x="3273746" y="1676653"/>
                </a:cubicBezTo>
                <a:cubicBezTo>
                  <a:pt x="3333842" y="1685532"/>
                  <a:pt x="3333842" y="1685532"/>
                  <a:pt x="3315254" y="1749957"/>
                </a:cubicBezTo>
                <a:cubicBezTo>
                  <a:pt x="3365607" y="1755877"/>
                  <a:pt x="3398812" y="1786382"/>
                  <a:pt x="3406572" y="1853085"/>
                </a:cubicBezTo>
                <a:cubicBezTo>
                  <a:pt x="3410362" y="1885411"/>
                  <a:pt x="3433101" y="1900663"/>
                  <a:pt x="3458367" y="1922291"/>
                </a:cubicBezTo>
                <a:cubicBezTo>
                  <a:pt x="3426966" y="1943236"/>
                  <a:pt x="3405669" y="1986945"/>
                  <a:pt x="3369034" y="1940730"/>
                </a:cubicBezTo>
                <a:cubicBezTo>
                  <a:pt x="3355680" y="1923885"/>
                  <a:pt x="3356941" y="1945284"/>
                  <a:pt x="3355138" y="1951430"/>
                </a:cubicBezTo>
                <a:cubicBezTo>
                  <a:pt x="3350807" y="1966455"/>
                  <a:pt x="3359830" y="1976472"/>
                  <a:pt x="3365786" y="1987854"/>
                </a:cubicBezTo>
                <a:cubicBezTo>
                  <a:pt x="3371561" y="1999237"/>
                  <a:pt x="3378420" y="2011302"/>
                  <a:pt x="3380043" y="2024054"/>
                </a:cubicBezTo>
                <a:cubicBezTo>
                  <a:pt x="3381125" y="2032931"/>
                  <a:pt x="3375892" y="2045905"/>
                  <a:pt x="3370117" y="2052509"/>
                </a:cubicBezTo>
                <a:cubicBezTo>
                  <a:pt x="3339797" y="2087340"/>
                  <a:pt x="3357844" y="2165652"/>
                  <a:pt x="3300454" y="2175670"/>
                </a:cubicBezTo>
                <a:cubicBezTo>
                  <a:pt x="3274647" y="2180221"/>
                  <a:pt x="3262195" y="2208906"/>
                  <a:pt x="3243246" y="2224614"/>
                </a:cubicBezTo>
                <a:cubicBezTo>
                  <a:pt x="3177374" y="2279478"/>
                  <a:pt x="3133338" y="2350051"/>
                  <a:pt x="3112946" y="2447031"/>
                </a:cubicBezTo>
                <a:cubicBezTo>
                  <a:pt x="3107352" y="2473894"/>
                  <a:pt x="3085875" y="2495522"/>
                  <a:pt x="3071979" y="2519197"/>
                </a:cubicBezTo>
                <a:cubicBezTo>
                  <a:pt x="3078657" y="2536499"/>
                  <a:pt x="3115112" y="2499164"/>
                  <a:pt x="3102298" y="2544694"/>
                </a:cubicBezTo>
                <a:cubicBezTo>
                  <a:pt x="3092553" y="2578843"/>
                  <a:pt x="3067647" y="2600014"/>
                  <a:pt x="3044185" y="2620276"/>
                </a:cubicBezTo>
                <a:cubicBezTo>
                  <a:pt x="3017476" y="2643268"/>
                  <a:pt x="2987879" y="2661708"/>
                  <a:pt x="2975787" y="2704279"/>
                </a:cubicBezTo>
                <a:cubicBezTo>
                  <a:pt x="2973260" y="2713386"/>
                  <a:pt x="2965140" y="2722947"/>
                  <a:pt x="2957921" y="2726591"/>
                </a:cubicBezTo>
                <a:cubicBezTo>
                  <a:pt x="2581458" y="3475797"/>
                  <a:pt x="1654740" y="3480805"/>
                  <a:pt x="1547901" y="3475568"/>
                </a:cubicBezTo>
                <a:cubicBezTo>
                  <a:pt x="1418503" y="3468966"/>
                  <a:pt x="1296143" y="3422753"/>
                  <a:pt x="1176132" y="3365156"/>
                </a:cubicBezTo>
                <a:cubicBezTo>
                  <a:pt x="1125418" y="3340797"/>
                  <a:pt x="1078316" y="3306195"/>
                  <a:pt x="1029045" y="3279332"/>
                </a:cubicBezTo>
                <a:cubicBezTo>
                  <a:pt x="961009" y="3242223"/>
                  <a:pt x="908492" y="3171424"/>
                  <a:pt x="840634" y="3141601"/>
                </a:cubicBezTo>
                <a:cubicBezTo>
                  <a:pt x="770793" y="3110867"/>
                  <a:pt x="711057" y="3054638"/>
                  <a:pt x="639229" y="3030734"/>
                </a:cubicBezTo>
                <a:cubicBezTo>
                  <a:pt x="601330" y="3017985"/>
                  <a:pt x="564695" y="2994993"/>
                  <a:pt x="570649" y="2929200"/>
                </a:cubicBezTo>
                <a:cubicBezTo>
                  <a:pt x="572274" y="2910532"/>
                  <a:pt x="562349" y="2895282"/>
                  <a:pt x="546647" y="2900745"/>
                </a:cubicBezTo>
                <a:cubicBezTo>
                  <a:pt x="516690" y="2910989"/>
                  <a:pt x="503154" y="2883898"/>
                  <a:pt x="486550" y="2863636"/>
                </a:cubicBezTo>
                <a:cubicBezTo>
                  <a:pt x="456953" y="2827667"/>
                  <a:pt x="428801" y="2789422"/>
                  <a:pt x="381697" y="2783503"/>
                </a:cubicBezTo>
                <a:cubicBezTo>
                  <a:pt x="390720" y="2755272"/>
                  <a:pt x="406060" y="2759371"/>
                  <a:pt x="420137" y="2765290"/>
                </a:cubicBezTo>
                <a:cubicBezTo>
                  <a:pt x="457133" y="2780772"/>
                  <a:pt x="493769" y="2798300"/>
                  <a:pt x="530765" y="2813781"/>
                </a:cubicBezTo>
                <a:cubicBezTo>
                  <a:pt x="554948" y="2823799"/>
                  <a:pt x="578952" y="2837912"/>
                  <a:pt x="611257" y="2826755"/>
                </a:cubicBezTo>
                <a:cubicBezTo>
                  <a:pt x="583463" y="2769843"/>
                  <a:pt x="536180" y="2759598"/>
                  <a:pt x="497920" y="2742071"/>
                </a:cubicBezTo>
                <a:cubicBezTo>
                  <a:pt x="450096" y="2719988"/>
                  <a:pt x="421942" y="2678326"/>
                  <a:pt x="388193" y="2631885"/>
                </a:cubicBezTo>
                <a:cubicBezTo>
                  <a:pt x="423386" y="2620730"/>
                  <a:pt x="445223" y="2654879"/>
                  <a:pt x="472834" y="2653056"/>
                </a:cubicBezTo>
                <a:cubicBezTo>
                  <a:pt x="474279" y="2647140"/>
                  <a:pt x="476804" y="2638488"/>
                  <a:pt x="476444" y="2638259"/>
                </a:cubicBezTo>
                <a:cubicBezTo>
                  <a:pt x="431326" y="2612763"/>
                  <a:pt x="410211" y="2564956"/>
                  <a:pt x="403173" y="2507131"/>
                </a:cubicBezTo>
                <a:cubicBezTo>
                  <a:pt x="399563" y="2477310"/>
                  <a:pt x="383140" y="2467976"/>
                  <a:pt x="366897" y="2454316"/>
                </a:cubicBezTo>
                <a:cubicBezTo>
                  <a:pt x="310230" y="2405826"/>
                  <a:pt x="250314" y="2361890"/>
                  <a:pt x="203752" y="2295188"/>
                </a:cubicBezTo>
                <a:cubicBezTo>
                  <a:pt x="257532" y="2304066"/>
                  <a:pt x="300665" y="2347547"/>
                  <a:pt x="358597" y="2366215"/>
                </a:cubicBezTo>
                <a:cubicBezTo>
                  <a:pt x="312577" y="2292910"/>
                  <a:pt x="253020" y="2255803"/>
                  <a:pt x="198698" y="2211409"/>
                </a:cubicBezTo>
                <a:cubicBezTo>
                  <a:pt x="173974" y="2191149"/>
                  <a:pt x="151055" y="2165197"/>
                  <a:pt x="121097" y="2154269"/>
                </a:cubicBezTo>
                <a:cubicBezTo>
                  <a:pt x="110448" y="2150400"/>
                  <a:pt x="92943" y="2142204"/>
                  <a:pt x="101425" y="2120577"/>
                </a:cubicBezTo>
                <a:cubicBezTo>
                  <a:pt x="108643" y="2102593"/>
                  <a:pt x="122900" y="2108055"/>
                  <a:pt x="135895" y="2113292"/>
                </a:cubicBezTo>
                <a:cubicBezTo>
                  <a:pt x="167116" y="2126269"/>
                  <a:pt x="199421" y="2126495"/>
                  <a:pt x="241652" y="2126269"/>
                </a:cubicBezTo>
                <a:cubicBezTo>
                  <a:pt x="206279" y="2066851"/>
                  <a:pt x="141489" y="2084608"/>
                  <a:pt x="111170" y="2022231"/>
                </a:cubicBezTo>
                <a:cubicBezTo>
                  <a:pt x="149069" y="2011302"/>
                  <a:pt x="178305" y="2033841"/>
                  <a:pt x="208987" y="2038166"/>
                </a:cubicBezTo>
                <a:cubicBezTo>
                  <a:pt x="236777" y="2042036"/>
                  <a:pt x="243636" y="2031565"/>
                  <a:pt x="237139" y="1997188"/>
                </a:cubicBezTo>
                <a:cubicBezTo>
                  <a:pt x="227034" y="1943690"/>
                  <a:pt x="242193" y="1916371"/>
                  <a:pt x="282618" y="1930941"/>
                </a:cubicBezTo>
                <a:cubicBezTo>
                  <a:pt x="320155" y="1944601"/>
                  <a:pt x="324125" y="1924568"/>
                  <a:pt x="314019" y="1894062"/>
                </a:cubicBezTo>
                <a:cubicBezTo>
                  <a:pt x="299582" y="1849671"/>
                  <a:pt x="316004" y="1815295"/>
                  <a:pt x="327194" y="1777960"/>
                </a:cubicBezTo>
                <a:cubicBezTo>
                  <a:pt x="344339" y="1721045"/>
                  <a:pt x="337121" y="1693272"/>
                  <a:pt x="300123" y="1650929"/>
                </a:cubicBezTo>
                <a:cubicBezTo>
                  <a:pt x="279370" y="1627251"/>
                  <a:pt x="256992" y="1607219"/>
                  <a:pt x="226852" y="1586731"/>
                </a:cubicBezTo>
                <a:cubicBezTo>
                  <a:pt x="296334" y="1575576"/>
                  <a:pt x="223423" y="1538013"/>
                  <a:pt x="247968" y="1514564"/>
                </a:cubicBezTo>
                <a:cubicBezTo>
                  <a:pt x="297056" y="1505003"/>
                  <a:pt x="337121" y="1579673"/>
                  <a:pt x="403895" y="1558274"/>
                </a:cubicBezTo>
                <a:cubicBezTo>
                  <a:pt x="321420" y="1493619"/>
                  <a:pt x="230281" y="1472448"/>
                  <a:pt x="170546" y="1386396"/>
                </a:cubicBezTo>
                <a:cubicBezTo>
                  <a:pt x="184261" y="1366817"/>
                  <a:pt x="197977" y="1385030"/>
                  <a:pt x="209707" y="1377746"/>
                </a:cubicBezTo>
                <a:cubicBezTo>
                  <a:pt x="209346" y="1373192"/>
                  <a:pt x="210250" y="1366362"/>
                  <a:pt x="208083" y="1364314"/>
                </a:cubicBezTo>
                <a:cubicBezTo>
                  <a:pt x="163508" y="1317416"/>
                  <a:pt x="162784" y="1316279"/>
                  <a:pt x="210610" y="1281675"/>
                </a:cubicBezTo>
                <a:cubicBezTo>
                  <a:pt x="227394" y="1269609"/>
                  <a:pt x="225950" y="1258909"/>
                  <a:pt x="217108" y="1243657"/>
                </a:cubicBezTo>
                <a:cubicBezTo>
                  <a:pt x="210790" y="1232957"/>
                  <a:pt x="203211" y="1223395"/>
                  <a:pt x="206820" y="1199947"/>
                </a:cubicBezTo>
                <a:cubicBezTo>
                  <a:pt x="232988" y="1229998"/>
                  <a:pt x="359499" y="1220208"/>
                  <a:pt x="381877" y="1217021"/>
                </a:cubicBezTo>
                <a:cubicBezTo>
                  <a:pt x="406963" y="1213607"/>
                  <a:pt x="431688" y="1199037"/>
                  <a:pt x="458035" y="1207003"/>
                </a:cubicBezTo>
                <a:cubicBezTo>
                  <a:pt x="479150" y="1213381"/>
                  <a:pt x="576966" y="1275073"/>
                  <a:pt x="590863" y="1204273"/>
                </a:cubicBezTo>
                <a:cubicBezTo>
                  <a:pt x="591585" y="1200858"/>
                  <a:pt x="631107" y="1208826"/>
                  <a:pt x="652403" y="1212696"/>
                </a:cubicBezTo>
                <a:cubicBezTo>
                  <a:pt x="671172" y="1215883"/>
                  <a:pt x="692288" y="1229998"/>
                  <a:pt x="704920" y="1201769"/>
                </a:cubicBezTo>
                <a:cubicBezTo>
                  <a:pt x="712320" y="1185150"/>
                  <a:pt x="681820" y="1153051"/>
                  <a:pt x="654569" y="1150320"/>
                </a:cubicBezTo>
                <a:cubicBezTo>
                  <a:pt x="630926" y="1147814"/>
                  <a:pt x="606202" y="1144172"/>
                  <a:pt x="583643" y="1151001"/>
                </a:cubicBezTo>
                <a:cubicBezTo>
                  <a:pt x="555852" y="1159198"/>
                  <a:pt x="540873" y="1145995"/>
                  <a:pt x="533111" y="1117538"/>
                </a:cubicBezTo>
                <a:cubicBezTo>
                  <a:pt x="524450" y="1086122"/>
                  <a:pt x="507845" y="1071550"/>
                  <a:pt x="484926" y="1056980"/>
                </a:cubicBezTo>
                <a:cubicBezTo>
                  <a:pt x="429340" y="1021696"/>
                  <a:pt x="375921" y="980946"/>
                  <a:pt x="314922" y="960456"/>
                </a:cubicBezTo>
                <a:cubicBezTo>
                  <a:pt x="302830" y="956358"/>
                  <a:pt x="289476" y="950894"/>
                  <a:pt x="283881" y="923805"/>
                </a:cubicBezTo>
                <a:cubicBezTo>
                  <a:pt x="449013" y="964326"/>
                  <a:pt x="599526" y="1069958"/>
                  <a:pt x="769890" y="1063811"/>
                </a:cubicBezTo>
                <a:cubicBezTo>
                  <a:pt x="723329" y="1030346"/>
                  <a:pt x="669369" y="1028524"/>
                  <a:pt x="619738" y="1005076"/>
                </a:cubicBezTo>
                <a:cubicBezTo>
                  <a:pt x="654930" y="987546"/>
                  <a:pt x="687956" y="1005759"/>
                  <a:pt x="721344" y="1015777"/>
                </a:cubicBezTo>
                <a:cubicBezTo>
                  <a:pt x="749317" y="1023970"/>
                  <a:pt x="774583" y="1025337"/>
                  <a:pt x="777650" y="976393"/>
                </a:cubicBezTo>
                <a:cubicBezTo>
                  <a:pt x="776566" y="973205"/>
                  <a:pt x="776747" y="969107"/>
                  <a:pt x="776929" y="965238"/>
                </a:cubicBezTo>
                <a:cubicBezTo>
                  <a:pt x="767542" y="944976"/>
                  <a:pt x="752926" y="934504"/>
                  <a:pt x="735601" y="928584"/>
                </a:cubicBezTo>
                <a:cubicBezTo>
                  <a:pt x="725133" y="924942"/>
                  <a:pt x="711237" y="919478"/>
                  <a:pt x="711416" y="904909"/>
                </a:cubicBezTo>
                <a:cubicBezTo>
                  <a:pt x="711958" y="850955"/>
                  <a:pt x="678571" y="835246"/>
                  <a:pt x="645185" y="819539"/>
                </a:cubicBezTo>
                <a:cubicBezTo>
                  <a:pt x="663773" y="792676"/>
                  <a:pt x="678391" y="812481"/>
                  <a:pt x="692468" y="810433"/>
                </a:cubicBezTo>
                <a:cubicBezTo>
                  <a:pt x="701672" y="809067"/>
                  <a:pt x="709973" y="806563"/>
                  <a:pt x="709973" y="792676"/>
                </a:cubicBezTo>
                <a:cubicBezTo>
                  <a:pt x="710154" y="781065"/>
                  <a:pt x="705822" y="767861"/>
                  <a:pt x="696799" y="767635"/>
                </a:cubicBezTo>
                <a:cubicBezTo>
                  <a:pt x="640312" y="765585"/>
                  <a:pt x="609090" y="690914"/>
                  <a:pt x="550437" y="690687"/>
                </a:cubicBezTo>
                <a:cubicBezTo>
                  <a:pt x="515425" y="690687"/>
                  <a:pt x="568666" y="648572"/>
                  <a:pt x="539068" y="631042"/>
                </a:cubicBezTo>
                <a:cubicBezTo>
                  <a:pt x="532570" y="627171"/>
                  <a:pt x="556032" y="621254"/>
                  <a:pt x="566500" y="622164"/>
                </a:cubicBezTo>
                <a:cubicBezTo>
                  <a:pt x="576786" y="623074"/>
                  <a:pt x="585990" y="634229"/>
                  <a:pt x="598443" y="626261"/>
                </a:cubicBezTo>
                <a:cubicBezTo>
                  <a:pt x="605300" y="597806"/>
                  <a:pt x="587615" y="587332"/>
                  <a:pt x="572996" y="579365"/>
                </a:cubicBezTo>
                <a:cubicBezTo>
                  <a:pt x="539247" y="560925"/>
                  <a:pt x="506402" y="538615"/>
                  <a:pt x="469405" y="532013"/>
                </a:cubicBezTo>
                <a:cubicBezTo>
                  <a:pt x="456232" y="529737"/>
                  <a:pt x="488355" y="499231"/>
                  <a:pt x="494671" y="488532"/>
                </a:cubicBezTo>
                <a:cubicBezTo>
                  <a:pt x="345782" y="376071"/>
                  <a:pt x="166756" y="381762"/>
                  <a:pt x="0" y="290928"/>
                </a:cubicBezTo>
                <a:cubicBezTo>
                  <a:pt x="36817" y="273173"/>
                  <a:pt x="63887" y="286148"/>
                  <a:pt x="88973" y="288880"/>
                </a:cubicBezTo>
                <a:cubicBezTo>
                  <a:pt x="151595" y="295708"/>
                  <a:pt x="213498" y="309822"/>
                  <a:pt x="275940" y="318246"/>
                </a:cubicBezTo>
                <a:cubicBezTo>
                  <a:pt x="306620" y="322344"/>
                  <a:pt x="335134" y="337824"/>
                  <a:pt x="369424" y="313239"/>
                </a:cubicBezTo>
                <a:cubicBezTo>
                  <a:pt x="392343" y="296847"/>
                  <a:pt x="428980" y="314604"/>
                  <a:pt x="457133" y="329174"/>
                </a:cubicBezTo>
                <a:cubicBezTo>
                  <a:pt x="480414" y="341238"/>
                  <a:pt x="502612" y="344425"/>
                  <a:pt x="533474" y="329174"/>
                </a:cubicBezTo>
                <a:cubicBezTo>
                  <a:pt x="505501" y="319841"/>
                  <a:pt x="484023" y="311645"/>
                  <a:pt x="462006" y="305953"/>
                </a:cubicBezTo>
                <a:cubicBezTo>
                  <a:pt x="444501" y="301400"/>
                  <a:pt x="486189" y="282960"/>
                  <a:pt x="507484" y="285237"/>
                </a:cubicBezTo>
                <a:cubicBezTo>
                  <a:pt x="537263" y="288423"/>
                  <a:pt x="520479" y="276586"/>
                  <a:pt x="515425" y="260195"/>
                </a:cubicBezTo>
                <a:cubicBezTo>
                  <a:pt x="510012" y="242665"/>
                  <a:pt x="526074" y="237203"/>
                  <a:pt x="536180" y="240844"/>
                </a:cubicBezTo>
                <a:cubicBezTo>
                  <a:pt x="574980" y="255187"/>
                  <a:pt x="613602" y="229917"/>
                  <a:pt x="653668" y="250407"/>
                </a:cubicBezTo>
                <a:cubicBezTo>
                  <a:pt x="643561" y="199867"/>
                  <a:pt x="621723" y="177784"/>
                  <a:pt x="576064" y="170726"/>
                </a:cubicBezTo>
                <a:cubicBezTo>
                  <a:pt x="558919" y="167996"/>
                  <a:pt x="541053" y="172093"/>
                  <a:pt x="526254" y="157522"/>
                </a:cubicBezTo>
                <a:cubicBezTo>
                  <a:pt x="517771" y="149101"/>
                  <a:pt x="508207" y="139084"/>
                  <a:pt x="514884" y="123603"/>
                </a:cubicBezTo>
                <a:cubicBezTo>
                  <a:pt x="519577" y="112674"/>
                  <a:pt x="529684" y="112674"/>
                  <a:pt x="537985" y="116318"/>
                </a:cubicBezTo>
                <a:cubicBezTo>
                  <a:pt x="575162" y="132483"/>
                  <a:pt x="613963" y="138400"/>
                  <a:pt x="652764" y="144320"/>
                </a:cubicBezTo>
                <a:cubicBezTo>
                  <a:pt x="658720" y="145230"/>
                  <a:pt x="665397" y="148191"/>
                  <a:pt x="672075" y="133164"/>
                </a:cubicBezTo>
                <a:cubicBezTo>
                  <a:pt x="599526" y="108805"/>
                  <a:pt x="530585" y="74202"/>
                  <a:pt x="456051" y="60770"/>
                </a:cubicBezTo>
                <a:cubicBezTo>
                  <a:pt x="457133" y="54397"/>
                  <a:pt x="458215" y="48022"/>
                  <a:pt x="459299" y="41649"/>
                </a:cubicBezTo>
                <a:cubicBezTo>
                  <a:pt x="517591" y="50753"/>
                  <a:pt x="575884" y="59859"/>
                  <a:pt x="649515" y="71243"/>
                </a:cubicBezTo>
                <a:cubicBezTo>
                  <a:pt x="604218" y="35045"/>
                  <a:pt x="561446" y="47111"/>
                  <a:pt x="527879" y="15013"/>
                </a:cubicBezTo>
                <a:cubicBezTo>
                  <a:pt x="534195" y="2833"/>
                  <a:pt x="541820" y="-241"/>
                  <a:pt x="549716" y="15"/>
                </a:cubicBezTo>
                <a:close/>
              </a:path>
            </a:pathLst>
          </a:custGeom>
          <a:noFill/>
          <a:extLst>
            <a:ext uri="{909E8E84-426E-40DD-AFC4-6F175D3DCCD1}">
              <a14:hiddenFill xmlns:a14="http://schemas.microsoft.com/office/drawing/2010/main">
                <a:solidFill>
                  <a:srgbClr val="FFFFFF"/>
                </a:solidFill>
              </a14:hiddenFill>
            </a:ext>
          </a:extLst>
        </p:spPr>
      </p:pic>
      <p:pic>
        <p:nvPicPr>
          <p:cNvPr id="5" name="Picture 2" descr="A city made of cardboard in an art gallery | AMES YAVUZ">
            <a:extLst>
              <a:ext uri="{FF2B5EF4-FFF2-40B4-BE49-F238E27FC236}">
                <a16:creationId xmlns:a16="http://schemas.microsoft.com/office/drawing/2014/main" id="{D53A6063-4CC7-9AFA-6BD6-08780B8779C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13372" r="27380" b="-1"/>
          <a:stretch/>
        </p:blipFill>
        <p:spPr bwMode="auto">
          <a:xfrm>
            <a:off x="7621024" y="-5"/>
            <a:ext cx="4579876" cy="3536502"/>
          </a:xfrm>
          <a:custGeom>
            <a:avLst/>
            <a:gdLst/>
            <a:ahLst/>
            <a:cxnLst/>
            <a:rect l="l" t="t" r="r" b="b"/>
            <a:pathLst>
              <a:path w="4579876" h="3536502">
                <a:moveTo>
                  <a:pt x="457312" y="0"/>
                </a:moveTo>
                <a:lnTo>
                  <a:pt x="4579876" y="0"/>
                </a:lnTo>
                <a:lnTo>
                  <a:pt x="4579876" y="3057029"/>
                </a:lnTo>
                <a:lnTo>
                  <a:pt x="4508441" y="3086568"/>
                </a:lnTo>
                <a:cubicBezTo>
                  <a:pt x="4391572" y="3126663"/>
                  <a:pt x="4301124" y="3221848"/>
                  <a:pt x="4183947" y="3271738"/>
                </a:cubicBezTo>
                <a:cubicBezTo>
                  <a:pt x="4099090" y="3307854"/>
                  <a:pt x="4017967" y="3354374"/>
                  <a:pt x="3930625" y="3387123"/>
                </a:cubicBezTo>
                <a:cubicBezTo>
                  <a:pt x="3723932" y="3464557"/>
                  <a:pt x="3513195" y="3526689"/>
                  <a:pt x="3290337" y="3535564"/>
                </a:cubicBezTo>
                <a:cubicBezTo>
                  <a:pt x="3106332" y="3542605"/>
                  <a:pt x="1510274" y="3535872"/>
                  <a:pt x="861903" y="2528615"/>
                </a:cubicBezTo>
                <a:cubicBezTo>
                  <a:pt x="849470" y="2523717"/>
                  <a:pt x="835485" y="2510862"/>
                  <a:pt x="831133" y="2498619"/>
                </a:cubicBezTo>
                <a:cubicBezTo>
                  <a:pt x="810307" y="2441385"/>
                  <a:pt x="759333" y="2416594"/>
                  <a:pt x="713333" y="2385682"/>
                </a:cubicBezTo>
                <a:cubicBezTo>
                  <a:pt x="672925" y="2358442"/>
                  <a:pt x="630030" y="2329978"/>
                  <a:pt x="613246" y="2284067"/>
                </a:cubicBezTo>
                <a:cubicBezTo>
                  <a:pt x="591179" y="2222855"/>
                  <a:pt x="653963" y="2273050"/>
                  <a:pt x="665465" y="2249789"/>
                </a:cubicBezTo>
                <a:cubicBezTo>
                  <a:pt x="641532" y="2217960"/>
                  <a:pt x="604543" y="2188882"/>
                  <a:pt x="594908" y="2152767"/>
                </a:cubicBezTo>
                <a:cubicBezTo>
                  <a:pt x="559787" y="2022383"/>
                  <a:pt x="483946" y="1927503"/>
                  <a:pt x="370497" y="1853742"/>
                </a:cubicBezTo>
                <a:cubicBezTo>
                  <a:pt x="337861" y="1832624"/>
                  <a:pt x="316415" y="1794059"/>
                  <a:pt x="271969" y="1787940"/>
                </a:cubicBezTo>
                <a:cubicBezTo>
                  <a:pt x="173127" y="1774472"/>
                  <a:pt x="204209" y="1669186"/>
                  <a:pt x="151990" y="1622358"/>
                </a:cubicBezTo>
                <a:cubicBezTo>
                  <a:pt x="142044" y="1613481"/>
                  <a:pt x="133031" y="1596037"/>
                  <a:pt x="134895" y="1584102"/>
                </a:cubicBezTo>
                <a:cubicBezTo>
                  <a:pt x="137691" y="1566959"/>
                  <a:pt x="149504" y="1550739"/>
                  <a:pt x="159450" y="1535435"/>
                </a:cubicBezTo>
                <a:cubicBezTo>
                  <a:pt x="169708" y="1520133"/>
                  <a:pt x="185247" y="1506664"/>
                  <a:pt x="177788" y="1486465"/>
                </a:cubicBezTo>
                <a:cubicBezTo>
                  <a:pt x="174683" y="1478202"/>
                  <a:pt x="176855" y="1449432"/>
                  <a:pt x="153856" y="1472079"/>
                </a:cubicBezTo>
                <a:cubicBezTo>
                  <a:pt x="90760" y="1534212"/>
                  <a:pt x="54082" y="1475449"/>
                  <a:pt x="0" y="1447289"/>
                </a:cubicBezTo>
                <a:cubicBezTo>
                  <a:pt x="43515" y="1418212"/>
                  <a:pt x="82677" y="1397707"/>
                  <a:pt x="89205" y="1354247"/>
                </a:cubicBezTo>
                <a:cubicBezTo>
                  <a:pt x="102570" y="1264569"/>
                  <a:pt x="159758" y="1223557"/>
                  <a:pt x="246479" y="1215599"/>
                </a:cubicBezTo>
                <a:cubicBezTo>
                  <a:pt x="214465" y="1128983"/>
                  <a:pt x="214465" y="1128983"/>
                  <a:pt x="317968" y="1117045"/>
                </a:cubicBezTo>
                <a:cubicBezTo>
                  <a:pt x="278183" y="1061955"/>
                  <a:pt x="278183" y="1047876"/>
                  <a:pt x="326362" y="1028900"/>
                </a:cubicBezTo>
                <a:cubicBezTo>
                  <a:pt x="372673" y="1010841"/>
                  <a:pt x="423957" y="1004720"/>
                  <a:pt x="466852" y="976870"/>
                </a:cubicBezTo>
                <a:cubicBezTo>
                  <a:pt x="427377" y="906475"/>
                  <a:pt x="416188" y="824756"/>
                  <a:pt x="334754" y="790475"/>
                </a:cubicBezTo>
                <a:cubicBezTo>
                  <a:pt x="322010" y="785272"/>
                  <a:pt x="313307" y="764154"/>
                  <a:pt x="321386" y="751912"/>
                </a:cubicBezTo>
                <a:cubicBezTo>
                  <a:pt x="350915" y="707534"/>
                  <a:pt x="308644" y="623365"/>
                  <a:pt x="400645" y="613877"/>
                </a:cubicBezTo>
                <a:cubicBezTo>
                  <a:pt x="412147" y="612959"/>
                  <a:pt x="422716" y="603776"/>
                  <a:pt x="413701" y="591839"/>
                </a:cubicBezTo>
                <a:cubicBezTo>
                  <a:pt x="382618" y="550216"/>
                  <a:pt x="420228" y="552969"/>
                  <a:pt x="442917" y="547767"/>
                </a:cubicBezTo>
                <a:cubicBezTo>
                  <a:pt x="470271" y="541341"/>
                  <a:pt x="501353" y="559703"/>
                  <a:pt x="526840" y="537055"/>
                </a:cubicBezTo>
                <a:cubicBezTo>
                  <a:pt x="520932" y="513181"/>
                  <a:pt x="498866" y="513487"/>
                  <a:pt x="483325" y="505836"/>
                </a:cubicBezTo>
                <a:cubicBezTo>
                  <a:pt x="437946" y="483799"/>
                  <a:pt x="400956" y="457479"/>
                  <a:pt x="398780" y="400243"/>
                </a:cubicBezTo>
                <a:cubicBezTo>
                  <a:pt x="397229" y="354028"/>
                  <a:pt x="392255" y="313323"/>
                  <a:pt x="455041" y="299242"/>
                </a:cubicBezTo>
                <a:cubicBezTo>
                  <a:pt x="481149" y="293426"/>
                  <a:pt x="473687" y="260067"/>
                  <a:pt x="458769" y="243538"/>
                </a:cubicBezTo>
                <a:cubicBezTo>
                  <a:pt x="432038" y="214157"/>
                  <a:pt x="409972" y="174981"/>
                  <a:pt x="363969" y="172227"/>
                </a:cubicBezTo>
                <a:cubicBezTo>
                  <a:pt x="335995" y="170391"/>
                  <a:pt x="314549" y="158146"/>
                  <a:pt x="292481" y="144069"/>
                </a:cubicBezTo>
                <a:cubicBezTo>
                  <a:pt x="276630" y="133966"/>
                  <a:pt x="257670" y="125398"/>
                  <a:pt x="259534" y="103668"/>
                </a:cubicBezTo>
                <a:cubicBezTo>
                  <a:pt x="261399" y="82855"/>
                  <a:pt x="279736" y="74286"/>
                  <a:pt x="298387" y="70001"/>
                </a:cubicBezTo>
                <a:cubicBezTo>
                  <a:pt x="345011" y="59672"/>
                  <a:pt x="389535" y="45726"/>
                  <a:pt x="430782" y="19902"/>
                </a:cubicBezTo>
                <a:close/>
              </a:path>
            </a:pathLst>
          </a:cu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9F0F3C93-57D7-E69F-E230-ED4DCAB75530}"/>
              </a:ext>
            </a:extLst>
          </p:cNvPr>
          <p:cNvPicPr>
            <a:picLocks noChangeAspect="1"/>
          </p:cNvPicPr>
          <p:nvPr/>
        </p:nvPicPr>
        <p:blipFill>
          <a:blip r:embed="rId5"/>
          <a:stretch>
            <a:fillRect/>
          </a:stretch>
        </p:blipFill>
        <p:spPr>
          <a:xfrm>
            <a:off x="322868" y="605526"/>
            <a:ext cx="6005455" cy="928679"/>
          </a:xfrm>
          <a:prstGeom prst="rect">
            <a:avLst/>
          </a:prstGeom>
        </p:spPr>
      </p:pic>
    </p:spTree>
    <p:extLst>
      <p:ext uri="{BB962C8B-B14F-4D97-AF65-F5344CB8AC3E}">
        <p14:creationId xmlns:p14="http://schemas.microsoft.com/office/powerpoint/2010/main" val="3700259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06CBDDC-0BCF-D0FB-4173-87B8C3A400AC}"/>
              </a:ext>
            </a:extLst>
          </p:cNvPr>
          <p:cNvPicPr>
            <a:picLocks noChangeAspect="1"/>
          </p:cNvPicPr>
          <p:nvPr/>
        </p:nvPicPr>
        <p:blipFill>
          <a:blip r:embed="rId2"/>
          <a:stretch>
            <a:fillRect/>
          </a:stretch>
        </p:blipFill>
        <p:spPr>
          <a:xfrm>
            <a:off x="3196694" y="2793536"/>
            <a:ext cx="5798611" cy="635464"/>
          </a:xfrm>
          <a:prstGeom prst="rect">
            <a:avLst/>
          </a:prstGeom>
        </p:spPr>
      </p:pic>
      <p:sp>
        <p:nvSpPr>
          <p:cNvPr id="5" name="TextBox 4">
            <a:extLst>
              <a:ext uri="{FF2B5EF4-FFF2-40B4-BE49-F238E27FC236}">
                <a16:creationId xmlns:a16="http://schemas.microsoft.com/office/drawing/2014/main" id="{0254327B-D4C4-3AF8-0A62-B4E3C61E7658}"/>
              </a:ext>
            </a:extLst>
          </p:cNvPr>
          <p:cNvSpPr txBox="1"/>
          <p:nvPr/>
        </p:nvSpPr>
        <p:spPr>
          <a:xfrm>
            <a:off x="759075" y="966894"/>
            <a:ext cx="4875238" cy="1398823"/>
          </a:xfrm>
          <a:prstGeom prst="round2DiagRect">
            <a:avLst/>
          </a:prstGeom>
          <a:solidFill>
            <a:schemeClr val="accent6">
              <a:lumMod val="60000"/>
              <a:lumOff val="40000"/>
            </a:schemeClr>
          </a:solidFill>
          <a:ln w="12700">
            <a:solidFill>
              <a:schemeClr val="tx1"/>
            </a:solidFill>
            <a:prstDash val="solid"/>
          </a:ln>
        </p:spPr>
        <p:txBody>
          <a:bodyPr wrap="square" rtlCol="0">
            <a:spAutoFit/>
          </a:bodyPr>
          <a:lstStyle/>
          <a:p>
            <a:pPr algn="ctr">
              <a:lnSpc>
                <a:spcPct val="107000"/>
              </a:lnSpc>
            </a:pPr>
            <a:r>
              <a:rPr lang="en-AU" sz="2400" b="1" i="1" dirty="0"/>
              <a:t>Sharing artistic control with participants, audiences, or communities.</a:t>
            </a:r>
          </a:p>
        </p:txBody>
      </p:sp>
      <p:sp>
        <p:nvSpPr>
          <p:cNvPr id="8" name="TextBox 7">
            <a:extLst>
              <a:ext uri="{FF2B5EF4-FFF2-40B4-BE49-F238E27FC236}">
                <a16:creationId xmlns:a16="http://schemas.microsoft.com/office/drawing/2014/main" id="{938C9301-315D-9E38-0F92-6D15B404C27A}"/>
              </a:ext>
            </a:extLst>
          </p:cNvPr>
          <p:cNvSpPr txBox="1"/>
          <p:nvPr/>
        </p:nvSpPr>
        <p:spPr>
          <a:xfrm>
            <a:off x="833230" y="4734950"/>
            <a:ext cx="5092952" cy="961611"/>
          </a:xfrm>
          <a:prstGeom prst="round2DiagRect">
            <a:avLst/>
          </a:prstGeom>
          <a:solidFill>
            <a:schemeClr val="accent6">
              <a:lumMod val="50000"/>
            </a:schemeClr>
          </a:solidFill>
          <a:ln w="12700">
            <a:solidFill>
              <a:schemeClr val="tx1"/>
            </a:solidFill>
            <a:prstDash val="solid"/>
          </a:ln>
        </p:spPr>
        <p:txBody>
          <a:bodyPr wrap="square" rtlCol="0">
            <a:spAutoFit/>
          </a:bodyPr>
          <a:lstStyle/>
          <a:p>
            <a:pPr algn="ctr">
              <a:lnSpc>
                <a:spcPct val="107000"/>
              </a:lnSpc>
            </a:pPr>
            <a:r>
              <a:rPr lang="en-AU" sz="2400" b="1" i="1" dirty="0">
                <a:solidFill>
                  <a:schemeClr val="bg1"/>
                </a:solidFill>
              </a:rPr>
              <a:t>Challenging the idea of the “solo genius artist.”</a:t>
            </a:r>
          </a:p>
        </p:txBody>
      </p:sp>
      <p:sp>
        <p:nvSpPr>
          <p:cNvPr id="6" name="TextBox 5">
            <a:extLst>
              <a:ext uri="{FF2B5EF4-FFF2-40B4-BE49-F238E27FC236}">
                <a16:creationId xmlns:a16="http://schemas.microsoft.com/office/drawing/2014/main" id="{31683080-CBDD-4098-EF83-04263DA1E9FD}"/>
              </a:ext>
            </a:extLst>
          </p:cNvPr>
          <p:cNvSpPr txBox="1"/>
          <p:nvPr/>
        </p:nvSpPr>
        <p:spPr>
          <a:xfrm>
            <a:off x="6792010" y="3900018"/>
            <a:ext cx="4142014" cy="961611"/>
          </a:xfrm>
          <a:prstGeom prst="round2DiagRect">
            <a:avLst/>
          </a:prstGeom>
          <a:solidFill>
            <a:schemeClr val="accent6">
              <a:lumMod val="75000"/>
            </a:schemeClr>
          </a:solidFill>
          <a:ln w="12700">
            <a:solidFill>
              <a:schemeClr val="tx1"/>
            </a:solidFill>
            <a:prstDash val="solid"/>
          </a:ln>
        </p:spPr>
        <p:txBody>
          <a:bodyPr wrap="square" rtlCol="0">
            <a:spAutoFit/>
          </a:bodyPr>
          <a:lstStyle/>
          <a:p>
            <a:pPr algn="ctr">
              <a:lnSpc>
                <a:spcPct val="107000"/>
              </a:lnSpc>
              <a:buNone/>
            </a:pPr>
            <a:r>
              <a:rPr lang="en-US" sz="2400" b="1" i="1" kern="0" dirty="0">
                <a:solidFill>
                  <a:schemeClr val="bg1"/>
                </a:solidFill>
                <a:effectLst/>
                <a:latin typeface="+mj-lt"/>
                <a:ea typeface="Times New Roman" panose="02020603050405020304" pitchFamily="18" charset="0"/>
                <a:cs typeface="Times New Roman" panose="02020603050405020304" pitchFamily="18" charset="0"/>
              </a:rPr>
              <a:t>Inviting viewers to shape meaning and outcomes. </a:t>
            </a:r>
            <a:endParaRPr lang="en-AU" sz="2400" b="1" i="1" kern="0" dirty="0">
              <a:solidFill>
                <a:schemeClr val="bg1"/>
              </a:solidFill>
              <a:effectLst/>
              <a:latin typeface="+mj-lt"/>
              <a:ea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780A083D-C985-CFD5-AD73-3996534EE51C}"/>
              </a:ext>
            </a:extLst>
          </p:cNvPr>
          <p:cNvSpPr txBox="1"/>
          <p:nvPr/>
        </p:nvSpPr>
        <p:spPr>
          <a:xfrm>
            <a:off x="6904846" y="539075"/>
            <a:ext cx="4682586" cy="1398823"/>
          </a:xfrm>
          <a:prstGeom prst="round2DiagRect">
            <a:avLst/>
          </a:prstGeom>
          <a:solidFill>
            <a:schemeClr val="accent6">
              <a:lumMod val="20000"/>
              <a:lumOff val="80000"/>
            </a:schemeClr>
          </a:solidFill>
          <a:ln w="12700">
            <a:solidFill>
              <a:schemeClr val="tx1"/>
            </a:solidFill>
            <a:prstDash val="solid"/>
          </a:ln>
        </p:spPr>
        <p:txBody>
          <a:bodyPr wrap="square" rtlCol="0">
            <a:spAutoFit/>
          </a:bodyPr>
          <a:lstStyle/>
          <a:p>
            <a:pPr algn="ctr">
              <a:lnSpc>
                <a:spcPct val="107000"/>
              </a:lnSpc>
            </a:pPr>
            <a:r>
              <a:rPr lang="en-AU" sz="2400" b="1" i="1" dirty="0"/>
              <a:t>Expanding art beyond the studio — into life, society, relationships.</a:t>
            </a:r>
          </a:p>
        </p:txBody>
      </p:sp>
    </p:spTree>
    <p:extLst>
      <p:ext uri="{BB962C8B-B14F-4D97-AF65-F5344CB8AC3E}">
        <p14:creationId xmlns:p14="http://schemas.microsoft.com/office/powerpoint/2010/main" val="2230865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P spid="6" grpId="0" animBg="1"/>
      <p:bldP spid="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E5D3D19-1612-C81A-9444-168230C4BA94}"/>
              </a:ext>
            </a:extLst>
          </p:cNvPr>
          <p:cNvSpPr txBox="1"/>
          <p:nvPr/>
        </p:nvSpPr>
        <p:spPr>
          <a:xfrm>
            <a:off x="219406" y="869604"/>
            <a:ext cx="8869907" cy="2800767"/>
          </a:xfrm>
          <a:prstGeom prst="rect">
            <a:avLst/>
          </a:prstGeom>
          <a:noFill/>
          <a:ln w="19050">
            <a:solidFill>
              <a:schemeClr val="tx1"/>
            </a:solidFill>
          </a:ln>
        </p:spPr>
        <p:txBody>
          <a:bodyPr wrap="square">
            <a:spAutoFit/>
          </a:bodyPr>
          <a:lstStyle/>
          <a:p>
            <a:pPr algn="ctr"/>
            <a:r>
              <a:rPr lang="en-US" b="1" dirty="0">
                <a:latin typeface="+mj-lt"/>
              </a:rPr>
              <a:t>Sophie Calle </a:t>
            </a:r>
          </a:p>
          <a:p>
            <a:pPr algn="ctr"/>
            <a:endParaRPr lang="en-US" sz="1600" b="1" dirty="0">
              <a:latin typeface="+mj-lt"/>
            </a:endParaRPr>
          </a:p>
          <a:p>
            <a:r>
              <a:rPr lang="en-US" sz="1600" b="1" dirty="0">
                <a:latin typeface="+mj-lt"/>
              </a:rPr>
              <a:t>Art Practice: </a:t>
            </a:r>
            <a:endParaRPr lang="en-AU" sz="1600" dirty="0">
              <a:latin typeface="+mj-lt"/>
            </a:endParaRPr>
          </a:p>
          <a:p>
            <a:pPr marL="285750" indent="-285750">
              <a:buFont typeface="Arial" panose="020B0604020202020204" pitchFamily="34" charset="0"/>
              <a:buChar char="•"/>
            </a:pPr>
            <a:r>
              <a:rPr lang="en-US" sz="1400" b="0" i="0" u="none" strike="noStrike" baseline="0" dirty="0">
                <a:solidFill>
                  <a:srgbClr val="000000"/>
                </a:solidFill>
                <a:latin typeface="+mj-lt"/>
              </a:rPr>
              <a:t>her work challenges the traditional notions of the role of artist and audience through her collaboration with others; blurs the idea of authorship by inviting others in to become ‘joint constructors’ of meaning in the work </a:t>
            </a:r>
          </a:p>
          <a:p>
            <a:endParaRPr lang="en-US" sz="1400" b="0" i="0" u="none" strike="noStrike" baseline="0" dirty="0">
              <a:solidFill>
                <a:srgbClr val="000000"/>
              </a:solidFill>
              <a:latin typeface="+mj-lt"/>
            </a:endParaRPr>
          </a:p>
          <a:p>
            <a:pPr marL="285750" indent="-285750">
              <a:buFont typeface="Arial" panose="020B0604020202020204" pitchFamily="34" charset="0"/>
              <a:buChar char="•"/>
            </a:pPr>
            <a:r>
              <a:rPr lang="en-US" sz="1400" b="0" i="0" u="none" strike="noStrike" baseline="0" dirty="0">
                <a:solidFill>
                  <a:srgbClr val="000000"/>
                </a:solidFill>
                <a:latin typeface="+mj-lt"/>
              </a:rPr>
              <a:t>Calle uses photographs and text to create narratives that are part-fact and part-fiction </a:t>
            </a:r>
          </a:p>
          <a:p>
            <a:endParaRPr lang="en-US" sz="1400" b="0" i="0" u="none" strike="noStrike" baseline="0" dirty="0">
              <a:solidFill>
                <a:srgbClr val="000000"/>
              </a:solidFill>
              <a:latin typeface="+mj-lt"/>
            </a:endParaRPr>
          </a:p>
          <a:p>
            <a:pPr marL="285750" indent="-285750">
              <a:buFont typeface="Arial" panose="020B0604020202020204" pitchFamily="34" charset="0"/>
              <a:buChar char="•"/>
            </a:pPr>
            <a:r>
              <a:rPr lang="en-US" sz="1400" b="0" i="0" u="none" strike="noStrike" baseline="0" dirty="0">
                <a:solidFill>
                  <a:srgbClr val="000000"/>
                </a:solidFill>
                <a:latin typeface="+mj-lt"/>
              </a:rPr>
              <a:t>she explores universal themes of vulnerability, identity, communication, memory, surveillance, public and private lives and perception in her works </a:t>
            </a:r>
          </a:p>
          <a:p>
            <a:endParaRPr lang="en-US" sz="1400" b="0" i="0" u="none" strike="noStrike" baseline="0" dirty="0">
              <a:solidFill>
                <a:srgbClr val="000000"/>
              </a:solidFill>
              <a:latin typeface="+mj-lt"/>
            </a:endParaRPr>
          </a:p>
          <a:p>
            <a:pPr marL="285750" indent="-285750">
              <a:buFont typeface="Arial" panose="020B0604020202020204" pitchFamily="34" charset="0"/>
              <a:buChar char="•"/>
            </a:pPr>
            <a:r>
              <a:rPr lang="en-US" sz="1400" b="0" i="0" u="none" strike="noStrike" baseline="0" dirty="0">
                <a:solidFill>
                  <a:srgbClr val="000000"/>
                </a:solidFill>
                <a:latin typeface="+mj-lt"/>
              </a:rPr>
              <a:t>she often casts herself in multiple roles as private investigator, psychologist and forensic scientist </a:t>
            </a:r>
          </a:p>
        </p:txBody>
      </p:sp>
      <p:pic>
        <p:nvPicPr>
          <p:cNvPr id="7" name="Picture 6">
            <a:extLst>
              <a:ext uri="{FF2B5EF4-FFF2-40B4-BE49-F238E27FC236}">
                <a16:creationId xmlns:a16="http://schemas.microsoft.com/office/drawing/2014/main" id="{B7073126-D490-90C1-1A3A-379695D97702}"/>
              </a:ext>
            </a:extLst>
          </p:cNvPr>
          <p:cNvPicPr>
            <a:picLocks noChangeAspect="1"/>
          </p:cNvPicPr>
          <p:nvPr/>
        </p:nvPicPr>
        <p:blipFill>
          <a:blip r:embed="rId2"/>
          <a:stretch>
            <a:fillRect/>
          </a:stretch>
        </p:blipFill>
        <p:spPr>
          <a:xfrm>
            <a:off x="130628" y="0"/>
            <a:ext cx="5096586" cy="781159"/>
          </a:xfrm>
          <a:prstGeom prst="rect">
            <a:avLst/>
          </a:prstGeom>
        </p:spPr>
      </p:pic>
      <p:sp>
        <p:nvSpPr>
          <p:cNvPr id="10" name="TextBox 9">
            <a:extLst>
              <a:ext uri="{FF2B5EF4-FFF2-40B4-BE49-F238E27FC236}">
                <a16:creationId xmlns:a16="http://schemas.microsoft.com/office/drawing/2014/main" id="{2EE0F7EB-F2F5-75E5-2D38-0A88431BDA0D}"/>
              </a:ext>
            </a:extLst>
          </p:cNvPr>
          <p:cNvSpPr txBox="1"/>
          <p:nvPr/>
        </p:nvSpPr>
        <p:spPr>
          <a:xfrm>
            <a:off x="415588" y="4191446"/>
            <a:ext cx="5774166" cy="1634490"/>
          </a:xfrm>
          <a:prstGeom prst="roundRect">
            <a:avLst/>
          </a:prstGeom>
          <a:solidFill>
            <a:schemeClr val="accent6">
              <a:lumMod val="60000"/>
              <a:lumOff val="40000"/>
            </a:schemeClr>
          </a:solidFill>
          <a:ln w="12700">
            <a:solidFill>
              <a:schemeClr val="tx1"/>
            </a:solidFill>
          </a:ln>
        </p:spPr>
        <p:txBody>
          <a:bodyPr wrap="square" rtlCol="0">
            <a:spAutoFit/>
          </a:bodyPr>
          <a:lstStyle/>
          <a:p>
            <a:pPr algn="ctr"/>
            <a:r>
              <a:rPr lang="en-US" b="1" dirty="0">
                <a:latin typeface="+mj-lt"/>
              </a:rPr>
              <a:t>Alternate Approach</a:t>
            </a:r>
          </a:p>
          <a:p>
            <a:pPr algn="ctr"/>
            <a:endParaRPr lang="en-US" b="1" dirty="0">
              <a:latin typeface="+mj-lt"/>
            </a:endParaRPr>
          </a:p>
          <a:p>
            <a:pPr algn="ctr"/>
            <a:r>
              <a:rPr lang="en-AU" sz="1800" kern="100" dirty="0">
                <a:effectLst/>
                <a:latin typeface="Aptos" panose="020B0004020202020204" pitchFamily="34" charset="0"/>
                <a:ea typeface="Aptos" panose="020B0004020202020204" pitchFamily="34" charset="0"/>
                <a:cs typeface="Times New Roman" panose="02020603050405020304" pitchFamily="18" charset="0"/>
              </a:rPr>
              <a:t>Involves strangers to co-create meaning, turning private stories into public art.</a:t>
            </a:r>
          </a:p>
          <a:p>
            <a:pPr algn="ctr"/>
            <a:endParaRPr lang="en-US" b="1" dirty="0">
              <a:latin typeface="+mj-lt"/>
            </a:endParaRPr>
          </a:p>
        </p:txBody>
      </p:sp>
      <p:pic>
        <p:nvPicPr>
          <p:cNvPr id="3" name="Picture 2">
            <a:extLst>
              <a:ext uri="{FF2B5EF4-FFF2-40B4-BE49-F238E27FC236}">
                <a16:creationId xmlns:a16="http://schemas.microsoft.com/office/drawing/2014/main" id="{FDDCAB01-2262-66E0-4594-173BBDA9DF68}"/>
              </a:ext>
            </a:extLst>
          </p:cNvPr>
          <p:cNvPicPr>
            <a:picLocks noChangeAspect="1"/>
          </p:cNvPicPr>
          <p:nvPr/>
        </p:nvPicPr>
        <p:blipFill>
          <a:blip r:embed="rId3"/>
          <a:stretch>
            <a:fillRect/>
          </a:stretch>
        </p:blipFill>
        <p:spPr>
          <a:xfrm>
            <a:off x="5153434" y="73676"/>
            <a:ext cx="3807686" cy="729729"/>
          </a:xfrm>
          <a:prstGeom prst="rect">
            <a:avLst/>
          </a:prstGeom>
        </p:spPr>
      </p:pic>
      <p:pic>
        <p:nvPicPr>
          <p:cNvPr id="1028" name="Picture 4" descr="Sophie Calle TAKE CARE OF YOURSELF | Actuphoto">
            <a:extLst>
              <a:ext uri="{FF2B5EF4-FFF2-40B4-BE49-F238E27FC236}">
                <a16:creationId xmlns:a16="http://schemas.microsoft.com/office/drawing/2014/main" id="{F5317F62-FE52-A19E-241F-733C41CA7A6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25535" y="381000"/>
            <a:ext cx="2747058" cy="3368040"/>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F48B69C8-F263-3924-B7CF-73C2925EEB76}"/>
              </a:ext>
            </a:extLst>
          </p:cNvPr>
          <p:cNvSpPr txBox="1"/>
          <p:nvPr/>
        </p:nvSpPr>
        <p:spPr>
          <a:xfrm>
            <a:off x="6734401" y="3429000"/>
            <a:ext cx="5042011" cy="3159383"/>
          </a:xfrm>
          <a:prstGeom prst="ellipse">
            <a:avLst/>
          </a:prstGeom>
          <a:solidFill>
            <a:schemeClr val="bg1"/>
          </a:solidFill>
          <a:ln w="9525">
            <a:solidFill>
              <a:schemeClr val="tx1"/>
            </a:solidFill>
          </a:ln>
        </p:spPr>
        <p:txBody>
          <a:bodyPr wrap="square">
            <a:spAutoFit/>
          </a:bodyPr>
          <a:lstStyle/>
          <a:p>
            <a:r>
              <a:rPr lang="en-US" sz="1400" b="1" i="1" u="none" strike="noStrike" baseline="0" dirty="0">
                <a:solidFill>
                  <a:srgbClr val="000000"/>
                </a:solidFill>
                <a:latin typeface="+mj-lt"/>
              </a:rPr>
              <a:t>Sophie Calle – Take Care of Yourself | </a:t>
            </a:r>
            <a:r>
              <a:rPr lang="en-US" sz="1400" b="1" i="1" u="none" strike="noStrike" baseline="0" dirty="0" err="1">
                <a:solidFill>
                  <a:srgbClr val="000000"/>
                </a:solidFill>
                <a:latin typeface="+mj-lt"/>
              </a:rPr>
              <a:t>TateShots</a:t>
            </a:r>
            <a:endParaRPr lang="en-US" sz="1400" b="1" i="1" u="none" strike="noStrike" baseline="0" dirty="0">
              <a:solidFill>
                <a:srgbClr val="000000"/>
              </a:solidFill>
              <a:latin typeface="+mj-lt"/>
            </a:endParaRPr>
          </a:p>
          <a:p>
            <a:endParaRPr lang="en-AU" sz="1400" b="0" i="0" u="none" strike="noStrike" baseline="0" dirty="0">
              <a:latin typeface="+mj-lt"/>
            </a:endParaRPr>
          </a:p>
          <a:p>
            <a:r>
              <a:rPr lang="en-US" sz="1400" dirty="0">
                <a:solidFill>
                  <a:srgbClr val="000000"/>
                </a:solidFill>
                <a:latin typeface="+mj-lt"/>
              </a:rPr>
              <a:t>A</a:t>
            </a:r>
            <a:r>
              <a:rPr lang="en-US" sz="1400" b="0" i="0" u="none" strike="noStrike" baseline="0" dirty="0">
                <a:solidFill>
                  <a:srgbClr val="000000"/>
                </a:solidFill>
                <a:latin typeface="+mj-lt"/>
              </a:rPr>
              <a:t>n installation of photographs, graphics, reading materials and videos in response to an actual break-up letter that Calle was sent from her boyfriend and shared with 107 female collaborators who </a:t>
            </a:r>
            <a:endParaRPr lang="en-AU" sz="1400" b="0" i="0" u="none" strike="noStrike" baseline="0" dirty="0">
              <a:latin typeface="+mj-lt"/>
            </a:endParaRPr>
          </a:p>
          <a:p>
            <a:r>
              <a:rPr lang="en-US" sz="1400" b="0" i="0" u="none" strike="noStrike" baseline="0" dirty="0">
                <a:solidFill>
                  <a:srgbClr val="000000"/>
                </a:solidFill>
                <a:latin typeface="+mj-lt"/>
              </a:rPr>
              <a:t>each contributed their interpretation of the break-up letter </a:t>
            </a:r>
          </a:p>
        </p:txBody>
      </p:sp>
    </p:spTree>
    <p:extLst>
      <p:ext uri="{BB962C8B-B14F-4D97-AF65-F5344CB8AC3E}">
        <p14:creationId xmlns:p14="http://schemas.microsoft.com/office/powerpoint/2010/main" val="25123133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nline Media 1" title="Sophie Calle – Dumped by Email | TateShots">
            <a:hlinkClick r:id="" action="ppaction://media"/>
            <a:extLst>
              <a:ext uri="{FF2B5EF4-FFF2-40B4-BE49-F238E27FC236}">
                <a16:creationId xmlns:a16="http://schemas.microsoft.com/office/drawing/2014/main" id="{BEBF3501-F621-BFC9-705C-294560C5724F}"/>
              </a:ext>
            </a:extLst>
          </p:cNvPr>
          <p:cNvPicPr>
            <a:picLocks noRot="1" noChangeAspect="1"/>
          </p:cNvPicPr>
          <p:nvPr>
            <a:videoFile r:link="rId1"/>
          </p:nvPr>
        </p:nvPicPr>
        <p:blipFill>
          <a:blip r:embed="rId4"/>
          <a:stretch>
            <a:fillRect/>
          </a:stretch>
        </p:blipFill>
        <p:spPr>
          <a:xfrm>
            <a:off x="255588" y="301978"/>
            <a:ext cx="7045049" cy="3980462"/>
          </a:xfrm>
          <a:prstGeom prst="rect">
            <a:avLst/>
          </a:prstGeom>
        </p:spPr>
      </p:pic>
      <p:sp>
        <p:nvSpPr>
          <p:cNvPr id="4" name="TextBox 3">
            <a:extLst>
              <a:ext uri="{FF2B5EF4-FFF2-40B4-BE49-F238E27FC236}">
                <a16:creationId xmlns:a16="http://schemas.microsoft.com/office/drawing/2014/main" id="{47BBA583-63F2-3C63-88CC-FE092D0EEFEC}"/>
              </a:ext>
            </a:extLst>
          </p:cNvPr>
          <p:cNvSpPr txBox="1"/>
          <p:nvPr/>
        </p:nvSpPr>
        <p:spPr>
          <a:xfrm>
            <a:off x="967221" y="4288151"/>
            <a:ext cx="6096000" cy="646331"/>
          </a:xfrm>
          <a:prstGeom prst="rect">
            <a:avLst/>
          </a:prstGeom>
          <a:noFill/>
        </p:spPr>
        <p:txBody>
          <a:bodyPr wrap="square">
            <a:spAutoFit/>
          </a:bodyPr>
          <a:lstStyle/>
          <a:p>
            <a:r>
              <a:rPr lang="en-AU" dirty="0">
                <a:hlinkClick r:id="rId5"/>
              </a:rPr>
              <a:t>https://www.youtube.com/watch?v=Q9E4dA0EGaM</a:t>
            </a:r>
            <a:endParaRPr lang="en-AU" dirty="0"/>
          </a:p>
          <a:p>
            <a:endParaRPr lang="en-AU" dirty="0"/>
          </a:p>
        </p:txBody>
      </p:sp>
      <p:pic>
        <p:nvPicPr>
          <p:cNvPr id="5" name="Online Media 4" title="How an Artist got Through Breakup. Sophie Calle. Take Care of Yourself #takecareofyourself #breakup">
            <a:hlinkClick r:id="" action="ppaction://media"/>
            <a:extLst>
              <a:ext uri="{FF2B5EF4-FFF2-40B4-BE49-F238E27FC236}">
                <a16:creationId xmlns:a16="http://schemas.microsoft.com/office/drawing/2014/main" id="{C418E448-DA06-A621-F1BF-C35E8EF644C8}"/>
              </a:ext>
            </a:extLst>
          </p:cNvPr>
          <p:cNvPicPr>
            <a:picLocks noRot="1" noChangeAspect="1"/>
          </p:cNvPicPr>
          <p:nvPr>
            <a:videoFile r:link="rId2"/>
          </p:nvPr>
        </p:nvPicPr>
        <p:blipFill>
          <a:blip r:embed="rId6"/>
          <a:stretch>
            <a:fillRect/>
          </a:stretch>
        </p:blipFill>
        <p:spPr>
          <a:xfrm>
            <a:off x="7955280" y="301978"/>
            <a:ext cx="3269499" cy="5786250"/>
          </a:xfrm>
          <a:prstGeom prst="rect">
            <a:avLst/>
          </a:prstGeom>
        </p:spPr>
      </p:pic>
      <p:sp>
        <p:nvSpPr>
          <p:cNvPr id="7" name="TextBox 6">
            <a:extLst>
              <a:ext uri="{FF2B5EF4-FFF2-40B4-BE49-F238E27FC236}">
                <a16:creationId xmlns:a16="http://schemas.microsoft.com/office/drawing/2014/main" id="{FD0205A1-1D46-3DF8-9942-60BB1DB2C7A7}"/>
              </a:ext>
            </a:extLst>
          </p:cNvPr>
          <p:cNvSpPr txBox="1"/>
          <p:nvPr/>
        </p:nvSpPr>
        <p:spPr>
          <a:xfrm>
            <a:off x="7239000" y="6232856"/>
            <a:ext cx="6096000" cy="646331"/>
          </a:xfrm>
          <a:prstGeom prst="rect">
            <a:avLst/>
          </a:prstGeom>
          <a:noFill/>
        </p:spPr>
        <p:txBody>
          <a:bodyPr wrap="square">
            <a:spAutoFit/>
          </a:bodyPr>
          <a:lstStyle/>
          <a:p>
            <a:r>
              <a:rPr lang="en-AU" dirty="0">
                <a:hlinkClick r:id="rId7"/>
              </a:rPr>
              <a:t>https://www.youtube.com/shorts/fyWzYmBIQe0</a:t>
            </a:r>
            <a:endParaRPr lang="en-AU" dirty="0"/>
          </a:p>
          <a:p>
            <a:endParaRPr lang="en-AU" dirty="0"/>
          </a:p>
        </p:txBody>
      </p:sp>
    </p:spTree>
    <p:extLst>
      <p:ext uri="{BB962C8B-B14F-4D97-AF65-F5344CB8AC3E}">
        <p14:creationId xmlns:p14="http://schemas.microsoft.com/office/powerpoint/2010/main" val="2974264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
                </p:tgtEl>
              </p:cMediaNode>
            </p:video>
            <p:seq concurrent="1" nextAc="seek">
              <p:cTn id="12" restart="whenNotActive" fill="hold" evtFilter="cancelBubble" nodeType="interactiveSeq">
                <p:stCondLst>
                  <p:cond evt="onClick" delay="0">
                    <p:tgtEl>
                      <p:spTgt spid="2"/>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2"/>
                                        </p:tgtEl>
                                      </p:cBhvr>
                                    </p:cmd>
                                  </p:childTnLst>
                                </p:cTn>
                              </p:par>
                            </p:childTnLst>
                          </p:cTn>
                        </p:par>
                      </p:childTnLst>
                    </p:cTn>
                  </p:par>
                </p:childTnLst>
              </p:cTn>
              <p:nextCondLst>
                <p:cond evt="onClick" delay="0">
                  <p:tgtEl>
                    <p:spTgt spid="2"/>
                  </p:tgtEl>
                </p:cond>
              </p:nextCondLst>
            </p:seq>
            <p:video>
              <p:cMediaNode vol="80000">
                <p:cTn id="17" fill="hold" display="0">
                  <p:stCondLst>
                    <p:cond delay="indefinite"/>
                  </p:stCondLst>
                </p:cTn>
                <p:tgtEl>
                  <p:spTgt spid="5"/>
                </p:tgtEl>
              </p:cMediaNode>
            </p:video>
            <p:seq concurrent="1" nextAc="seek">
              <p:cTn id="18" restart="whenNotActive" fill="hold" evtFilter="cancelBubble" nodeType="interactiveSeq">
                <p:stCondLst>
                  <p:cond evt="onClick" delay="0">
                    <p:tgtEl>
                      <p:spTgt spid="5"/>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D730AC36-D1EF-0948-E931-E2C48ED2C43D}"/>
              </a:ext>
            </a:extLst>
          </p:cNvPr>
          <p:cNvSpPr txBox="1"/>
          <p:nvPr/>
        </p:nvSpPr>
        <p:spPr>
          <a:xfrm>
            <a:off x="326087" y="325278"/>
            <a:ext cx="2295193" cy="6207443"/>
          </a:xfrm>
          <a:prstGeom prst="roundRect">
            <a:avLst/>
          </a:prstGeom>
          <a:solidFill>
            <a:schemeClr val="accent6">
              <a:lumMod val="50000"/>
            </a:schemeClr>
          </a:solidFill>
          <a:ln w="12700">
            <a:solidFill>
              <a:schemeClr val="tx1"/>
            </a:solidFill>
          </a:ln>
        </p:spPr>
        <p:txBody>
          <a:bodyPr wrap="square" rtlCol="0">
            <a:spAutoFit/>
          </a:bodyPr>
          <a:lstStyle/>
          <a:p>
            <a:pPr algn="ctr">
              <a:buNone/>
            </a:pPr>
            <a:r>
              <a:rPr lang="en-US" b="1" dirty="0">
                <a:solidFill>
                  <a:schemeClr val="bg1"/>
                </a:solidFill>
                <a:latin typeface="+mj-lt"/>
              </a:rPr>
              <a:t>Contexts</a:t>
            </a:r>
          </a:p>
          <a:p>
            <a:pPr algn="ctr">
              <a:buNone/>
            </a:pPr>
            <a:endParaRPr lang="en-US" dirty="0">
              <a:solidFill>
                <a:schemeClr val="bg1"/>
              </a:solidFill>
              <a:latin typeface="+mj-lt"/>
            </a:endParaRPr>
          </a:p>
          <a:p>
            <a:r>
              <a:rPr lang="en-US" sz="1400" b="1" dirty="0">
                <a:solidFill>
                  <a:schemeClr val="bg1"/>
                </a:solidFill>
                <a:latin typeface="+mj-lt"/>
              </a:rPr>
              <a:t>Formal: </a:t>
            </a:r>
            <a:r>
              <a:rPr lang="en-US" sz="1400" b="0" i="0" u="none" strike="noStrike" baseline="0" dirty="0">
                <a:solidFill>
                  <a:schemeClr val="bg1"/>
                </a:solidFill>
                <a:latin typeface="+mj-lt"/>
              </a:rPr>
              <a:t>she uses formal arrangements and curatorial devices to contribute meaning to the final installation. </a:t>
            </a:r>
          </a:p>
          <a:p>
            <a:endParaRPr lang="en-AU" sz="1400" b="0" i="0" u="none" strike="noStrike" baseline="0" dirty="0">
              <a:solidFill>
                <a:schemeClr val="bg1"/>
              </a:solidFill>
              <a:latin typeface="+mj-lt"/>
            </a:endParaRPr>
          </a:p>
          <a:p>
            <a:r>
              <a:rPr lang="en-US" sz="1400" b="1" dirty="0">
                <a:solidFill>
                  <a:schemeClr val="bg1"/>
                </a:solidFill>
                <a:latin typeface="+mj-lt"/>
              </a:rPr>
              <a:t>Contemporary: </a:t>
            </a:r>
            <a:endParaRPr lang="en-AU" sz="1400" b="0" i="0" u="none" strike="noStrike" baseline="0" dirty="0">
              <a:solidFill>
                <a:schemeClr val="bg1"/>
              </a:solidFill>
              <a:latin typeface="+mj-lt"/>
            </a:endParaRPr>
          </a:p>
          <a:p>
            <a:r>
              <a:rPr lang="en-US" sz="1400" b="0" i="0" u="none" strike="noStrike" baseline="0" dirty="0">
                <a:solidFill>
                  <a:schemeClr val="bg1"/>
                </a:solidFill>
                <a:latin typeface="+mj-lt"/>
              </a:rPr>
              <a:t>purposely challenges the notion of artist as sole producer of an artwork; uses contemporary photo media and film to convey meaning </a:t>
            </a:r>
          </a:p>
          <a:p>
            <a:endParaRPr lang="en-US" sz="1400" dirty="0">
              <a:solidFill>
                <a:schemeClr val="bg1"/>
              </a:solidFill>
              <a:latin typeface="+mj-lt"/>
            </a:endParaRPr>
          </a:p>
          <a:p>
            <a:r>
              <a:rPr lang="en-US" sz="1400" b="1" dirty="0">
                <a:solidFill>
                  <a:schemeClr val="bg1"/>
                </a:solidFill>
                <a:latin typeface="+mj-lt"/>
              </a:rPr>
              <a:t>Cultural: </a:t>
            </a:r>
            <a:endParaRPr lang="en-AU" sz="1400" b="0" i="0" u="none" strike="noStrike" baseline="0" dirty="0">
              <a:solidFill>
                <a:schemeClr val="bg1"/>
              </a:solidFill>
              <a:latin typeface="+mj-lt"/>
            </a:endParaRPr>
          </a:p>
          <a:p>
            <a:r>
              <a:rPr lang="en-US" sz="1400" b="0" i="0" u="none" strike="noStrike" baseline="0" dirty="0">
                <a:solidFill>
                  <a:schemeClr val="bg1"/>
                </a:solidFill>
                <a:latin typeface="+mj-lt"/>
              </a:rPr>
              <a:t>regarded as feminist in that her work challenges notions of female power and control and the roles of women in society </a:t>
            </a:r>
          </a:p>
          <a:p>
            <a:endParaRPr lang="en-US" sz="1400" dirty="0">
              <a:solidFill>
                <a:schemeClr val="bg1"/>
              </a:solidFill>
              <a:latin typeface="+mj-lt"/>
            </a:endParaRPr>
          </a:p>
          <a:p>
            <a:r>
              <a:rPr lang="en-US" sz="1400" b="1" dirty="0">
                <a:solidFill>
                  <a:schemeClr val="bg1"/>
                </a:solidFill>
                <a:latin typeface="+mj-lt"/>
              </a:rPr>
              <a:t>Personal: </a:t>
            </a:r>
            <a:endParaRPr lang="en-AU" sz="1400" b="0" i="0" u="none" strike="noStrike" baseline="0" dirty="0">
              <a:solidFill>
                <a:schemeClr val="bg1"/>
              </a:solidFill>
              <a:latin typeface="+mj-lt"/>
            </a:endParaRPr>
          </a:p>
          <a:p>
            <a:r>
              <a:rPr lang="en-US" sz="1400" b="0" i="0" u="none" strike="noStrike" baseline="0" dirty="0">
                <a:solidFill>
                  <a:schemeClr val="bg1"/>
                </a:solidFill>
                <a:latin typeface="+mj-lt"/>
              </a:rPr>
              <a:t>most work explores narratives from her own life </a:t>
            </a:r>
          </a:p>
        </p:txBody>
      </p:sp>
      <p:pic>
        <p:nvPicPr>
          <p:cNvPr id="3074" name="Picture 2" descr="Piece of work: How is Sophie Calle's 'Take Care of Yourself' art? | Tatler  Asia">
            <a:extLst>
              <a:ext uri="{FF2B5EF4-FFF2-40B4-BE49-F238E27FC236}">
                <a16:creationId xmlns:a16="http://schemas.microsoft.com/office/drawing/2014/main" id="{41B57932-6F18-FE8E-EA45-A426EB8C67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45232" y="325278"/>
            <a:ext cx="5046414" cy="2843411"/>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Sophie Calle - Take Care of Yourself - Exhibitions - Paula Cooper Gallery">
            <a:extLst>
              <a:ext uri="{FF2B5EF4-FFF2-40B4-BE49-F238E27FC236}">
                <a16:creationId xmlns:a16="http://schemas.microsoft.com/office/drawing/2014/main" id="{E41DAD69-9FA6-39AC-8280-19F724DB09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42288" y="3364032"/>
            <a:ext cx="4452302" cy="3168689"/>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65B78211-C46F-462B-9E06-7293CAE6EE0E}"/>
              </a:ext>
            </a:extLst>
          </p:cNvPr>
          <p:cNvSpPr txBox="1"/>
          <p:nvPr/>
        </p:nvSpPr>
        <p:spPr>
          <a:xfrm>
            <a:off x="8138160" y="166568"/>
            <a:ext cx="3905191" cy="6524863"/>
          </a:xfrm>
          <a:prstGeom prst="rect">
            <a:avLst/>
          </a:prstGeom>
          <a:noFill/>
          <a:ln w="19050">
            <a:solidFill>
              <a:schemeClr val="tx1"/>
            </a:solidFill>
          </a:ln>
        </p:spPr>
        <p:txBody>
          <a:bodyPr wrap="square">
            <a:spAutoFit/>
          </a:bodyPr>
          <a:lstStyle/>
          <a:p>
            <a:pPr algn="ctr"/>
            <a:r>
              <a:rPr lang="en-US" b="1" dirty="0"/>
              <a:t>Q + A</a:t>
            </a:r>
          </a:p>
          <a:p>
            <a:endParaRPr lang="en-AU" dirty="0"/>
          </a:p>
          <a:p>
            <a:r>
              <a:rPr lang="en-US" sz="1400" b="1" dirty="0">
                <a:latin typeface="+mj-lt"/>
              </a:rPr>
              <a:t>What media and materials are </a:t>
            </a:r>
            <a:r>
              <a:rPr lang="en-US" sz="1400" b="1" dirty="0" err="1">
                <a:latin typeface="+mj-lt"/>
              </a:rPr>
              <a:t>utilised</a:t>
            </a:r>
            <a:r>
              <a:rPr lang="en-US" sz="1400" b="1" dirty="0">
                <a:latin typeface="+mj-lt"/>
              </a:rPr>
              <a:t> by Calle’s collaborators in the interpretation of the letter? </a:t>
            </a:r>
          </a:p>
          <a:p>
            <a:endParaRPr lang="en-US" sz="1400" b="1" dirty="0">
              <a:latin typeface="+mj-lt"/>
            </a:endParaRPr>
          </a:p>
          <a:p>
            <a:endParaRPr lang="en-US" sz="1400" b="1" dirty="0">
              <a:latin typeface="+mj-lt"/>
            </a:endParaRPr>
          </a:p>
          <a:p>
            <a:r>
              <a:rPr lang="en-US" sz="1400" b="1" dirty="0">
                <a:latin typeface="+mj-lt"/>
              </a:rPr>
              <a:t>Calle’s work is often referred to as ‘conceptual art’ (art in which the idea or concept presented by the artist is considered more important than its appearance or execution.) because it has an emphasis on the artistic idea rather than the finished object. Do you agree? </a:t>
            </a:r>
          </a:p>
          <a:p>
            <a:endParaRPr lang="en-US" sz="1400" b="1" dirty="0">
              <a:latin typeface="+mj-lt"/>
            </a:endParaRPr>
          </a:p>
          <a:p>
            <a:endParaRPr lang="en-US" sz="1400" b="1" dirty="0">
              <a:latin typeface="+mj-lt"/>
            </a:endParaRPr>
          </a:p>
          <a:p>
            <a:endParaRPr lang="en-US" sz="1400" b="1" dirty="0">
              <a:latin typeface="+mj-lt"/>
            </a:endParaRPr>
          </a:p>
          <a:p>
            <a:r>
              <a:rPr lang="en-US" sz="1400" b="1" dirty="0">
                <a:latin typeface="+mj-lt"/>
              </a:rPr>
              <a:t>What aspects and stages of this work did Calle control and have input into? </a:t>
            </a:r>
          </a:p>
          <a:p>
            <a:endParaRPr lang="en-US" sz="1400" b="1" dirty="0">
              <a:latin typeface="+mj-lt"/>
            </a:endParaRPr>
          </a:p>
          <a:p>
            <a:endParaRPr lang="en-US" sz="1400" b="1" dirty="0">
              <a:latin typeface="+mj-lt"/>
            </a:endParaRPr>
          </a:p>
          <a:p>
            <a:r>
              <a:rPr lang="en-US" sz="1400" b="1" dirty="0">
                <a:latin typeface="+mj-lt"/>
              </a:rPr>
              <a:t>What role does Calle invite the audience to take on when viewing the artwork? </a:t>
            </a:r>
          </a:p>
          <a:p>
            <a:endParaRPr lang="en-US" sz="1400" b="1" dirty="0">
              <a:latin typeface="+mj-lt"/>
            </a:endParaRPr>
          </a:p>
          <a:p>
            <a:endParaRPr lang="en-US" sz="1400" b="1" dirty="0">
              <a:latin typeface="+mj-lt"/>
            </a:endParaRPr>
          </a:p>
          <a:p>
            <a:endParaRPr lang="en-US" sz="1400" b="1" dirty="0">
              <a:latin typeface="+mj-lt"/>
            </a:endParaRPr>
          </a:p>
          <a:p>
            <a:r>
              <a:rPr lang="en-US" sz="1400" b="1" dirty="0">
                <a:latin typeface="+mj-lt"/>
              </a:rPr>
              <a:t>Who is the ‘author’ of this artwork? </a:t>
            </a:r>
          </a:p>
          <a:p>
            <a:r>
              <a:rPr lang="en-AU" dirty="0"/>
              <a:t>	</a:t>
            </a:r>
          </a:p>
          <a:p>
            <a:endParaRPr lang="en-US" sz="1400" dirty="0"/>
          </a:p>
          <a:p>
            <a:endParaRPr lang="en-US" sz="1400" dirty="0"/>
          </a:p>
        </p:txBody>
      </p:sp>
    </p:spTree>
    <p:extLst>
      <p:ext uri="{BB962C8B-B14F-4D97-AF65-F5344CB8AC3E}">
        <p14:creationId xmlns:p14="http://schemas.microsoft.com/office/powerpoint/2010/main" val="37002955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39490A-8ECA-FE12-CC4C-1D6CDBE96F31}"/>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C45CA147-FDCF-FE2D-80A9-02EBA746D9A5}"/>
              </a:ext>
            </a:extLst>
          </p:cNvPr>
          <p:cNvSpPr txBox="1"/>
          <p:nvPr/>
        </p:nvSpPr>
        <p:spPr>
          <a:xfrm>
            <a:off x="219407" y="869604"/>
            <a:ext cx="4764074" cy="4524315"/>
          </a:xfrm>
          <a:prstGeom prst="rect">
            <a:avLst/>
          </a:prstGeom>
          <a:noFill/>
          <a:ln w="19050">
            <a:solidFill>
              <a:schemeClr val="tx1"/>
            </a:solidFill>
          </a:ln>
        </p:spPr>
        <p:txBody>
          <a:bodyPr wrap="square">
            <a:spAutoFit/>
          </a:bodyPr>
          <a:lstStyle/>
          <a:p>
            <a:pPr algn="ctr"/>
            <a:r>
              <a:rPr lang="en-US" sz="1600" b="1" dirty="0">
                <a:latin typeface="+mj-lt"/>
              </a:rPr>
              <a:t>Alfredo and Isabel </a:t>
            </a:r>
            <a:r>
              <a:rPr lang="en-US" sz="1600" b="1" dirty="0" err="1">
                <a:latin typeface="+mj-lt"/>
              </a:rPr>
              <a:t>Aquilizan</a:t>
            </a:r>
            <a:endParaRPr lang="en-US" sz="1600" b="1" dirty="0">
              <a:latin typeface="+mj-lt"/>
            </a:endParaRPr>
          </a:p>
          <a:p>
            <a:r>
              <a:rPr lang="en-US" sz="1600" b="1" dirty="0">
                <a:latin typeface="+mj-lt"/>
              </a:rPr>
              <a:t>Art Practice: </a:t>
            </a:r>
            <a:endParaRPr lang="en-AU" sz="1600" dirty="0">
              <a:latin typeface="+mj-lt"/>
            </a:endParaRPr>
          </a:p>
          <a:p>
            <a:endParaRPr lang="en-AU" sz="1800" b="0" i="0" u="none" strike="noStrike" baseline="0" dirty="0">
              <a:latin typeface="Arial" panose="020B0604020202020204" pitchFamily="34" charset="0"/>
            </a:endParaRPr>
          </a:p>
          <a:p>
            <a:pPr marL="285750" indent="-285750">
              <a:buFont typeface="Arial" panose="020B0604020202020204" pitchFamily="34" charset="0"/>
              <a:buChar char="•"/>
            </a:pPr>
            <a:r>
              <a:rPr lang="en-US" sz="1400" b="0" i="0" u="none" strike="noStrike" baseline="0" dirty="0">
                <a:solidFill>
                  <a:srgbClr val="000000"/>
                </a:solidFill>
                <a:latin typeface="+mj-lt"/>
              </a:rPr>
              <a:t>work often focuses on the transience of life and people’s attempts to create a sense of permanence and belonging; also themes of </a:t>
            </a:r>
            <a:r>
              <a:rPr lang="en-US" sz="1400" b="0" i="0" u="none" strike="noStrike" baseline="0" dirty="0" err="1">
                <a:solidFill>
                  <a:srgbClr val="000000"/>
                </a:solidFill>
                <a:latin typeface="+mj-lt"/>
              </a:rPr>
              <a:t>marginalisation</a:t>
            </a:r>
            <a:r>
              <a:rPr lang="en-US" sz="1400" b="0" i="0" u="none" strike="noStrike" baseline="0" dirty="0">
                <a:solidFill>
                  <a:srgbClr val="000000"/>
                </a:solidFill>
                <a:latin typeface="+mj-lt"/>
              </a:rPr>
              <a:t>, migration and displacement (diaspora) </a:t>
            </a:r>
          </a:p>
          <a:p>
            <a:pPr marL="285750" indent="-285750">
              <a:buFont typeface="Arial" panose="020B0604020202020204" pitchFamily="34" charset="0"/>
              <a:buChar char="•"/>
            </a:pPr>
            <a:r>
              <a:rPr lang="en-US" sz="1400" b="0" i="0" u="none" strike="noStrike" baseline="0" dirty="0">
                <a:solidFill>
                  <a:srgbClr val="000000"/>
                </a:solidFill>
                <a:latin typeface="+mj-lt"/>
              </a:rPr>
              <a:t>processes of collecting, massing and recycling with unwanted, discarded or redundant found objects and materials in the construction of large scale installations </a:t>
            </a:r>
          </a:p>
          <a:p>
            <a:pPr marL="285750" indent="-285750">
              <a:buFont typeface="Arial" panose="020B0604020202020204" pitchFamily="34" charset="0"/>
              <a:buChar char="•"/>
            </a:pPr>
            <a:r>
              <a:rPr lang="en-US" sz="1400" b="0" i="0" u="none" strike="noStrike" baseline="0" dirty="0">
                <a:solidFill>
                  <a:srgbClr val="000000"/>
                </a:solidFill>
                <a:latin typeface="+mj-lt"/>
              </a:rPr>
              <a:t>collation, collections, accumulation and multiplicity are key terms used in critical appraisal of their work </a:t>
            </a:r>
          </a:p>
          <a:p>
            <a:pPr marL="285750" indent="-285750">
              <a:buFont typeface="Arial" panose="020B0604020202020204" pitchFamily="34" charset="0"/>
              <a:buChar char="•"/>
            </a:pPr>
            <a:r>
              <a:rPr lang="en-US" sz="1400" b="0" i="0" u="none" strike="noStrike" baseline="0" dirty="0">
                <a:solidFill>
                  <a:srgbClr val="000000"/>
                </a:solidFill>
                <a:latin typeface="+mj-lt"/>
              </a:rPr>
              <a:t>materials communicate ideas and become signifiers of meaning </a:t>
            </a:r>
          </a:p>
          <a:p>
            <a:pPr marL="285750" indent="-285750">
              <a:buFont typeface="Arial" panose="020B0604020202020204" pitchFamily="34" charset="0"/>
              <a:buChar char="•"/>
            </a:pPr>
            <a:r>
              <a:rPr lang="en-US" sz="1400" b="0" i="0" u="none" strike="noStrike" baseline="0" dirty="0">
                <a:solidFill>
                  <a:srgbClr val="000000"/>
                </a:solidFill>
                <a:latin typeface="+mj-lt"/>
              </a:rPr>
              <a:t>often includes sound, scent, taste and touch </a:t>
            </a:r>
          </a:p>
          <a:p>
            <a:pPr marL="285750" indent="-285750">
              <a:buFont typeface="Arial" panose="020B0604020202020204" pitchFamily="34" charset="0"/>
              <a:buChar char="•"/>
            </a:pPr>
            <a:r>
              <a:rPr lang="en-US" sz="1400" b="0" i="0" u="none" strike="noStrike" baseline="0" dirty="0">
                <a:solidFill>
                  <a:srgbClr val="000000"/>
                </a:solidFill>
                <a:latin typeface="+mj-lt"/>
              </a:rPr>
              <a:t>set up ‘collective interaction’ to create installations; the work becomes a platform for exchange of ideas and meaning; the audience are active participants and contribute their own meaning </a:t>
            </a:r>
          </a:p>
          <a:p>
            <a:endParaRPr lang="en-AU" sz="1400" b="0" i="0" u="none" strike="noStrike" baseline="0" dirty="0">
              <a:solidFill>
                <a:srgbClr val="000000"/>
              </a:solidFill>
              <a:latin typeface="+mj-lt"/>
            </a:endParaRPr>
          </a:p>
        </p:txBody>
      </p:sp>
      <p:pic>
        <p:nvPicPr>
          <p:cNvPr id="7" name="Picture 6">
            <a:extLst>
              <a:ext uri="{FF2B5EF4-FFF2-40B4-BE49-F238E27FC236}">
                <a16:creationId xmlns:a16="http://schemas.microsoft.com/office/drawing/2014/main" id="{17CDC143-7798-0BF1-C0CA-71922573BD1B}"/>
              </a:ext>
            </a:extLst>
          </p:cNvPr>
          <p:cNvPicPr>
            <a:picLocks noChangeAspect="1"/>
          </p:cNvPicPr>
          <p:nvPr/>
        </p:nvPicPr>
        <p:blipFill>
          <a:blip r:embed="rId2"/>
          <a:stretch>
            <a:fillRect/>
          </a:stretch>
        </p:blipFill>
        <p:spPr>
          <a:xfrm>
            <a:off x="130628" y="0"/>
            <a:ext cx="5096586" cy="781159"/>
          </a:xfrm>
          <a:prstGeom prst="rect">
            <a:avLst/>
          </a:prstGeom>
        </p:spPr>
      </p:pic>
      <p:sp>
        <p:nvSpPr>
          <p:cNvPr id="10" name="TextBox 9">
            <a:extLst>
              <a:ext uri="{FF2B5EF4-FFF2-40B4-BE49-F238E27FC236}">
                <a16:creationId xmlns:a16="http://schemas.microsoft.com/office/drawing/2014/main" id="{6B690D07-DA14-F772-447E-5ADC079AE36D}"/>
              </a:ext>
            </a:extLst>
          </p:cNvPr>
          <p:cNvSpPr txBox="1"/>
          <p:nvPr/>
        </p:nvSpPr>
        <p:spPr>
          <a:xfrm>
            <a:off x="1212668" y="5482364"/>
            <a:ext cx="5774166" cy="1157764"/>
          </a:xfrm>
          <a:prstGeom prst="roundRect">
            <a:avLst/>
          </a:prstGeom>
          <a:solidFill>
            <a:schemeClr val="accent6">
              <a:lumMod val="60000"/>
              <a:lumOff val="40000"/>
            </a:schemeClr>
          </a:solidFill>
          <a:ln w="12700">
            <a:solidFill>
              <a:schemeClr val="tx1"/>
            </a:solidFill>
          </a:ln>
        </p:spPr>
        <p:txBody>
          <a:bodyPr wrap="square" rtlCol="0">
            <a:spAutoFit/>
          </a:bodyPr>
          <a:lstStyle/>
          <a:p>
            <a:pPr algn="ctr"/>
            <a:r>
              <a:rPr lang="en-US" b="1" dirty="0">
                <a:latin typeface="+mj-lt"/>
              </a:rPr>
              <a:t>Alternate Approach</a:t>
            </a:r>
          </a:p>
          <a:p>
            <a:pPr algn="ctr"/>
            <a:endParaRPr lang="en-US" sz="800" b="1" dirty="0">
              <a:latin typeface="+mj-lt"/>
            </a:endParaRPr>
          </a:p>
          <a:p>
            <a:pPr algn="ctr"/>
            <a:r>
              <a:rPr lang="en-AU" sz="1800" dirty="0">
                <a:effectLst/>
                <a:latin typeface="Aptos" panose="020B0004020202020204" pitchFamily="34" charset="0"/>
                <a:ea typeface="Aptos" panose="020B0004020202020204" pitchFamily="34" charset="0"/>
                <a:cs typeface="Times New Roman" panose="02020603050405020304" pitchFamily="18" charset="0"/>
              </a:rPr>
              <a:t>Invite communities to build the work, making art a collective process.</a:t>
            </a:r>
            <a:endParaRPr lang="en-US" b="1" dirty="0">
              <a:latin typeface="+mj-lt"/>
            </a:endParaRPr>
          </a:p>
        </p:txBody>
      </p:sp>
      <p:pic>
        <p:nvPicPr>
          <p:cNvPr id="4" name="Picture 3">
            <a:extLst>
              <a:ext uri="{FF2B5EF4-FFF2-40B4-BE49-F238E27FC236}">
                <a16:creationId xmlns:a16="http://schemas.microsoft.com/office/drawing/2014/main" id="{F9145855-D555-87CC-EEEB-D2208989C235}"/>
              </a:ext>
            </a:extLst>
          </p:cNvPr>
          <p:cNvPicPr>
            <a:picLocks noChangeAspect="1"/>
          </p:cNvPicPr>
          <p:nvPr/>
        </p:nvPicPr>
        <p:blipFill>
          <a:blip r:embed="rId3"/>
          <a:stretch>
            <a:fillRect/>
          </a:stretch>
        </p:blipFill>
        <p:spPr>
          <a:xfrm>
            <a:off x="5227214" y="119755"/>
            <a:ext cx="6281777" cy="541647"/>
          </a:xfrm>
          <a:prstGeom prst="rect">
            <a:avLst/>
          </a:prstGeom>
        </p:spPr>
      </p:pic>
      <p:pic>
        <p:nvPicPr>
          <p:cNvPr id="4098" name="Picture 2" descr="A city made of cardboard in an art gallery | AMES YAVUZ">
            <a:extLst>
              <a:ext uri="{FF2B5EF4-FFF2-40B4-BE49-F238E27FC236}">
                <a16:creationId xmlns:a16="http://schemas.microsoft.com/office/drawing/2014/main" id="{ECE76F07-2F1B-98A6-5C23-725F93BBE51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27214" y="869604"/>
            <a:ext cx="6543480" cy="2999095"/>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5735A317-9539-E9D8-35FA-D3FC57F118FC}"/>
              </a:ext>
            </a:extLst>
          </p:cNvPr>
          <p:cNvSpPr txBox="1"/>
          <p:nvPr/>
        </p:nvSpPr>
        <p:spPr>
          <a:xfrm>
            <a:off x="6511229" y="3275907"/>
            <a:ext cx="5503198" cy="3462338"/>
          </a:xfrm>
          <a:prstGeom prst="ellipse">
            <a:avLst/>
          </a:prstGeom>
          <a:solidFill>
            <a:schemeClr val="bg1"/>
          </a:solidFill>
          <a:ln w="9525">
            <a:solidFill>
              <a:schemeClr val="tx1"/>
            </a:solidFill>
          </a:ln>
        </p:spPr>
        <p:txBody>
          <a:bodyPr wrap="square">
            <a:spAutoFit/>
          </a:bodyPr>
          <a:lstStyle/>
          <a:p>
            <a:r>
              <a:rPr lang="en-US" sz="1400" b="1" i="1" u="none" strike="noStrike" baseline="0" dirty="0">
                <a:solidFill>
                  <a:srgbClr val="000000"/>
                </a:solidFill>
                <a:latin typeface="+mj-lt"/>
              </a:rPr>
              <a:t>Set Adrift, Project Another Country </a:t>
            </a:r>
          </a:p>
          <a:p>
            <a:r>
              <a:rPr lang="en-US" sz="1400" dirty="0">
                <a:solidFill>
                  <a:srgbClr val="000000"/>
                </a:solidFill>
                <a:latin typeface="+mj-lt"/>
              </a:rPr>
              <a:t>I</a:t>
            </a:r>
            <a:r>
              <a:rPr lang="en-US" sz="1400" b="0" i="0" u="none" strike="noStrike" baseline="0" dirty="0">
                <a:solidFill>
                  <a:srgbClr val="000000"/>
                </a:solidFill>
                <a:latin typeface="+mj-lt"/>
              </a:rPr>
              <a:t>nstallation consisting of cardboard houses and homes constructed in collaborative community workshops with the artists; constructions are installed in site-specific steel scaffolding </a:t>
            </a:r>
          </a:p>
          <a:p>
            <a:endParaRPr lang="en-US" sz="1400" dirty="0">
              <a:solidFill>
                <a:srgbClr val="000000"/>
              </a:solidFill>
              <a:latin typeface="+mj-lt"/>
            </a:endParaRPr>
          </a:p>
          <a:p>
            <a:r>
              <a:rPr lang="en-US" sz="1400" dirty="0">
                <a:solidFill>
                  <a:srgbClr val="000000"/>
                </a:solidFill>
                <a:latin typeface="+mj-lt"/>
              </a:rPr>
              <a:t>I</a:t>
            </a:r>
            <a:r>
              <a:rPr lang="en-US" sz="1400" b="0" i="0" u="none" strike="noStrike" baseline="0" dirty="0">
                <a:solidFill>
                  <a:srgbClr val="000000"/>
                </a:solidFill>
                <a:latin typeface="+mj-lt"/>
              </a:rPr>
              <a:t>nstallation is an abstracted version of homes built on stilts by the Badjao, a minority indigenous people who live in the Philippines and are considered ‘ocean refugees’ </a:t>
            </a:r>
            <a:endParaRPr lang="en-AU" sz="1800" b="0" i="0" u="none" strike="noStrike" baseline="0" dirty="0">
              <a:solidFill>
                <a:srgbClr val="000000"/>
              </a:solidFill>
              <a:latin typeface="Arial" panose="020B0604020202020204" pitchFamily="34" charset="0"/>
            </a:endParaRPr>
          </a:p>
          <a:p>
            <a:endParaRPr lang="en-US" sz="1400" b="0" i="0" u="none" strike="noStrike" baseline="0" dirty="0">
              <a:solidFill>
                <a:srgbClr val="000000"/>
              </a:solidFill>
              <a:latin typeface="+mj-lt"/>
            </a:endParaRPr>
          </a:p>
        </p:txBody>
      </p:sp>
    </p:spTree>
    <p:extLst>
      <p:ext uri="{BB962C8B-B14F-4D97-AF65-F5344CB8AC3E}">
        <p14:creationId xmlns:p14="http://schemas.microsoft.com/office/powerpoint/2010/main" val="19634878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nline Media 1" title="From Pillars to Posts: Project Another Country">
            <a:hlinkClick r:id="" action="ppaction://media"/>
            <a:extLst>
              <a:ext uri="{FF2B5EF4-FFF2-40B4-BE49-F238E27FC236}">
                <a16:creationId xmlns:a16="http://schemas.microsoft.com/office/drawing/2014/main" id="{9D010ED7-2D76-82B2-3DA9-D2C09E1B1AA1}"/>
              </a:ext>
            </a:extLst>
          </p:cNvPr>
          <p:cNvPicPr>
            <a:picLocks noRot="1" noChangeAspect="1"/>
          </p:cNvPicPr>
          <p:nvPr>
            <a:videoFile r:link="rId1"/>
          </p:nvPr>
        </p:nvPicPr>
        <p:blipFill>
          <a:blip r:embed="rId3"/>
          <a:stretch>
            <a:fillRect/>
          </a:stretch>
        </p:blipFill>
        <p:spPr>
          <a:xfrm>
            <a:off x="1818231" y="688324"/>
            <a:ext cx="8842805" cy="4996196"/>
          </a:xfrm>
          <a:prstGeom prst="rect">
            <a:avLst/>
          </a:prstGeom>
        </p:spPr>
      </p:pic>
      <p:sp>
        <p:nvSpPr>
          <p:cNvPr id="4" name="TextBox 3">
            <a:extLst>
              <a:ext uri="{FF2B5EF4-FFF2-40B4-BE49-F238E27FC236}">
                <a16:creationId xmlns:a16="http://schemas.microsoft.com/office/drawing/2014/main" id="{0A7D973E-4EAF-18CA-937E-D802FF2A58C2}"/>
              </a:ext>
            </a:extLst>
          </p:cNvPr>
          <p:cNvSpPr txBox="1"/>
          <p:nvPr/>
        </p:nvSpPr>
        <p:spPr>
          <a:xfrm>
            <a:off x="3550920" y="5850374"/>
            <a:ext cx="6096000" cy="646331"/>
          </a:xfrm>
          <a:prstGeom prst="rect">
            <a:avLst/>
          </a:prstGeom>
          <a:noFill/>
        </p:spPr>
        <p:txBody>
          <a:bodyPr wrap="square">
            <a:spAutoFit/>
          </a:bodyPr>
          <a:lstStyle/>
          <a:p>
            <a:r>
              <a:rPr lang="en-AU" dirty="0">
                <a:hlinkClick r:id="rId4"/>
              </a:rPr>
              <a:t>https://www.youtube.com/watch?v=DFu6jGPiehY</a:t>
            </a:r>
            <a:endParaRPr lang="en-AU" dirty="0"/>
          </a:p>
          <a:p>
            <a:endParaRPr lang="en-AU" dirty="0"/>
          </a:p>
        </p:txBody>
      </p:sp>
    </p:spTree>
    <p:extLst>
      <p:ext uri="{BB962C8B-B14F-4D97-AF65-F5344CB8AC3E}">
        <p14:creationId xmlns:p14="http://schemas.microsoft.com/office/powerpoint/2010/main" val="1984172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Alfredo &amp; Isabel Aquilizan's Art For Sale, Exhibitions &amp; Biography | Ocula  Artist">
            <a:extLst>
              <a:ext uri="{FF2B5EF4-FFF2-40B4-BE49-F238E27FC236}">
                <a16:creationId xmlns:a16="http://schemas.microsoft.com/office/drawing/2014/main" id="{9F659F09-BB78-B1D1-CBCF-0C115222A1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66962" y="2865120"/>
            <a:ext cx="3698246" cy="3702531"/>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Alfredo &amp; Isabel Aquilizan In-habit: project Another Country 21st Century  Museum of Contemporary Art Kanazawa Japan">
            <a:extLst>
              <a:ext uri="{FF2B5EF4-FFF2-40B4-BE49-F238E27FC236}">
                <a16:creationId xmlns:a16="http://schemas.microsoft.com/office/drawing/2014/main" id="{18DA06CA-7203-F268-619B-C4AE70A21D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66962" y="179397"/>
            <a:ext cx="3698246" cy="2457123"/>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E801F715-2DCA-5E0E-84BE-213192B161DD}"/>
              </a:ext>
            </a:extLst>
          </p:cNvPr>
          <p:cNvSpPr txBox="1"/>
          <p:nvPr/>
        </p:nvSpPr>
        <p:spPr>
          <a:xfrm>
            <a:off x="280737" y="407997"/>
            <a:ext cx="2782503" cy="6042005"/>
          </a:xfrm>
          <a:prstGeom prst="roundRect">
            <a:avLst/>
          </a:prstGeom>
          <a:solidFill>
            <a:schemeClr val="accent6">
              <a:lumMod val="50000"/>
            </a:schemeClr>
          </a:solidFill>
          <a:ln w="12700">
            <a:solidFill>
              <a:schemeClr val="tx1"/>
            </a:solidFill>
          </a:ln>
        </p:spPr>
        <p:txBody>
          <a:bodyPr wrap="square" rtlCol="0">
            <a:spAutoFit/>
          </a:bodyPr>
          <a:lstStyle/>
          <a:p>
            <a:pPr algn="ctr">
              <a:buNone/>
            </a:pPr>
            <a:r>
              <a:rPr lang="en-US" b="1" dirty="0">
                <a:solidFill>
                  <a:schemeClr val="bg1"/>
                </a:solidFill>
                <a:latin typeface="+mj-lt"/>
              </a:rPr>
              <a:t>Contexts</a:t>
            </a:r>
          </a:p>
          <a:p>
            <a:pPr algn="ctr">
              <a:buNone/>
            </a:pPr>
            <a:endParaRPr lang="en-US" dirty="0">
              <a:solidFill>
                <a:schemeClr val="bg1"/>
              </a:solidFill>
              <a:latin typeface="+mj-lt"/>
            </a:endParaRPr>
          </a:p>
          <a:p>
            <a:r>
              <a:rPr lang="en-US" sz="1400" b="1" dirty="0">
                <a:solidFill>
                  <a:schemeClr val="bg1"/>
                </a:solidFill>
                <a:latin typeface="+mj-lt"/>
              </a:rPr>
              <a:t>Formal: </a:t>
            </a:r>
            <a:r>
              <a:rPr lang="en-AU" sz="1400" dirty="0">
                <a:solidFill>
                  <a:schemeClr val="bg1"/>
                </a:solidFill>
                <a:latin typeface="+mj-lt"/>
              </a:rPr>
              <a:t> </a:t>
            </a:r>
            <a:r>
              <a:rPr lang="en-US" sz="1400" b="0" i="0" u="none" strike="noStrike" baseline="0" dirty="0">
                <a:solidFill>
                  <a:schemeClr val="bg1"/>
                </a:solidFill>
                <a:latin typeface="+mj-lt"/>
              </a:rPr>
              <a:t>uses formal arrangements and repetition to create aesthetic interest and unity in their works. </a:t>
            </a:r>
          </a:p>
          <a:p>
            <a:endParaRPr lang="en-AU" sz="1400" b="0" i="0" u="none" strike="noStrike" baseline="0" dirty="0">
              <a:solidFill>
                <a:schemeClr val="bg1"/>
              </a:solidFill>
              <a:latin typeface="+mj-lt"/>
            </a:endParaRPr>
          </a:p>
          <a:p>
            <a:r>
              <a:rPr lang="en-AU" sz="1400" b="0" i="0" u="none" strike="noStrike" baseline="0" dirty="0">
                <a:solidFill>
                  <a:schemeClr val="bg1"/>
                </a:solidFill>
                <a:latin typeface="+mj-lt"/>
              </a:rPr>
              <a:t>	</a:t>
            </a:r>
          </a:p>
          <a:p>
            <a:r>
              <a:rPr lang="en-US" sz="1400" b="1" dirty="0">
                <a:solidFill>
                  <a:schemeClr val="bg1"/>
                </a:solidFill>
                <a:latin typeface="+mj-lt"/>
              </a:rPr>
              <a:t>Contemporary: </a:t>
            </a:r>
            <a:r>
              <a:rPr lang="en-AU" sz="1400" dirty="0">
                <a:solidFill>
                  <a:schemeClr val="bg1"/>
                </a:solidFill>
                <a:latin typeface="+mj-lt"/>
              </a:rPr>
              <a:t> </a:t>
            </a:r>
            <a:r>
              <a:rPr lang="en-US" sz="1400" b="0" i="0" u="none" strike="noStrike" baseline="0" dirty="0">
                <a:solidFill>
                  <a:schemeClr val="bg1"/>
                </a:solidFill>
                <a:latin typeface="+mj-lt"/>
              </a:rPr>
              <a:t>communication of contemporary issues such as migration and displacement; active participation from audiences to construct meaning </a:t>
            </a:r>
          </a:p>
          <a:p>
            <a:endParaRPr lang="en-AU" sz="1400" b="0" i="0" u="none" strike="noStrike" baseline="0" dirty="0">
              <a:solidFill>
                <a:schemeClr val="bg1"/>
              </a:solidFill>
              <a:latin typeface="+mj-lt"/>
            </a:endParaRPr>
          </a:p>
          <a:p>
            <a:endParaRPr lang="en-US" sz="1400" dirty="0">
              <a:solidFill>
                <a:schemeClr val="bg1"/>
              </a:solidFill>
              <a:latin typeface="+mj-lt"/>
            </a:endParaRPr>
          </a:p>
          <a:p>
            <a:r>
              <a:rPr lang="en-US" sz="1400" b="1" dirty="0">
                <a:solidFill>
                  <a:schemeClr val="bg1"/>
                </a:solidFill>
                <a:latin typeface="+mj-lt"/>
              </a:rPr>
              <a:t>Cultural: </a:t>
            </a:r>
            <a:r>
              <a:rPr lang="en-AU" sz="1400" dirty="0">
                <a:solidFill>
                  <a:schemeClr val="bg1"/>
                </a:solidFill>
                <a:latin typeface="+mj-lt"/>
              </a:rPr>
              <a:t> </a:t>
            </a:r>
            <a:r>
              <a:rPr lang="en-US" sz="1400" b="0" i="0" u="none" strike="noStrike" baseline="0" dirty="0">
                <a:solidFill>
                  <a:schemeClr val="bg1"/>
                </a:solidFill>
                <a:latin typeface="+mj-lt"/>
              </a:rPr>
              <a:t>explore realties and representations that intersect between their Asian background and Australian lifestyle </a:t>
            </a:r>
          </a:p>
          <a:p>
            <a:endParaRPr lang="en-AU" sz="1400" b="0" i="0" u="none" strike="noStrike" baseline="0" dirty="0">
              <a:solidFill>
                <a:schemeClr val="bg1"/>
              </a:solidFill>
              <a:latin typeface="+mj-lt"/>
            </a:endParaRPr>
          </a:p>
          <a:p>
            <a:endParaRPr lang="en-US" sz="1400" dirty="0">
              <a:solidFill>
                <a:schemeClr val="bg1"/>
              </a:solidFill>
              <a:latin typeface="+mj-lt"/>
            </a:endParaRPr>
          </a:p>
          <a:p>
            <a:r>
              <a:rPr lang="en-US" sz="1400" b="1" dirty="0">
                <a:solidFill>
                  <a:schemeClr val="bg1"/>
                </a:solidFill>
                <a:latin typeface="+mj-lt"/>
              </a:rPr>
              <a:t>Personal: </a:t>
            </a:r>
            <a:r>
              <a:rPr lang="en-AU" sz="1400" dirty="0">
                <a:solidFill>
                  <a:schemeClr val="bg1"/>
                </a:solidFill>
                <a:latin typeface="+mj-lt"/>
              </a:rPr>
              <a:t> </a:t>
            </a:r>
            <a:r>
              <a:rPr lang="en-US" sz="1400" b="0" i="0" u="none" strike="noStrike" baseline="0" dirty="0">
                <a:solidFill>
                  <a:schemeClr val="bg1"/>
                </a:solidFill>
                <a:latin typeface="+mj-lt"/>
              </a:rPr>
              <a:t>draw upon their own experience of migrating from the Philippines to Australia and other real-life experiences </a:t>
            </a:r>
          </a:p>
        </p:txBody>
      </p:sp>
      <p:sp>
        <p:nvSpPr>
          <p:cNvPr id="3" name="TextBox 2">
            <a:extLst>
              <a:ext uri="{FF2B5EF4-FFF2-40B4-BE49-F238E27FC236}">
                <a16:creationId xmlns:a16="http://schemas.microsoft.com/office/drawing/2014/main" id="{C46BA9C9-46D3-E16E-8180-80042ECF96F1}"/>
              </a:ext>
            </a:extLst>
          </p:cNvPr>
          <p:cNvSpPr txBox="1"/>
          <p:nvPr/>
        </p:nvSpPr>
        <p:spPr>
          <a:xfrm>
            <a:off x="7768930" y="347081"/>
            <a:ext cx="3905191" cy="6217087"/>
          </a:xfrm>
          <a:prstGeom prst="rect">
            <a:avLst/>
          </a:prstGeom>
          <a:noFill/>
          <a:ln w="19050">
            <a:solidFill>
              <a:schemeClr val="tx1"/>
            </a:solidFill>
          </a:ln>
        </p:spPr>
        <p:txBody>
          <a:bodyPr wrap="square">
            <a:spAutoFit/>
          </a:bodyPr>
          <a:lstStyle/>
          <a:p>
            <a:pPr algn="ctr"/>
            <a:r>
              <a:rPr lang="en-US" b="1" dirty="0"/>
              <a:t>Q + A</a:t>
            </a:r>
          </a:p>
          <a:p>
            <a:endParaRPr lang="en-AU" dirty="0"/>
          </a:p>
          <a:p>
            <a:endParaRPr lang="en-AU" sz="1400" b="1" i="0" u="none" strike="noStrike" baseline="0" dirty="0">
              <a:latin typeface="+mj-lt"/>
            </a:endParaRPr>
          </a:p>
          <a:p>
            <a:r>
              <a:rPr lang="en-US" sz="1400" b="1" i="0" u="none" strike="noStrike" baseline="0" dirty="0">
                <a:solidFill>
                  <a:srgbClr val="000000"/>
                </a:solidFill>
                <a:latin typeface="+mj-lt"/>
              </a:rPr>
              <a:t>Why did the </a:t>
            </a:r>
            <a:r>
              <a:rPr lang="en-US" sz="1400" b="1" i="0" u="none" strike="noStrike" baseline="0" dirty="0" err="1">
                <a:solidFill>
                  <a:srgbClr val="000000"/>
                </a:solidFill>
                <a:latin typeface="+mj-lt"/>
              </a:rPr>
              <a:t>Aquilizans</a:t>
            </a:r>
            <a:r>
              <a:rPr lang="en-US" sz="1400" b="1" i="0" u="none" strike="noStrike" baseline="0" dirty="0">
                <a:solidFill>
                  <a:srgbClr val="000000"/>
                </a:solidFill>
                <a:latin typeface="+mj-lt"/>
              </a:rPr>
              <a:t> choose cardboard as the primary material </a:t>
            </a:r>
            <a:endParaRPr lang="en-AU" sz="1400" b="1" i="0" u="none" strike="noStrike" baseline="0" dirty="0">
              <a:latin typeface="+mj-lt"/>
            </a:endParaRPr>
          </a:p>
          <a:p>
            <a:r>
              <a:rPr lang="en-AU" sz="1400" b="1" i="0" u="none" strike="noStrike" baseline="0" dirty="0">
                <a:solidFill>
                  <a:srgbClr val="000000"/>
                </a:solidFill>
                <a:latin typeface="+mj-lt"/>
              </a:rPr>
              <a:t>create this artwork? </a:t>
            </a:r>
          </a:p>
          <a:p>
            <a:endParaRPr lang="en-US" sz="1400" b="1" dirty="0">
              <a:solidFill>
                <a:srgbClr val="000000"/>
              </a:solidFill>
              <a:latin typeface="+mj-lt"/>
            </a:endParaRPr>
          </a:p>
          <a:p>
            <a:endParaRPr lang="en-US" sz="1400" b="1" dirty="0">
              <a:solidFill>
                <a:srgbClr val="000000"/>
              </a:solidFill>
              <a:latin typeface="+mj-lt"/>
            </a:endParaRPr>
          </a:p>
          <a:p>
            <a:endParaRPr lang="en-US" sz="1400" b="1" dirty="0">
              <a:solidFill>
                <a:srgbClr val="000000"/>
              </a:solidFill>
              <a:latin typeface="+mj-lt"/>
            </a:endParaRPr>
          </a:p>
          <a:p>
            <a:endParaRPr lang="en-US" sz="1400" b="1" dirty="0">
              <a:solidFill>
                <a:srgbClr val="000000"/>
              </a:solidFill>
              <a:latin typeface="+mj-lt"/>
            </a:endParaRPr>
          </a:p>
          <a:p>
            <a:endParaRPr lang="en-US" sz="1400" b="1" i="0" u="none" strike="noStrike" baseline="0" dirty="0">
              <a:solidFill>
                <a:srgbClr val="000000"/>
              </a:solidFill>
              <a:latin typeface="+mj-lt"/>
            </a:endParaRPr>
          </a:p>
          <a:p>
            <a:r>
              <a:rPr lang="en-US" sz="1400" b="1" i="0" u="none" strike="noStrike" baseline="0" dirty="0">
                <a:solidFill>
                  <a:srgbClr val="000000"/>
                </a:solidFill>
                <a:latin typeface="+mj-lt"/>
              </a:rPr>
              <a:t>How do the </a:t>
            </a:r>
            <a:r>
              <a:rPr lang="en-US" sz="1400" b="1" i="0" u="none" strike="noStrike" baseline="0" dirty="0" err="1">
                <a:solidFill>
                  <a:srgbClr val="000000"/>
                </a:solidFill>
                <a:latin typeface="+mj-lt"/>
              </a:rPr>
              <a:t>Aquilizans</a:t>
            </a:r>
            <a:r>
              <a:rPr lang="en-US" sz="1400" b="1" i="0" u="none" strike="noStrike" baseline="0" dirty="0">
                <a:solidFill>
                  <a:srgbClr val="000000"/>
                </a:solidFill>
                <a:latin typeface="+mj-lt"/>
              </a:rPr>
              <a:t> rely on others to be ‘joint constructors’ of meaning in this artwork? </a:t>
            </a:r>
          </a:p>
          <a:p>
            <a:endParaRPr lang="en-US" sz="1400" b="1" dirty="0">
              <a:solidFill>
                <a:srgbClr val="000000"/>
              </a:solidFill>
              <a:latin typeface="+mj-lt"/>
            </a:endParaRPr>
          </a:p>
          <a:p>
            <a:endParaRPr lang="en-US" sz="1400" b="1" i="0" u="none" strike="noStrike" baseline="0" dirty="0">
              <a:solidFill>
                <a:srgbClr val="000000"/>
              </a:solidFill>
              <a:latin typeface="+mj-lt"/>
            </a:endParaRPr>
          </a:p>
          <a:p>
            <a:endParaRPr lang="en-US" sz="1400" b="1" dirty="0">
              <a:solidFill>
                <a:srgbClr val="000000"/>
              </a:solidFill>
              <a:latin typeface="+mj-lt"/>
            </a:endParaRPr>
          </a:p>
          <a:p>
            <a:endParaRPr lang="en-US" sz="1400" b="1" i="0" u="none" strike="noStrike" baseline="0" dirty="0">
              <a:solidFill>
                <a:srgbClr val="000000"/>
              </a:solidFill>
              <a:latin typeface="+mj-lt"/>
            </a:endParaRPr>
          </a:p>
          <a:p>
            <a:endParaRPr lang="en-US" sz="1400" b="1" dirty="0">
              <a:solidFill>
                <a:srgbClr val="000000"/>
              </a:solidFill>
              <a:latin typeface="+mj-lt"/>
            </a:endParaRPr>
          </a:p>
          <a:p>
            <a:endParaRPr lang="en-US" sz="1400" b="1" i="0" u="none" strike="noStrike" baseline="0" dirty="0">
              <a:solidFill>
                <a:srgbClr val="000000"/>
              </a:solidFill>
              <a:latin typeface="+mj-lt"/>
            </a:endParaRPr>
          </a:p>
          <a:p>
            <a:r>
              <a:rPr lang="en-US" sz="1400" b="1" i="0" u="none" strike="noStrike" baseline="0" dirty="0">
                <a:solidFill>
                  <a:srgbClr val="000000"/>
                </a:solidFill>
                <a:latin typeface="+mj-lt"/>
              </a:rPr>
              <a:t>What aesthetic qualities does the completed installation have and how important are these attributes to the success of the artwork? </a:t>
            </a:r>
          </a:p>
          <a:p>
            <a:r>
              <a:rPr lang="en-AU" sz="1800" b="0" i="0" u="none" strike="noStrike" baseline="0" dirty="0">
                <a:solidFill>
                  <a:srgbClr val="000000"/>
                </a:solidFill>
                <a:latin typeface="Arial" panose="020B0604020202020204" pitchFamily="34" charset="0"/>
              </a:rPr>
              <a:t>	</a:t>
            </a:r>
          </a:p>
          <a:p>
            <a:endParaRPr lang="en-AU" sz="1800" b="0" i="0" u="none" strike="noStrike" baseline="0" dirty="0">
              <a:solidFill>
                <a:srgbClr val="000000"/>
              </a:solidFill>
              <a:latin typeface="Arial" panose="020B0604020202020204" pitchFamily="34" charset="0"/>
            </a:endParaRPr>
          </a:p>
          <a:p>
            <a:r>
              <a:rPr lang="en-AU" dirty="0"/>
              <a:t>	</a:t>
            </a:r>
          </a:p>
          <a:p>
            <a:endParaRPr lang="en-US" sz="1400" dirty="0"/>
          </a:p>
          <a:p>
            <a:endParaRPr lang="en-US" sz="1400" dirty="0"/>
          </a:p>
        </p:txBody>
      </p:sp>
    </p:spTree>
    <p:extLst>
      <p:ext uri="{BB962C8B-B14F-4D97-AF65-F5344CB8AC3E}">
        <p14:creationId xmlns:p14="http://schemas.microsoft.com/office/powerpoint/2010/main" val="23223554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6D06A-6809-CB1E-F45B-B5E68B276AEB}"/>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9BFC33B0-13B2-7B0D-037F-329BD0C17E88}"/>
              </a:ext>
            </a:extLst>
          </p:cNvPr>
          <p:cNvSpPr txBox="1"/>
          <p:nvPr/>
        </p:nvSpPr>
        <p:spPr>
          <a:xfrm>
            <a:off x="356650" y="1176747"/>
            <a:ext cx="3901441" cy="3631763"/>
          </a:xfrm>
          <a:prstGeom prst="rect">
            <a:avLst/>
          </a:prstGeom>
          <a:noFill/>
          <a:ln w="19050">
            <a:solidFill>
              <a:schemeClr val="tx1"/>
            </a:solidFill>
          </a:ln>
        </p:spPr>
        <p:txBody>
          <a:bodyPr wrap="square">
            <a:spAutoFit/>
          </a:bodyPr>
          <a:lstStyle/>
          <a:p>
            <a:pPr algn="ctr"/>
            <a:r>
              <a:rPr lang="en-US" sz="1600" b="1" dirty="0">
                <a:latin typeface="+mj-lt"/>
              </a:rPr>
              <a:t>Candice </a:t>
            </a:r>
            <a:r>
              <a:rPr lang="en-US" sz="1600" b="1" dirty="0" err="1">
                <a:latin typeface="+mj-lt"/>
              </a:rPr>
              <a:t>Breitz</a:t>
            </a:r>
            <a:endParaRPr lang="en-US" sz="1600" b="1" dirty="0">
              <a:latin typeface="+mj-lt"/>
            </a:endParaRPr>
          </a:p>
          <a:p>
            <a:endParaRPr lang="en-US" sz="1600" b="1" dirty="0">
              <a:latin typeface="+mj-lt"/>
            </a:endParaRPr>
          </a:p>
          <a:p>
            <a:r>
              <a:rPr lang="en-US" sz="1600" b="1" dirty="0">
                <a:latin typeface="+mj-lt"/>
              </a:rPr>
              <a:t>Art Practice: </a:t>
            </a:r>
            <a:endParaRPr lang="en-AU" sz="1800" b="0" i="0" u="none" strike="noStrike" baseline="0" dirty="0">
              <a:latin typeface="Arial" panose="020B0604020202020204" pitchFamily="34" charset="0"/>
            </a:endParaRPr>
          </a:p>
          <a:p>
            <a:endParaRPr lang="en-AU" sz="1400" b="0" i="0" u="none" strike="noStrike" baseline="0" dirty="0">
              <a:latin typeface="+mj-lt"/>
            </a:endParaRPr>
          </a:p>
          <a:p>
            <a:pPr marL="285750" indent="-285750">
              <a:buFont typeface="Arial" panose="020B0604020202020204" pitchFamily="34" charset="0"/>
              <a:buChar char="•"/>
            </a:pPr>
            <a:r>
              <a:rPr lang="en-US" sz="1400" b="0" i="0" u="none" strike="noStrike" baseline="0" dirty="0" err="1">
                <a:solidFill>
                  <a:srgbClr val="000000"/>
                </a:solidFill>
                <a:latin typeface="+mj-lt"/>
              </a:rPr>
              <a:t>Breitz</a:t>
            </a:r>
            <a:r>
              <a:rPr lang="en-US" sz="1400" b="0" i="0" u="none" strike="noStrike" baseline="0" dirty="0">
                <a:solidFill>
                  <a:srgbClr val="000000"/>
                </a:solidFill>
                <a:latin typeface="+mj-lt"/>
              </a:rPr>
              <a:t> primarily works in video and photography and often refers to and appropriates images from popular culture </a:t>
            </a:r>
          </a:p>
          <a:p>
            <a:endParaRPr lang="en-US" sz="1400" b="0" i="0" u="none" strike="noStrike" baseline="0" dirty="0">
              <a:solidFill>
                <a:srgbClr val="000000"/>
              </a:solidFill>
              <a:latin typeface="+mj-lt"/>
            </a:endParaRPr>
          </a:p>
          <a:p>
            <a:pPr marL="285750" indent="-285750">
              <a:buFont typeface="Arial" panose="020B0604020202020204" pitchFamily="34" charset="0"/>
              <a:buChar char="•"/>
            </a:pPr>
            <a:r>
              <a:rPr lang="en-US" sz="1400" b="0" i="0" u="none" strike="noStrike" baseline="0" dirty="0">
                <a:solidFill>
                  <a:srgbClr val="000000"/>
                </a:solidFill>
                <a:latin typeface="+mj-lt"/>
              </a:rPr>
              <a:t>her work questions the influences and impact of media, celebrity and language on the individual’s sense of self</a:t>
            </a:r>
          </a:p>
          <a:p>
            <a:r>
              <a:rPr lang="en-US" sz="1400" b="0" i="0" u="none" strike="noStrike" baseline="0" dirty="0">
                <a:solidFill>
                  <a:srgbClr val="000000"/>
                </a:solidFill>
                <a:latin typeface="+mj-lt"/>
              </a:rPr>
              <a:t> </a:t>
            </a:r>
          </a:p>
          <a:p>
            <a:pPr marL="285750" indent="-285750">
              <a:buFont typeface="Arial" panose="020B0604020202020204" pitchFamily="34" charset="0"/>
              <a:buChar char="•"/>
            </a:pPr>
            <a:r>
              <a:rPr lang="en-US" sz="1400" b="0" i="0" u="none" strike="noStrike" baseline="0" dirty="0">
                <a:solidFill>
                  <a:srgbClr val="000000"/>
                </a:solidFill>
                <a:latin typeface="+mj-lt"/>
              </a:rPr>
              <a:t>she collaborates with ordinary people and found footage, which she cuts, selects and remixes to form new relationships </a:t>
            </a:r>
            <a:endParaRPr lang="en-AU" sz="1800" b="0" i="0" u="none" strike="noStrike" baseline="0" dirty="0">
              <a:solidFill>
                <a:srgbClr val="000000"/>
              </a:solidFill>
              <a:latin typeface="Arial" panose="020B0604020202020204" pitchFamily="34" charset="0"/>
            </a:endParaRPr>
          </a:p>
          <a:p>
            <a:endParaRPr lang="en-AU" sz="1400" b="0" i="0" u="none" strike="noStrike" baseline="0" dirty="0">
              <a:solidFill>
                <a:srgbClr val="000000"/>
              </a:solidFill>
              <a:latin typeface="+mj-lt"/>
            </a:endParaRPr>
          </a:p>
        </p:txBody>
      </p:sp>
      <p:pic>
        <p:nvPicPr>
          <p:cNvPr id="7" name="Picture 6">
            <a:extLst>
              <a:ext uri="{FF2B5EF4-FFF2-40B4-BE49-F238E27FC236}">
                <a16:creationId xmlns:a16="http://schemas.microsoft.com/office/drawing/2014/main" id="{8E4F0B5A-D8F0-A408-87FB-74664C927777}"/>
              </a:ext>
            </a:extLst>
          </p:cNvPr>
          <p:cNvPicPr>
            <a:picLocks noChangeAspect="1"/>
          </p:cNvPicPr>
          <p:nvPr/>
        </p:nvPicPr>
        <p:blipFill>
          <a:blip r:embed="rId2"/>
          <a:stretch>
            <a:fillRect/>
          </a:stretch>
        </p:blipFill>
        <p:spPr>
          <a:xfrm>
            <a:off x="130628" y="0"/>
            <a:ext cx="5096586" cy="781159"/>
          </a:xfrm>
          <a:prstGeom prst="rect">
            <a:avLst/>
          </a:prstGeom>
        </p:spPr>
      </p:pic>
      <p:sp>
        <p:nvSpPr>
          <p:cNvPr id="10" name="TextBox 9">
            <a:extLst>
              <a:ext uri="{FF2B5EF4-FFF2-40B4-BE49-F238E27FC236}">
                <a16:creationId xmlns:a16="http://schemas.microsoft.com/office/drawing/2014/main" id="{9D5AAF89-E82C-C944-4C45-559744B13E75}"/>
              </a:ext>
            </a:extLst>
          </p:cNvPr>
          <p:cNvSpPr txBox="1"/>
          <p:nvPr/>
        </p:nvSpPr>
        <p:spPr>
          <a:xfrm>
            <a:off x="391643" y="5232731"/>
            <a:ext cx="3901440" cy="1157764"/>
          </a:xfrm>
          <a:prstGeom prst="roundRect">
            <a:avLst/>
          </a:prstGeom>
          <a:solidFill>
            <a:schemeClr val="accent6">
              <a:lumMod val="60000"/>
              <a:lumOff val="40000"/>
            </a:schemeClr>
          </a:solidFill>
          <a:ln w="12700">
            <a:solidFill>
              <a:schemeClr val="tx1"/>
            </a:solidFill>
          </a:ln>
        </p:spPr>
        <p:txBody>
          <a:bodyPr wrap="square" rtlCol="0">
            <a:spAutoFit/>
          </a:bodyPr>
          <a:lstStyle/>
          <a:p>
            <a:pPr algn="ctr"/>
            <a:r>
              <a:rPr lang="en-US" b="1" dirty="0">
                <a:latin typeface="+mj-lt"/>
              </a:rPr>
              <a:t>Alternate Approach</a:t>
            </a:r>
          </a:p>
          <a:p>
            <a:pPr algn="ctr"/>
            <a:endParaRPr lang="en-US" sz="800" b="1" dirty="0">
              <a:latin typeface="+mj-lt"/>
            </a:endParaRPr>
          </a:p>
          <a:p>
            <a:pPr algn="ctr"/>
            <a:r>
              <a:rPr lang="en-AU" sz="1800" kern="100" dirty="0">
                <a:effectLst/>
                <a:latin typeface="Aptos" panose="020B0004020202020204" pitchFamily="34" charset="0"/>
                <a:ea typeface="Aptos" panose="020B0004020202020204" pitchFamily="34" charset="0"/>
                <a:cs typeface="Times New Roman" panose="02020603050405020304" pitchFamily="18" charset="0"/>
              </a:rPr>
              <a:t>Merges intimate testimony with mass media to explore identity.</a:t>
            </a:r>
          </a:p>
        </p:txBody>
      </p:sp>
      <p:sp>
        <p:nvSpPr>
          <p:cNvPr id="9" name="TextBox 8">
            <a:extLst>
              <a:ext uri="{FF2B5EF4-FFF2-40B4-BE49-F238E27FC236}">
                <a16:creationId xmlns:a16="http://schemas.microsoft.com/office/drawing/2014/main" id="{2E8CF64B-D292-A23C-DD7C-45043F5FDD0B}"/>
              </a:ext>
            </a:extLst>
          </p:cNvPr>
          <p:cNvSpPr txBox="1"/>
          <p:nvPr/>
        </p:nvSpPr>
        <p:spPr>
          <a:xfrm>
            <a:off x="4724400" y="3219176"/>
            <a:ext cx="7248193" cy="3539430"/>
          </a:xfrm>
          <a:prstGeom prst="rect">
            <a:avLst/>
          </a:prstGeom>
          <a:solidFill>
            <a:schemeClr val="bg1"/>
          </a:solidFill>
          <a:ln w="9525">
            <a:solidFill>
              <a:schemeClr val="tx1"/>
            </a:solidFill>
          </a:ln>
        </p:spPr>
        <p:txBody>
          <a:bodyPr wrap="square">
            <a:spAutoFit/>
          </a:bodyPr>
          <a:lstStyle/>
          <a:p>
            <a:r>
              <a:rPr lang="en-US" sz="1400" b="1" i="1" u="none" strike="noStrike" baseline="0" dirty="0">
                <a:solidFill>
                  <a:srgbClr val="000000"/>
                </a:solidFill>
                <a:latin typeface="+mj-lt"/>
              </a:rPr>
              <a:t>King (A Portrait of Michael Jackson), 2005 </a:t>
            </a:r>
          </a:p>
          <a:p>
            <a:endParaRPr lang="en-AU" sz="1400" b="1" i="1" u="none" strike="noStrike" baseline="0" dirty="0">
              <a:latin typeface="+mj-lt"/>
            </a:endParaRPr>
          </a:p>
          <a:p>
            <a:r>
              <a:rPr lang="en-US" sz="1400" b="0" i="0" u="none" strike="noStrike" baseline="0" dirty="0">
                <a:solidFill>
                  <a:srgbClr val="000000"/>
                </a:solidFill>
                <a:latin typeface="+mj-lt"/>
              </a:rPr>
              <a:t>16-channel video work. </a:t>
            </a:r>
            <a:r>
              <a:rPr lang="en-US" sz="1400" b="0" i="0" u="none" strike="noStrike" baseline="0" dirty="0" err="1">
                <a:solidFill>
                  <a:srgbClr val="000000"/>
                </a:solidFill>
                <a:latin typeface="+mj-lt"/>
              </a:rPr>
              <a:t>Breitz</a:t>
            </a:r>
            <a:r>
              <a:rPr lang="en-US" sz="1400" b="0" i="0" u="none" strike="noStrike" baseline="0" dirty="0">
                <a:solidFill>
                  <a:srgbClr val="000000"/>
                </a:solidFill>
                <a:latin typeface="+mj-lt"/>
              </a:rPr>
              <a:t> recruited participants via advertisements she placed on Michael Jackson fan sites. She selected 16 of the most authentic and fanatical fans and recorded each of them performing the entire </a:t>
            </a:r>
            <a:r>
              <a:rPr lang="en-US" sz="1400" b="0" i="1" u="none" strike="noStrike" baseline="0" dirty="0">
                <a:solidFill>
                  <a:srgbClr val="000000"/>
                </a:solidFill>
                <a:latin typeface="+mj-lt"/>
              </a:rPr>
              <a:t>Thriller </a:t>
            </a:r>
            <a:r>
              <a:rPr lang="en-US" sz="1400" b="0" i="0" u="none" strike="noStrike" baseline="0" dirty="0">
                <a:solidFill>
                  <a:srgbClr val="000000"/>
                </a:solidFill>
                <a:latin typeface="+mj-lt"/>
              </a:rPr>
              <a:t>album. Footage of them performing a cappella is presented in unison in screen-test mode across 16 screens in the gallery. The performance is both captivating and awkward </a:t>
            </a:r>
          </a:p>
          <a:p>
            <a:r>
              <a:rPr lang="en-US" sz="1400" dirty="0">
                <a:solidFill>
                  <a:srgbClr val="000000"/>
                </a:solidFill>
                <a:latin typeface="+mj-lt"/>
              </a:rPr>
              <a:t>T</a:t>
            </a:r>
            <a:r>
              <a:rPr lang="en-US" sz="1400" b="0" i="0" u="none" strike="noStrike" baseline="0" dirty="0">
                <a:solidFill>
                  <a:srgbClr val="000000"/>
                </a:solidFill>
                <a:latin typeface="+mj-lt"/>
              </a:rPr>
              <a:t>he work explores the relationship between iconic stars such as Michael Jackson and communities of fans </a:t>
            </a:r>
          </a:p>
          <a:p>
            <a:endParaRPr lang="en-US" sz="1400" dirty="0">
              <a:solidFill>
                <a:srgbClr val="000000"/>
              </a:solidFill>
              <a:latin typeface="+mj-lt"/>
            </a:endParaRPr>
          </a:p>
          <a:p>
            <a:r>
              <a:rPr lang="en-US" sz="1400" dirty="0">
                <a:solidFill>
                  <a:srgbClr val="000000"/>
                </a:solidFill>
                <a:latin typeface="+mj-lt"/>
              </a:rPr>
              <a:t>I</a:t>
            </a:r>
            <a:r>
              <a:rPr lang="en-US" sz="1400" b="0" i="0" u="none" strike="noStrike" baseline="0" dirty="0">
                <a:solidFill>
                  <a:srgbClr val="000000"/>
                </a:solidFill>
                <a:latin typeface="+mj-lt"/>
              </a:rPr>
              <a:t>dentity of the star and the fan become blurred, turning the fans’ passive consumption into active production </a:t>
            </a:r>
          </a:p>
          <a:p>
            <a:endParaRPr lang="en-US" sz="1400" dirty="0">
              <a:solidFill>
                <a:srgbClr val="000000"/>
              </a:solidFill>
              <a:latin typeface="+mj-lt"/>
            </a:endParaRPr>
          </a:p>
          <a:p>
            <a:r>
              <a:rPr lang="en-US" sz="1400" dirty="0">
                <a:solidFill>
                  <a:srgbClr val="000000"/>
                </a:solidFill>
                <a:latin typeface="+mj-lt"/>
              </a:rPr>
              <a:t>F</a:t>
            </a:r>
            <a:r>
              <a:rPr lang="en-US" sz="1400" b="0" i="0" u="none" strike="noStrike" baseline="0" dirty="0">
                <a:solidFill>
                  <a:srgbClr val="000000"/>
                </a:solidFill>
                <a:latin typeface="+mj-lt"/>
              </a:rPr>
              <a:t>ans appropriate Michael Jackson to create their own interpretation; Candice </a:t>
            </a:r>
            <a:r>
              <a:rPr lang="en-US" sz="1400" b="0" i="0" u="none" strike="noStrike" baseline="0" dirty="0" err="1">
                <a:solidFill>
                  <a:srgbClr val="000000"/>
                </a:solidFill>
                <a:latin typeface="+mj-lt"/>
              </a:rPr>
              <a:t>Breitz</a:t>
            </a:r>
            <a:r>
              <a:rPr lang="en-US" sz="1400" b="0" i="0" u="none" strike="noStrike" baseline="0" dirty="0">
                <a:solidFill>
                  <a:srgbClr val="000000"/>
                </a:solidFill>
                <a:latin typeface="+mj-lt"/>
              </a:rPr>
              <a:t> appropriates and curates the performances of the participants to create her own work of art — a double game of appropriation </a:t>
            </a:r>
            <a:endParaRPr lang="en-AU" sz="1400" b="0" i="0" u="none" strike="noStrike" baseline="0" dirty="0">
              <a:solidFill>
                <a:srgbClr val="000000"/>
              </a:solidFill>
              <a:latin typeface="+mj-lt"/>
            </a:endParaRPr>
          </a:p>
        </p:txBody>
      </p:sp>
      <p:pic>
        <p:nvPicPr>
          <p:cNvPr id="3" name="Picture 2">
            <a:extLst>
              <a:ext uri="{FF2B5EF4-FFF2-40B4-BE49-F238E27FC236}">
                <a16:creationId xmlns:a16="http://schemas.microsoft.com/office/drawing/2014/main" id="{6DB6CFB6-21B4-2155-C3ED-9C8378903128}"/>
              </a:ext>
            </a:extLst>
          </p:cNvPr>
          <p:cNvPicPr>
            <a:picLocks noChangeAspect="1"/>
          </p:cNvPicPr>
          <p:nvPr/>
        </p:nvPicPr>
        <p:blipFill>
          <a:blip r:embed="rId3"/>
          <a:stretch>
            <a:fillRect/>
          </a:stretch>
        </p:blipFill>
        <p:spPr>
          <a:xfrm>
            <a:off x="5345109" y="107498"/>
            <a:ext cx="4256092" cy="703486"/>
          </a:xfrm>
          <a:prstGeom prst="rect">
            <a:avLst/>
          </a:prstGeom>
        </p:spPr>
      </p:pic>
      <p:pic>
        <p:nvPicPr>
          <p:cNvPr id="6146" name="Picture 2" descr="Artwork King (a portrait of Michael Jackson) this artwork made of 16-channel video installation: 42:20 minutes, colour, sound, created in 2005-01-01">
            <a:extLst>
              <a:ext uri="{FF2B5EF4-FFF2-40B4-BE49-F238E27FC236}">
                <a16:creationId xmlns:a16="http://schemas.microsoft.com/office/drawing/2014/main" id="{8A52A93B-0A08-AEB9-8F4A-9506C3A4DFF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31112" b="22444"/>
          <a:stretch/>
        </p:blipFill>
        <p:spPr bwMode="auto">
          <a:xfrm>
            <a:off x="4724400" y="869604"/>
            <a:ext cx="7110950" cy="21936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66812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315A6F7-4F8A-9DA7-C9FF-5DDC481C4726}"/>
              </a:ext>
            </a:extLst>
          </p:cNvPr>
          <p:cNvSpPr txBox="1"/>
          <p:nvPr/>
        </p:nvSpPr>
        <p:spPr>
          <a:xfrm>
            <a:off x="356937" y="266938"/>
            <a:ext cx="3163503" cy="6324124"/>
          </a:xfrm>
          <a:prstGeom prst="roundRect">
            <a:avLst/>
          </a:prstGeom>
          <a:solidFill>
            <a:schemeClr val="accent6">
              <a:lumMod val="50000"/>
            </a:schemeClr>
          </a:solidFill>
          <a:ln w="12700">
            <a:solidFill>
              <a:schemeClr val="tx1"/>
            </a:solidFill>
          </a:ln>
        </p:spPr>
        <p:txBody>
          <a:bodyPr wrap="square" rtlCol="0">
            <a:spAutoFit/>
          </a:bodyPr>
          <a:lstStyle/>
          <a:p>
            <a:pPr algn="ctr">
              <a:buNone/>
            </a:pPr>
            <a:r>
              <a:rPr lang="en-US" b="1" dirty="0">
                <a:solidFill>
                  <a:schemeClr val="bg1"/>
                </a:solidFill>
                <a:latin typeface="+mj-lt"/>
              </a:rPr>
              <a:t>Contexts</a:t>
            </a:r>
          </a:p>
          <a:p>
            <a:pPr algn="ctr">
              <a:buNone/>
            </a:pPr>
            <a:endParaRPr lang="en-US" sz="1400" dirty="0">
              <a:solidFill>
                <a:schemeClr val="bg1"/>
              </a:solidFill>
              <a:latin typeface="+mj-lt"/>
            </a:endParaRPr>
          </a:p>
          <a:p>
            <a:r>
              <a:rPr lang="en-US" sz="1400" b="1" dirty="0">
                <a:solidFill>
                  <a:schemeClr val="bg1"/>
                </a:solidFill>
                <a:latin typeface="+mj-lt"/>
              </a:rPr>
              <a:t>Formal: </a:t>
            </a:r>
            <a:endParaRPr lang="en-AU" sz="1400" b="0" i="0" u="none" strike="noStrike" baseline="0" dirty="0">
              <a:solidFill>
                <a:schemeClr val="bg1"/>
              </a:solidFill>
              <a:latin typeface="+mj-lt"/>
            </a:endParaRPr>
          </a:p>
          <a:p>
            <a:r>
              <a:rPr lang="en-US" sz="1400" b="0" i="0" u="none" strike="noStrike" baseline="0" dirty="0">
                <a:solidFill>
                  <a:schemeClr val="bg1"/>
                </a:solidFill>
                <a:latin typeface="+mj-lt"/>
              </a:rPr>
              <a:t>communicates meaning through the </a:t>
            </a:r>
            <a:r>
              <a:rPr lang="en-US" sz="1400" b="0" i="0" u="none" strike="noStrike" baseline="0" dirty="0" err="1">
                <a:solidFill>
                  <a:schemeClr val="bg1"/>
                </a:solidFill>
                <a:latin typeface="+mj-lt"/>
              </a:rPr>
              <a:t>skilful</a:t>
            </a:r>
            <a:r>
              <a:rPr lang="en-US" sz="1400" b="0" i="0" u="none" strike="noStrike" baseline="0" dirty="0">
                <a:solidFill>
                  <a:schemeClr val="bg1"/>
                </a:solidFill>
                <a:latin typeface="+mj-lt"/>
              </a:rPr>
              <a:t> use of time-based media and careful control of elements of film language such as editing and sound design. </a:t>
            </a:r>
          </a:p>
          <a:p>
            <a:endParaRPr lang="en-AU" sz="1400" b="0" i="0" u="none" strike="noStrike" baseline="0" dirty="0">
              <a:solidFill>
                <a:schemeClr val="bg1"/>
              </a:solidFill>
              <a:latin typeface="+mj-lt"/>
            </a:endParaRPr>
          </a:p>
          <a:p>
            <a:r>
              <a:rPr lang="en-AU" sz="1400" b="0" i="0" u="none" strike="noStrike" baseline="0" dirty="0">
                <a:solidFill>
                  <a:schemeClr val="bg1"/>
                </a:solidFill>
                <a:latin typeface="+mj-lt"/>
              </a:rPr>
              <a:t>	</a:t>
            </a:r>
          </a:p>
          <a:p>
            <a:r>
              <a:rPr lang="en-US" sz="1400" b="1" dirty="0">
                <a:solidFill>
                  <a:schemeClr val="bg1"/>
                </a:solidFill>
                <a:latin typeface="+mj-lt"/>
              </a:rPr>
              <a:t>Contemporary: </a:t>
            </a:r>
            <a:endParaRPr lang="en-AU" sz="1400" b="0" i="0" u="none" strike="noStrike" baseline="0" dirty="0">
              <a:solidFill>
                <a:schemeClr val="bg1"/>
              </a:solidFill>
              <a:latin typeface="+mj-lt"/>
            </a:endParaRPr>
          </a:p>
          <a:p>
            <a:r>
              <a:rPr lang="en-US" sz="1400" b="0" i="0" u="none" strike="noStrike" baseline="0" dirty="0">
                <a:solidFill>
                  <a:schemeClr val="bg1"/>
                </a:solidFill>
                <a:latin typeface="+mj-lt"/>
              </a:rPr>
              <a:t>use of found media and HD digital film to comment on contemporary popular culture </a:t>
            </a:r>
          </a:p>
          <a:p>
            <a:endParaRPr lang="en-AU" sz="1400" b="0" i="0" u="none" strike="noStrike" baseline="0" dirty="0">
              <a:solidFill>
                <a:schemeClr val="bg1"/>
              </a:solidFill>
              <a:latin typeface="+mj-lt"/>
            </a:endParaRPr>
          </a:p>
          <a:p>
            <a:endParaRPr lang="en-US" sz="1400" dirty="0">
              <a:solidFill>
                <a:schemeClr val="bg1"/>
              </a:solidFill>
              <a:latin typeface="+mj-lt"/>
            </a:endParaRPr>
          </a:p>
          <a:p>
            <a:r>
              <a:rPr lang="en-US" sz="1400" b="1" dirty="0">
                <a:solidFill>
                  <a:schemeClr val="bg1"/>
                </a:solidFill>
                <a:latin typeface="+mj-lt"/>
              </a:rPr>
              <a:t>Cultural: </a:t>
            </a:r>
            <a:endParaRPr lang="en-AU" sz="1400" b="0" i="0" u="none" strike="noStrike" baseline="0" dirty="0">
              <a:solidFill>
                <a:schemeClr val="bg1"/>
              </a:solidFill>
              <a:latin typeface="+mj-lt"/>
            </a:endParaRPr>
          </a:p>
          <a:p>
            <a:r>
              <a:rPr lang="en-US" sz="1400" b="0" i="0" u="none" strike="noStrike" baseline="0" dirty="0">
                <a:solidFill>
                  <a:schemeClr val="bg1"/>
                </a:solidFill>
                <a:latin typeface="+mj-lt"/>
              </a:rPr>
              <a:t>works are constructions of specific moments in pop culture that reflect society; appropriates time and place </a:t>
            </a:r>
            <a:endParaRPr lang="en-AU" sz="1400" b="0" i="0" u="none" strike="noStrike" baseline="0" dirty="0">
              <a:solidFill>
                <a:schemeClr val="bg1"/>
              </a:solidFill>
              <a:latin typeface="+mj-lt"/>
            </a:endParaRPr>
          </a:p>
          <a:p>
            <a:endParaRPr lang="en-US" sz="1400" dirty="0">
              <a:solidFill>
                <a:schemeClr val="bg1"/>
              </a:solidFill>
              <a:latin typeface="+mj-lt"/>
            </a:endParaRPr>
          </a:p>
          <a:p>
            <a:r>
              <a:rPr lang="en-US" sz="1400" b="1" dirty="0">
                <a:solidFill>
                  <a:schemeClr val="bg1"/>
                </a:solidFill>
                <a:latin typeface="+mj-lt"/>
              </a:rPr>
              <a:t>Personal: </a:t>
            </a:r>
            <a:endParaRPr lang="en-AU" sz="1400" b="0" i="0" u="none" strike="noStrike" baseline="0" dirty="0">
              <a:solidFill>
                <a:schemeClr val="bg1"/>
              </a:solidFill>
              <a:latin typeface="+mj-lt"/>
            </a:endParaRPr>
          </a:p>
          <a:p>
            <a:r>
              <a:rPr lang="en-US" sz="1400" b="0" i="0" u="none" strike="noStrike" baseline="0" dirty="0">
                <a:solidFill>
                  <a:schemeClr val="bg1"/>
                </a:solidFill>
                <a:latin typeface="+mj-lt"/>
              </a:rPr>
              <a:t>uses images that can be interpreted as personal metaphors for how we live our lives in a media-saturated environment </a:t>
            </a:r>
          </a:p>
          <a:p>
            <a:endParaRPr lang="en-AU" sz="1800" b="0" i="0" u="none" strike="noStrike" baseline="0" dirty="0">
              <a:solidFill>
                <a:srgbClr val="000000"/>
              </a:solidFill>
              <a:latin typeface="Arial" panose="020B0604020202020204" pitchFamily="34" charset="0"/>
            </a:endParaRPr>
          </a:p>
        </p:txBody>
      </p:sp>
      <p:pic>
        <p:nvPicPr>
          <p:cNvPr id="7170" name="Picture 2" descr="King (A Portrait of Michael Jackson) - Walther Collection">
            <a:extLst>
              <a:ext uri="{FF2B5EF4-FFF2-40B4-BE49-F238E27FC236}">
                <a16:creationId xmlns:a16="http://schemas.microsoft.com/office/drawing/2014/main" id="{B763B883-A4C5-C96A-ACAA-B92CAD9CD7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56194" y="960120"/>
            <a:ext cx="3800549" cy="1691639"/>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Candice Breitz : King (A portrait of Michael Jackson) (200… | Flickr">
            <a:extLst>
              <a:ext uri="{FF2B5EF4-FFF2-40B4-BE49-F238E27FC236}">
                <a16:creationId xmlns:a16="http://schemas.microsoft.com/office/drawing/2014/main" id="{689EF0E8-A266-CDB6-251A-01ECE905D8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95234" y="2973704"/>
            <a:ext cx="3898901" cy="292417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B86997E7-DF62-5D84-BF15-96F174A17CED}"/>
              </a:ext>
            </a:extLst>
          </p:cNvPr>
          <p:cNvSpPr txBox="1"/>
          <p:nvPr/>
        </p:nvSpPr>
        <p:spPr>
          <a:xfrm>
            <a:off x="7929872" y="720566"/>
            <a:ext cx="3905191" cy="5416868"/>
          </a:xfrm>
          <a:prstGeom prst="rect">
            <a:avLst/>
          </a:prstGeom>
          <a:noFill/>
          <a:ln w="19050">
            <a:solidFill>
              <a:schemeClr val="tx1"/>
            </a:solidFill>
          </a:ln>
        </p:spPr>
        <p:txBody>
          <a:bodyPr wrap="square">
            <a:spAutoFit/>
          </a:bodyPr>
          <a:lstStyle/>
          <a:p>
            <a:pPr algn="ctr"/>
            <a:r>
              <a:rPr lang="en-US" b="1" dirty="0"/>
              <a:t>Q + A</a:t>
            </a:r>
          </a:p>
          <a:p>
            <a:endParaRPr lang="en-AU" dirty="0"/>
          </a:p>
          <a:p>
            <a:r>
              <a:rPr lang="en-US" sz="1600" b="1" i="0" u="none" strike="noStrike" baseline="0" dirty="0">
                <a:solidFill>
                  <a:srgbClr val="000000"/>
                </a:solidFill>
                <a:latin typeface="+mj-lt"/>
              </a:rPr>
              <a:t>What parameters and controls did </a:t>
            </a:r>
            <a:r>
              <a:rPr lang="en-US" sz="1600" b="1" i="0" u="none" strike="noStrike" baseline="0" dirty="0" err="1">
                <a:solidFill>
                  <a:srgbClr val="000000"/>
                </a:solidFill>
                <a:latin typeface="+mj-lt"/>
              </a:rPr>
              <a:t>Breitz</a:t>
            </a:r>
            <a:r>
              <a:rPr lang="en-US" sz="1600" b="1" i="0" u="none" strike="noStrike" baseline="0" dirty="0">
                <a:solidFill>
                  <a:srgbClr val="000000"/>
                </a:solidFill>
                <a:latin typeface="+mj-lt"/>
              </a:rPr>
              <a:t> as the artist set up in order to obtain the collaborative response she determined necessary for this portrait? </a:t>
            </a:r>
          </a:p>
          <a:p>
            <a:endParaRPr lang="en-US" sz="1600" b="1" dirty="0">
              <a:solidFill>
                <a:srgbClr val="000000"/>
              </a:solidFill>
              <a:latin typeface="+mj-lt"/>
            </a:endParaRPr>
          </a:p>
          <a:p>
            <a:endParaRPr lang="en-US" sz="1600" b="1" dirty="0">
              <a:solidFill>
                <a:srgbClr val="000000"/>
              </a:solidFill>
              <a:latin typeface="+mj-lt"/>
            </a:endParaRPr>
          </a:p>
          <a:p>
            <a:endParaRPr lang="en-US" sz="1600" b="1" i="0" u="none" strike="noStrike" baseline="0" dirty="0">
              <a:solidFill>
                <a:srgbClr val="000000"/>
              </a:solidFill>
              <a:latin typeface="+mj-lt"/>
            </a:endParaRPr>
          </a:p>
          <a:p>
            <a:endParaRPr lang="en-US" sz="1600" b="1" dirty="0">
              <a:solidFill>
                <a:srgbClr val="000000"/>
              </a:solidFill>
              <a:latin typeface="+mj-lt"/>
            </a:endParaRPr>
          </a:p>
          <a:p>
            <a:endParaRPr lang="en-US" sz="1600" b="1" i="0" u="none" strike="noStrike" baseline="0" dirty="0">
              <a:solidFill>
                <a:srgbClr val="000000"/>
              </a:solidFill>
              <a:latin typeface="+mj-lt"/>
            </a:endParaRPr>
          </a:p>
          <a:p>
            <a:r>
              <a:rPr lang="en-US" sz="1600" b="1" i="0" u="none" strike="noStrike" baseline="0" dirty="0">
                <a:solidFill>
                  <a:srgbClr val="000000"/>
                </a:solidFill>
                <a:latin typeface="+mj-lt"/>
              </a:rPr>
              <a:t>How did </a:t>
            </a:r>
            <a:r>
              <a:rPr lang="en-US" sz="1600" b="1" i="0" u="none" strike="noStrike" baseline="0" dirty="0" err="1">
                <a:solidFill>
                  <a:srgbClr val="000000"/>
                </a:solidFill>
                <a:latin typeface="+mj-lt"/>
              </a:rPr>
              <a:t>Breitz</a:t>
            </a:r>
            <a:r>
              <a:rPr lang="en-US" sz="1600" b="1" i="0" u="none" strike="noStrike" baseline="0" dirty="0">
                <a:solidFill>
                  <a:srgbClr val="000000"/>
                </a:solidFill>
                <a:latin typeface="+mj-lt"/>
              </a:rPr>
              <a:t> install and curate this work to ensure that it communicated her intent effectively to viewers? </a:t>
            </a:r>
          </a:p>
          <a:p>
            <a:endParaRPr lang="en-AU" sz="1800" b="0" i="0" u="none" strike="noStrike" baseline="0" dirty="0">
              <a:solidFill>
                <a:srgbClr val="000000"/>
              </a:solidFill>
              <a:latin typeface="Arial" panose="020B0604020202020204" pitchFamily="34" charset="0"/>
            </a:endParaRPr>
          </a:p>
          <a:p>
            <a:endParaRPr lang="en-AU" sz="1800" b="0" i="0" u="none" strike="noStrike" baseline="0" dirty="0">
              <a:solidFill>
                <a:srgbClr val="000000"/>
              </a:solidFill>
              <a:latin typeface="Arial" panose="020B0604020202020204" pitchFamily="34" charset="0"/>
            </a:endParaRPr>
          </a:p>
          <a:p>
            <a:r>
              <a:rPr lang="en-AU" sz="1800" b="0" i="0" u="none" strike="noStrike" baseline="0" dirty="0">
                <a:solidFill>
                  <a:srgbClr val="000000"/>
                </a:solidFill>
                <a:latin typeface="Arial" panose="020B0604020202020204" pitchFamily="34" charset="0"/>
              </a:rPr>
              <a:t>	</a:t>
            </a:r>
          </a:p>
          <a:p>
            <a:endParaRPr lang="en-AU" sz="1800" b="0" i="0" u="none" strike="noStrike" baseline="0" dirty="0">
              <a:solidFill>
                <a:srgbClr val="000000"/>
              </a:solidFill>
              <a:latin typeface="Arial" panose="020B0604020202020204" pitchFamily="34" charset="0"/>
            </a:endParaRPr>
          </a:p>
          <a:p>
            <a:r>
              <a:rPr lang="en-AU" dirty="0"/>
              <a:t>	</a:t>
            </a:r>
          </a:p>
          <a:p>
            <a:endParaRPr lang="en-US" sz="1400" dirty="0"/>
          </a:p>
          <a:p>
            <a:endParaRPr lang="en-US" sz="1400" dirty="0"/>
          </a:p>
        </p:txBody>
      </p:sp>
      <p:sp>
        <p:nvSpPr>
          <p:cNvPr id="5" name="TextBox 4">
            <a:extLst>
              <a:ext uri="{FF2B5EF4-FFF2-40B4-BE49-F238E27FC236}">
                <a16:creationId xmlns:a16="http://schemas.microsoft.com/office/drawing/2014/main" id="{93F08475-C81C-4C03-3754-E449395AC474}"/>
              </a:ext>
            </a:extLst>
          </p:cNvPr>
          <p:cNvSpPr txBox="1"/>
          <p:nvPr/>
        </p:nvSpPr>
        <p:spPr>
          <a:xfrm>
            <a:off x="3479335" y="6219825"/>
            <a:ext cx="6096000" cy="646331"/>
          </a:xfrm>
          <a:prstGeom prst="rect">
            <a:avLst/>
          </a:prstGeom>
          <a:noFill/>
        </p:spPr>
        <p:txBody>
          <a:bodyPr wrap="square">
            <a:spAutoFit/>
          </a:bodyPr>
          <a:lstStyle/>
          <a:p>
            <a:r>
              <a:rPr lang="en-AU" dirty="0">
                <a:hlinkClick r:id="rId4"/>
              </a:rPr>
              <a:t>https://www.dailymotion.com/video/x6xo60n</a:t>
            </a:r>
            <a:endParaRPr lang="en-AU" dirty="0"/>
          </a:p>
          <a:p>
            <a:endParaRPr lang="en-AU" dirty="0"/>
          </a:p>
        </p:txBody>
      </p:sp>
    </p:spTree>
    <p:extLst>
      <p:ext uri="{BB962C8B-B14F-4D97-AF65-F5344CB8AC3E}">
        <p14:creationId xmlns:p14="http://schemas.microsoft.com/office/powerpoint/2010/main" val="38588868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49b8a18a-7af3-4931-9d08-29df45da2bd9}" enabled="0" method="" siteId="{49b8a18a-7af3-4931-9d08-29df45da2bd9}" removed="1"/>
</clbl:labelList>
</file>

<file path=docProps/app.xml><?xml version="1.0" encoding="utf-8"?>
<Properties xmlns="http://schemas.openxmlformats.org/officeDocument/2006/extended-properties" xmlns:vt="http://schemas.openxmlformats.org/officeDocument/2006/docPropsVTypes">
  <TotalTime>618</TotalTime>
  <Words>1124</Words>
  <Application>Microsoft Office PowerPoint</Application>
  <PresentationFormat>Widescreen</PresentationFormat>
  <Paragraphs>155</Paragraphs>
  <Slides>10</Slides>
  <Notes>0</Notes>
  <HiddenSlides>0</HiddenSlides>
  <MMClips>3</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The Southport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Jacqueline Ockwell</dc:creator>
  <cp:lastModifiedBy>Jacqueline Ockwell</cp:lastModifiedBy>
  <cp:revision>1</cp:revision>
  <dcterms:created xsi:type="dcterms:W3CDTF">2025-05-06T21:28:58Z</dcterms:created>
  <dcterms:modified xsi:type="dcterms:W3CDTF">2025-05-07T07:47:13Z</dcterms:modified>
</cp:coreProperties>
</file>
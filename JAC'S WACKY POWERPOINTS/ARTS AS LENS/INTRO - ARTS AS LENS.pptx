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B538"/>
    <a:srgbClr val="E2DED2"/>
    <a:srgbClr val="FF3399"/>
    <a:srgbClr val="FFFFFF"/>
    <a:srgbClr val="A7D690"/>
    <a:srgbClr val="99FF66"/>
    <a:srgbClr val="CC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9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queline Ockwell" userId="79a11ae1-9a6a-4dce-9c68-e7607b2827ec" providerId="ADAL" clId="{97E97E31-5131-4F4F-B31F-4ACD8C1B3209}"/>
    <pc:docChg chg="modSld">
      <pc:chgData name="Jacqueline Ockwell" userId="79a11ae1-9a6a-4dce-9c68-e7607b2827ec" providerId="ADAL" clId="{97E97E31-5131-4F4F-B31F-4ACD8C1B3209}" dt="2026-02-03T20:49:23.339" v="0" actId="14100"/>
      <pc:docMkLst>
        <pc:docMk/>
      </pc:docMkLst>
      <pc:sldChg chg="modSp mod">
        <pc:chgData name="Jacqueline Ockwell" userId="79a11ae1-9a6a-4dce-9c68-e7607b2827ec" providerId="ADAL" clId="{97E97E31-5131-4F4F-B31F-4ACD8C1B3209}" dt="2026-02-03T20:49:23.339" v="0" actId="14100"/>
        <pc:sldMkLst>
          <pc:docMk/>
          <pc:sldMk cId="246395652" sldId="264"/>
        </pc:sldMkLst>
        <pc:spChg chg="mod">
          <ac:chgData name="Jacqueline Ockwell" userId="79a11ae1-9a6a-4dce-9c68-e7607b2827ec" providerId="ADAL" clId="{97E97E31-5131-4F4F-B31F-4ACD8C1B3209}" dt="2026-02-03T20:49:23.339" v="0" actId="14100"/>
          <ac:spMkLst>
            <pc:docMk/>
            <pc:sldMk cId="246395652" sldId="264"/>
            <ac:spMk id="6" creationId="{77939F65-E04A-D97F-5E44-BA27A3B97E0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729AA-3DD8-0EC9-AC77-A634D09DF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BFB31-7BFA-69C2-F51A-1E1E32CE8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39F59-AF4B-572E-3B9A-A4131F7A6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2170-C199-4327-B7DC-232EB8D9B836}" type="datetimeFigureOut">
              <a:rPr lang="en-AU" smtClean="0"/>
              <a:t>3/02/2026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C3565-F044-E2C2-29E4-2CF2EC58A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EB1EE-563F-F26D-147E-5B3477CCC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F9982-7AB5-47BF-B5A7-DF2EAD89C7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6652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AEEDF-59E5-7AF0-4589-196B39589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69A99-FDC3-46AA-3F8A-55BD3669A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5A4B4-E02C-CF73-08A8-15F86ED3B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2170-C199-4327-B7DC-232EB8D9B836}" type="datetimeFigureOut">
              <a:rPr lang="en-AU" smtClean="0"/>
              <a:t>3/02/2026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8709F-0C04-2CB5-1B5C-FBCFF5F59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4902F-F981-7093-B36B-CE5AE695F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F9982-7AB5-47BF-B5A7-DF2EAD89C7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3798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34888-CA56-113B-862A-6EFA8C294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9D39F-D439-AB3A-4C73-AF7EFB6CD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16D0E-C238-5E04-9C19-50426B197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2170-C199-4327-B7DC-232EB8D9B836}" type="datetimeFigureOut">
              <a:rPr lang="en-AU" smtClean="0"/>
              <a:t>3/02/2026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C1EC8-9F8F-F2D8-40CA-32D60335A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7AAB0-8221-9330-DC38-98F94DA3C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F9982-7AB5-47BF-B5A7-DF2EAD89C7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379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45360-E548-55D6-D9AB-CBBEDBC0A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B6E3A-D5CE-0372-26A2-3EA864E9A5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7DABE-368E-E18E-5CD9-589CA23E1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43B06E-EAB1-3161-25CC-A8678DAF9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2170-C199-4327-B7DC-232EB8D9B836}" type="datetimeFigureOut">
              <a:rPr lang="en-AU" smtClean="0"/>
              <a:t>3/02/2026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E3FFA-470F-30D0-BC9F-7AB528BB0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D8123-F266-1E0C-7A77-57AF368B2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F9982-7AB5-47BF-B5A7-DF2EAD89C7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750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34466-42D8-AF06-88DF-6DD64F865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2C7CFC-E1CB-0D03-4000-D668BF495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B94228-09C1-76EC-5B74-EA3428259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374810-C9DE-F3A5-85AA-06C79432D3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ABA0A4-BA22-ED57-C736-2E4D50EC2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D633E1-C14E-8B3B-FE8D-B9AF33564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2170-C199-4327-B7DC-232EB8D9B836}" type="datetimeFigureOut">
              <a:rPr lang="en-AU" smtClean="0"/>
              <a:t>3/02/2026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80CD02-BAA7-8704-07A9-662D9C52F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061BD8-54C1-4099-C9F7-C7ECBC137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F9982-7AB5-47BF-B5A7-DF2EAD89C7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2677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607AE-A6DF-1FB3-FB4F-D61C9ACD5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7240CD-5EFF-EA34-9C46-6C966FAAD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2170-C199-4327-B7DC-232EB8D9B836}" type="datetimeFigureOut">
              <a:rPr lang="en-AU" smtClean="0"/>
              <a:t>3/02/2026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A1AF16-F5F9-5E07-F81E-8C4C116C0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E58CA9-FFCB-78DB-5638-AF205B82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F9982-7AB5-47BF-B5A7-DF2EAD89C7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9687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291E39-5483-5DDA-6343-BCB426EAA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2170-C199-4327-B7DC-232EB8D9B836}" type="datetimeFigureOut">
              <a:rPr lang="en-AU" smtClean="0"/>
              <a:t>3/02/2026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440A52-8C9E-C179-28BE-1F737211D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14FDE-14B7-460D-C7B7-20106573E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F9982-7AB5-47BF-B5A7-DF2EAD89C7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0523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A599B-92EC-73F8-6D99-9C148011E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75411-DC5B-85DC-BA1B-FD493E855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094F70-B6F5-5807-4520-A643B3AD0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65184-98C8-3EE7-2151-4846593DD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2170-C199-4327-B7DC-232EB8D9B836}" type="datetimeFigureOut">
              <a:rPr lang="en-AU" smtClean="0"/>
              <a:t>3/02/2026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84113-C20D-B3BF-004C-105E81E7B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DCB8A-7AAC-FFAD-EB29-F20ECEF3D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F9982-7AB5-47BF-B5A7-DF2EAD89C7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4289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00050-B5C9-BFDC-F43C-608D8279B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2BE999-1A1F-48DD-BDB1-B0DA45BAFE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CFEB0C-5AE3-1EFB-97FF-8B496429C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9D7EB9-3577-F79A-4E36-9D080D82A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2170-C199-4327-B7DC-232EB8D9B836}" type="datetimeFigureOut">
              <a:rPr lang="en-AU" smtClean="0"/>
              <a:t>3/02/2026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23FC0-50EA-B47C-31CE-4723C496B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DC21E2-9898-4B79-07FA-F4C63690D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F9982-7AB5-47BF-B5A7-DF2EAD89C7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7759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2D0BF-4421-3135-9527-ACCCC28BB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08039E-B04B-348C-783A-4A9687C4A1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6710D-E866-C10D-39DC-CE1C2990E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2170-C199-4327-B7DC-232EB8D9B836}" type="datetimeFigureOut">
              <a:rPr lang="en-AU" smtClean="0"/>
              <a:t>3/02/2026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73988-CA72-6FBA-9550-D92DFF030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A0D9E-9ECE-6627-E69A-96B7E52FF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F9982-7AB5-47BF-B5A7-DF2EAD89C7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8567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16FC87-6914-055F-9754-2A9C331F9D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F2C638-0554-CA8B-6C90-454EA1693D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163ED-7F1C-0F44-3C9E-355B2D55C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2170-C199-4327-B7DC-232EB8D9B836}" type="datetimeFigureOut">
              <a:rPr lang="en-AU" smtClean="0"/>
              <a:t>3/02/2026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153C0-E3B7-B7DA-4191-F62182032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C4443-E5A7-6A10-DB4B-C753256A6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F9982-7AB5-47BF-B5A7-DF2EAD89C7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1217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BC80E1-8D74-1F39-434D-15CE2E28D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B7878D-E165-0B96-A2C6-AB09352B4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AB722-74D9-B3B2-BB22-8541BD52FE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C32170-C199-4327-B7DC-232EB8D9B836}" type="datetimeFigureOut">
              <a:rPr lang="en-AU" smtClean="0"/>
              <a:t>3/02/2026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5E46F-1D37-7494-404B-DCD9A0E41B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F8F8-8A3B-5259-4372-E26B82975B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CF9982-7AB5-47BF-B5A7-DF2EAD89C7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4868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12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1.png"/><Relationship Id="rId7" Type="http://schemas.openxmlformats.org/officeDocument/2006/relationships/image" Target="../media/image32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12.svg"/><Relationship Id="rId9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37.jpeg"/><Relationship Id="rId7" Type="http://schemas.openxmlformats.org/officeDocument/2006/relationships/image" Target="../media/image1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42.png"/><Relationship Id="rId7" Type="http://schemas.openxmlformats.org/officeDocument/2006/relationships/image" Target="../media/image1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29267B40-D617-587B-AA9B-01C6CF2DEB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95" b="22051"/>
          <a:stretch>
            <a:fillRect/>
          </a:stretch>
        </p:blipFill>
        <p:spPr>
          <a:xfrm>
            <a:off x="48927" y="0"/>
            <a:ext cx="6915941" cy="1053193"/>
          </a:xfrm>
          <a:prstGeom prst="rect">
            <a:avLst/>
          </a:prstGeom>
        </p:spPr>
      </p:pic>
      <p:pic>
        <p:nvPicPr>
          <p:cNvPr id="2050" name="Picture 2" descr="This may contain: a man is looking through a mirror with his finger to the camera and he's covering his eyes">
            <a:extLst>
              <a:ext uri="{FF2B5EF4-FFF2-40B4-BE49-F238E27FC236}">
                <a16:creationId xmlns:a16="http://schemas.microsoft.com/office/drawing/2014/main" id="{2FFD8084-74E6-749E-7A3B-E451E057D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4868" y="187778"/>
            <a:ext cx="4940886" cy="6482443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F1184B-C719-A192-9CCB-05A6157EBD56}"/>
              </a:ext>
            </a:extLst>
          </p:cNvPr>
          <p:cNvSpPr txBox="1"/>
          <p:nvPr/>
        </p:nvSpPr>
        <p:spPr>
          <a:xfrm>
            <a:off x="2075819" y="1238055"/>
            <a:ext cx="5672820" cy="735747"/>
          </a:xfrm>
          <a:custGeom>
            <a:avLst/>
            <a:gdLst>
              <a:gd name="csX0" fmla="*/ 0 w 5672820"/>
              <a:gd name="csY0" fmla="*/ 367874 h 735747"/>
              <a:gd name="csX1" fmla="*/ 2836410 w 5672820"/>
              <a:gd name="csY1" fmla="*/ 0 h 735747"/>
              <a:gd name="csX2" fmla="*/ 5672820 w 5672820"/>
              <a:gd name="csY2" fmla="*/ 367874 h 735747"/>
              <a:gd name="csX3" fmla="*/ 2836410 w 5672820"/>
              <a:gd name="csY3" fmla="*/ 735748 h 735747"/>
              <a:gd name="csX4" fmla="*/ 0 w 5672820"/>
              <a:gd name="csY4" fmla="*/ 367874 h 7357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672820" h="735747" fill="none" extrusionOk="0">
                <a:moveTo>
                  <a:pt x="0" y="367874"/>
                </a:moveTo>
                <a:cubicBezTo>
                  <a:pt x="128672" y="42406"/>
                  <a:pt x="1578722" y="20378"/>
                  <a:pt x="2836410" y="0"/>
                </a:cubicBezTo>
                <a:cubicBezTo>
                  <a:pt x="4411985" y="15502"/>
                  <a:pt x="5646491" y="164137"/>
                  <a:pt x="5672820" y="367874"/>
                </a:cubicBezTo>
                <a:cubicBezTo>
                  <a:pt x="6024333" y="622019"/>
                  <a:pt x="4206369" y="646050"/>
                  <a:pt x="2836410" y="735748"/>
                </a:cubicBezTo>
                <a:cubicBezTo>
                  <a:pt x="1236016" y="745861"/>
                  <a:pt x="2794" y="567257"/>
                  <a:pt x="0" y="367874"/>
                </a:cubicBezTo>
                <a:close/>
              </a:path>
              <a:path w="5672820" h="735747" stroke="0" extrusionOk="0">
                <a:moveTo>
                  <a:pt x="0" y="367874"/>
                </a:moveTo>
                <a:cubicBezTo>
                  <a:pt x="-114358" y="365339"/>
                  <a:pt x="1127840" y="-58664"/>
                  <a:pt x="2836410" y="0"/>
                </a:cubicBezTo>
                <a:cubicBezTo>
                  <a:pt x="4429769" y="-3964"/>
                  <a:pt x="5655733" y="195825"/>
                  <a:pt x="5672820" y="367874"/>
                </a:cubicBezTo>
                <a:cubicBezTo>
                  <a:pt x="5409852" y="658937"/>
                  <a:pt x="4311110" y="844309"/>
                  <a:pt x="2836410" y="735748"/>
                </a:cubicBezTo>
                <a:cubicBezTo>
                  <a:pt x="1291016" y="722085"/>
                  <a:pt x="-44444" y="581240"/>
                  <a:pt x="0" y="367874"/>
                </a:cubicBezTo>
                <a:close/>
              </a:path>
            </a:pathLst>
          </a:custGeom>
          <a:solidFill>
            <a:srgbClr val="E2DED2"/>
          </a:solidFill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800" b="1" i="1" dirty="0"/>
              <a:t>Concept: Connection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6F47FB6-D451-FD10-F52F-5036A704B74E}"/>
              </a:ext>
            </a:extLst>
          </p:cNvPr>
          <p:cNvSpPr/>
          <p:nvPr/>
        </p:nvSpPr>
        <p:spPr>
          <a:xfrm>
            <a:off x="585773" y="2572556"/>
            <a:ext cx="6200146" cy="1244604"/>
          </a:xfrm>
          <a:prstGeom prst="roundRect">
            <a:avLst/>
          </a:prstGeom>
          <a:noFill/>
          <a:ln>
            <a:noFill/>
            <a:prstDash val="lgDash"/>
          </a:ln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In this unit you will explore how artists use lenses to shift meaning. You will experiment, </a:t>
            </a:r>
            <a:r>
              <a:rPr lang="en-US" sz="2000" dirty="0" err="1"/>
              <a:t>analyse</a:t>
            </a:r>
            <a:r>
              <a:rPr lang="en-US" sz="2000" dirty="0"/>
              <a:t> artists, and develop your own visual viewpoint.</a:t>
            </a:r>
            <a:endParaRPr lang="en-AU" sz="2000" dirty="0"/>
          </a:p>
          <a:p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hought Bubble: Cloud 4">
            <a:extLst>
              <a:ext uri="{FF2B5EF4-FFF2-40B4-BE49-F238E27FC236}">
                <a16:creationId xmlns:a16="http://schemas.microsoft.com/office/drawing/2014/main" id="{A71B72B8-9611-8708-E80F-FB4E95F2599F}"/>
              </a:ext>
            </a:extLst>
          </p:cNvPr>
          <p:cNvSpPr/>
          <p:nvPr/>
        </p:nvSpPr>
        <p:spPr>
          <a:xfrm>
            <a:off x="944336" y="4415915"/>
            <a:ext cx="5662634" cy="2204358"/>
          </a:xfrm>
          <a:prstGeom prst="cloudCallout">
            <a:avLst>
              <a:gd name="adj1" fmla="val -63212"/>
              <a:gd name="adj2" fmla="val 57698"/>
            </a:avLst>
          </a:prstGeom>
          <a:solidFill>
            <a:srgbClr val="E8B53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00" b="1" dirty="0">
              <a:solidFill>
                <a:schemeClr val="tx1"/>
              </a:solidFill>
            </a:endParaRPr>
          </a:p>
          <a:p>
            <a:pPr algn="ctr"/>
            <a:endParaRPr lang="en-AU" sz="2000" b="1" dirty="0">
              <a:solidFill>
                <a:schemeClr val="tx1"/>
              </a:solidFill>
            </a:endParaRPr>
          </a:p>
          <a:p>
            <a:pPr algn="ctr"/>
            <a:r>
              <a:rPr lang="en-AU" sz="2000" b="1" dirty="0">
                <a:solidFill>
                  <a:schemeClr val="tx1"/>
                </a:solidFill>
              </a:rPr>
              <a:t>Inquiry Question:</a:t>
            </a:r>
          </a:p>
          <a:p>
            <a:pPr algn="ctr"/>
            <a:br>
              <a:rPr lang="en-AU" sz="1600" b="1" dirty="0">
                <a:solidFill>
                  <a:schemeClr val="tx1"/>
                </a:solidFill>
              </a:rPr>
            </a:br>
            <a:r>
              <a:rPr lang="en-AU" b="1" i="1" dirty="0">
                <a:solidFill>
                  <a:schemeClr val="tx1"/>
                </a:solidFill>
              </a:rPr>
              <a:t>How can artistic lenses change the meaning of people, places and objects to show my viewpoint about connection?</a:t>
            </a:r>
          </a:p>
          <a:p>
            <a:pPr algn="ctr"/>
            <a:endParaRPr lang="en-AU" b="1" i="1" dirty="0">
              <a:solidFill>
                <a:schemeClr val="tx1"/>
              </a:solidFill>
            </a:endParaRPr>
          </a:p>
          <a:p>
            <a:pPr algn="ctr"/>
            <a:endParaRPr lang="en-AU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123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1C0BC93-8D13-D11C-692F-96DEA2028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410" y="1577866"/>
            <a:ext cx="4666004" cy="3883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2BEFEB-F552-6CF3-664C-BECCE10C9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692" y="1627191"/>
            <a:ext cx="4666004" cy="339052"/>
          </a:xfrm>
          <a:prstGeom prst="rect">
            <a:avLst/>
          </a:prstGeom>
        </p:spPr>
      </p:pic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2870A14A-B15F-CB12-C91F-A5E4F268C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657"/>
            <a:ext cx="4201111" cy="100026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4D8939D-FE3C-7C68-50DE-2E950B9B5388}"/>
              </a:ext>
            </a:extLst>
          </p:cNvPr>
          <p:cNvSpPr/>
          <p:nvPr/>
        </p:nvSpPr>
        <p:spPr>
          <a:xfrm>
            <a:off x="442715" y="2289179"/>
            <a:ext cx="4955395" cy="3651905"/>
          </a:xfrm>
          <a:custGeom>
            <a:avLst/>
            <a:gdLst>
              <a:gd name="csX0" fmla="*/ 0 w 4955395"/>
              <a:gd name="csY0" fmla="*/ 0 h 3651905"/>
              <a:gd name="csX1" fmla="*/ 4955395 w 4955395"/>
              <a:gd name="csY1" fmla="*/ 0 h 3651905"/>
              <a:gd name="csX2" fmla="*/ 4955395 w 4955395"/>
              <a:gd name="csY2" fmla="*/ 3651905 h 3651905"/>
              <a:gd name="csX3" fmla="*/ 0 w 4955395"/>
              <a:gd name="csY3" fmla="*/ 3651905 h 3651905"/>
              <a:gd name="csX4" fmla="*/ 0 w 4955395"/>
              <a:gd name="csY4" fmla="*/ 0 h 36519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955395" h="3651905" fill="none" extrusionOk="0">
                <a:moveTo>
                  <a:pt x="0" y="0"/>
                </a:moveTo>
                <a:cubicBezTo>
                  <a:pt x="1048347" y="99984"/>
                  <a:pt x="2541848" y="-75286"/>
                  <a:pt x="4955395" y="0"/>
                </a:cubicBezTo>
                <a:cubicBezTo>
                  <a:pt x="4872003" y="682040"/>
                  <a:pt x="5038532" y="3271717"/>
                  <a:pt x="4955395" y="3651905"/>
                </a:cubicBezTo>
                <a:cubicBezTo>
                  <a:pt x="2921967" y="3579528"/>
                  <a:pt x="1293999" y="3808545"/>
                  <a:pt x="0" y="3651905"/>
                </a:cubicBezTo>
                <a:cubicBezTo>
                  <a:pt x="109674" y="2282426"/>
                  <a:pt x="-143542" y="884351"/>
                  <a:pt x="0" y="0"/>
                </a:cubicBezTo>
                <a:close/>
              </a:path>
              <a:path w="4955395" h="3651905" stroke="0" extrusionOk="0">
                <a:moveTo>
                  <a:pt x="0" y="0"/>
                </a:moveTo>
                <a:cubicBezTo>
                  <a:pt x="1970294" y="-42197"/>
                  <a:pt x="2991904" y="-104829"/>
                  <a:pt x="4955395" y="0"/>
                </a:cubicBezTo>
                <a:cubicBezTo>
                  <a:pt x="4920281" y="670507"/>
                  <a:pt x="4863094" y="2866264"/>
                  <a:pt x="4955395" y="3651905"/>
                </a:cubicBezTo>
                <a:cubicBezTo>
                  <a:pt x="3358750" y="3571582"/>
                  <a:pt x="1062362" y="3498974"/>
                  <a:pt x="0" y="3651905"/>
                </a:cubicBezTo>
                <a:cubicBezTo>
                  <a:pt x="66540" y="2903761"/>
                  <a:pt x="-45681" y="864502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540634549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6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Experimental Investigation – Inquiry Phase 1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6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(Formative Assessment 1) 20% Due Term 1 </a:t>
            </a:r>
            <a:endParaRPr lang="en-AU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1400" dirty="0"/>
              <a:t>You will: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/>
              <a:t>complete four guided experiments (place, object, people, time)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 err="1"/>
              <a:t>analyse</a:t>
            </a:r>
            <a:r>
              <a:rPr lang="en-US" sz="1400" dirty="0"/>
              <a:t> mentor artists and their influences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/>
              <a:t>explore lenses, contexts and reverse chronology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/>
              <a:t>document how your ideas develop</a:t>
            </a:r>
          </a:p>
          <a:p>
            <a:pPr lvl="1"/>
            <a:endParaRPr lang="en-US" sz="1400" dirty="0"/>
          </a:p>
          <a:p>
            <a:r>
              <a:rPr lang="en-US" sz="1400" b="1" dirty="0"/>
              <a:t>Submission:</a:t>
            </a:r>
            <a:r>
              <a:rPr lang="en-US" sz="1400" dirty="0"/>
              <a:t> Digital presentation (up to 12 slides) </a:t>
            </a:r>
          </a:p>
          <a:p>
            <a:br>
              <a:rPr lang="en-US" sz="1400" dirty="0"/>
            </a:br>
            <a:r>
              <a:rPr lang="en-US" sz="1400" dirty="0"/>
              <a:t>Focus: Exploration, experimentation, and understanding how lenses change meaning.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661B00-6FD3-59F2-499A-77E153832273}"/>
              </a:ext>
            </a:extLst>
          </p:cNvPr>
          <p:cNvSpPr/>
          <p:nvPr/>
        </p:nvSpPr>
        <p:spPr>
          <a:xfrm>
            <a:off x="6440104" y="2289179"/>
            <a:ext cx="5309181" cy="3651905"/>
          </a:xfrm>
          <a:custGeom>
            <a:avLst/>
            <a:gdLst>
              <a:gd name="csX0" fmla="*/ 0 w 5309181"/>
              <a:gd name="csY0" fmla="*/ 0 h 3651905"/>
              <a:gd name="csX1" fmla="*/ 5309181 w 5309181"/>
              <a:gd name="csY1" fmla="*/ 0 h 3651905"/>
              <a:gd name="csX2" fmla="*/ 5309181 w 5309181"/>
              <a:gd name="csY2" fmla="*/ 3651905 h 3651905"/>
              <a:gd name="csX3" fmla="*/ 0 w 5309181"/>
              <a:gd name="csY3" fmla="*/ 3651905 h 3651905"/>
              <a:gd name="csX4" fmla="*/ 0 w 5309181"/>
              <a:gd name="csY4" fmla="*/ 0 h 36519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09181" h="3651905" fill="none" extrusionOk="0">
                <a:moveTo>
                  <a:pt x="0" y="0"/>
                </a:moveTo>
                <a:cubicBezTo>
                  <a:pt x="2322302" y="134755"/>
                  <a:pt x="3584445" y="46790"/>
                  <a:pt x="5309181" y="0"/>
                </a:cubicBezTo>
                <a:cubicBezTo>
                  <a:pt x="5280928" y="746279"/>
                  <a:pt x="5287297" y="2803004"/>
                  <a:pt x="5309181" y="3651905"/>
                </a:cubicBezTo>
                <a:cubicBezTo>
                  <a:pt x="4554791" y="3776055"/>
                  <a:pt x="1695649" y="3551270"/>
                  <a:pt x="0" y="3651905"/>
                </a:cubicBezTo>
                <a:cubicBezTo>
                  <a:pt x="-47888" y="2010212"/>
                  <a:pt x="167824" y="1766797"/>
                  <a:pt x="0" y="0"/>
                </a:cubicBezTo>
                <a:close/>
              </a:path>
              <a:path w="5309181" h="3651905" stroke="0" extrusionOk="0">
                <a:moveTo>
                  <a:pt x="0" y="0"/>
                </a:moveTo>
                <a:cubicBezTo>
                  <a:pt x="840339" y="-100686"/>
                  <a:pt x="2783319" y="-2813"/>
                  <a:pt x="5309181" y="0"/>
                </a:cubicBezTo>
                <a:cubicBezTo>
                  <a:pt x="5146428" y="831599"/>
                  <a:pt x="5281123" y="2946803"/>
                  <a:pt x="5309181" y="3651905"/>
                </a:cubicBezTo>
                <a:cubicBezTo>
                  <a:pt x="3989303" y="3699788"/>
                  <a:pt x="1445283" y="3685334"/>
                  <a:pt x="0" y="3651905"/>
                </a:cubicBezTo>
                <a:cubicBezTo>
                  <a:pt x="138483" y="2953137"/>
                  <a:pt x="74157" y="1607917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3524274530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600" b="1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Project (focused personal inquiry)</a:t>
            </a:r>
            <a:r>
              <a:rPr lang="en-AU" sz="16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– Inquiry Phase 2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6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(Formative Assessment 2) 25% Due Term 2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400" b="1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You will: </a:t>
            </a:r>
            <a:endParaRPr lang="en-AU" sz="1400" b="1" kern="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/>
              <a:t>choose one direction from your FIA1 experiments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/>
              <a:t>refine your inquiry question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/>
              <a:t>select your own mentor artist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dirty="0"/>
              <a:t>develop a resolved body of work</a:t>
            </a:r>
          </a:p>
          <a:p>
            <a:endParaRPr lang="en-US" sz="1400" dirty="0"/>
          </a:p>
          <a:p>
            <a:r>
              <a:rPr lang="en-US" sz="1400" b="1" dirty="0"/>
              <a:t>Submission:</a:t>
            </a:r>
            <a:r>
              <a:rPr lang="en-US" sz="1400" dirty="0"/>
              <a:t> Body of work + documentation</a:t>
            </a:r>
          </a:p>
          <a:p>
            <a:br>
              <a:rPr lang="en-US" sz="1400" dirty="0"/>
            </a:br>
            <a:r>
              <a:rPr lang="en-US" sz="1400" dirty="0"/>
              <a:t>Focus: Deepening ideas, personal viewpoint, and purposeful development.</a:t>
            </a:r>
          </a:p>
          <a:p>
            <a:endParaRPr lang="en-US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C8B25DCC-1D7B-2018-AC70-2EBB3DCE739B}"/>
              </a:ext>
            </a:extLst>
          </p:cNvPr>
          <p:cNvSpPr/>
          <p:nvPr/>
        </p:nvSpPr>
        <p:spPr>
          <a:xfrm rot="16200000">
            <a:off x="5772818" y="3668933"/>
            <a:ext cx="292577" cy="892395"/>
          </a:xfrm>
          <a:custGeom>
            <a:avLst/>
            <a:gdLst>
              <a:gd name="csX0" fmla="*/ 0 w 292577"/>
              <a:gd name="csY0" fmla="*/ 746107 h 892395"/>
              <a:gd name="csX1" fmla="*/ 73144 w 292577"/>
              <a:gd name="csY1" fmla="*/ 746107 h 892395"/>
              <a:gd name="csX2" fmla="*/ 73144 w 292577"/>
              <a:gd name="csY2" fmla="*/ 358131 h 892395"/>
              <a:gd name="csX3" fmla="*/ 73144 w 292577"/>
              <a:gd name="csY3" fmla="*/ 0 h 892395"/>
              <a:gd name="csX4" fmla="*/ 219433 w 292577"/>
              <a:gd name="csY4" fmla="*/ 0 h 892395"/>
              <a:gd name="csX5" fmla="*/ 219433 w 292577"/>
              <a:gd name="csY5" fmla="*/ 380515 h 892395"/>
              <a:gd name="csX6" fmla="*/ 219433 w 292577"/>
              <a:gd name="csY6" fmla="*/ 746107 h 892395"/>
              <a:gd name="csX7" fmla="*/ 292577 w 292577"/>
              <a:gd name="csY7" fmla="*/ 746107 h 892395"/>
              <a:gd name="csX8" fmla="*/ 146289 w 292577"/>
              <a:gd name="csY8" fmla="*/ 892395 h 892395"/>
              <a:gd name="csX9" fmla="*/ 0 w 292577"/>
              <a:gd name="csY9" fmla="*/ 746107 h 8923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92577" h="892395" extrusionOk="0">
                <a:moveTo>
                  <a:pt x="0" y="746107"/>
                </a:moveTo>
                <a:cubicBezTo>
                  <a:pt x="30578" y="737570"/>
                  <a:pt x="52292" y="748118"/>
                  <a:pt x="73144" y="746107"/>
                </a:cubicBezTo>
                <a:cubicBezTo>
                  <a:pt x="38142" y="612870"/>
                  <a:pt x="93444" y="504069"/>
                  <a:pt x="73144" y="358131"/>
                </a:cubicBezTo>
                <a:cubicBezTo>
                  <a:pt x="52844" y="212193"/>
                  <a:pt x="91704" y="148518"/>
                  <a:pt x="73144" y="0"/>
                </a:cubicBezTo>
                <a:cubicBezTo>
                  <a:pt x="140021" y="-15575"/>
                  <a:pt x="182179" y="10067"/>
                  <a:pt x="219433" y="0"/>
                </a:cubicBezTo>
                <a:cubicBezTo>
                  <a:pt x="249233" y="82633"/>
                  <a:pt x="210305" y="249585"/>
                  <a:pt x="219433" y="380515"/>
                </a:cubicBezTo>
                <a:cubicBezTo>
                  <a:pt x="228561" y="511446"/>
                  <a:pt x="183248" y="621202"/>
                  <a:pt x="219433" y="746107"/>
                </a:cubicBezTo>
                <a:cubicBezTo>
                  <a:pt x="237569" y="744031"/>
                  <a:pt x="276030" y="750310"/>
                  <a:pt x="292577" y="746107"/>
                </a:cubicBezTo>
                <a:cubicBezTo>
                  <a:pt x="234093" y="824465"/>
                  <a:pt x="177707" y="849517"/>
                  <a:pt x="146289" y="892395"/>
                </a:cubicBezTo>
                <a:cubicBezTo>
                  <a:pt x="115101" y="863392"/>
                  <a:pt x="41611" y="766719"/>
                  <a:pt x="0" y="746107"/>
                </a:cubicBezTo>
                <a:close/>
              </a:path>
            </a:pathLst>
          </a:custGeom>
          <a:solidFill>
            <a:srgbClr val="E8B538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42059119">
                  <a:prstGeom prst="downArrow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9095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black text&#10;&#10;AI-generated content may be incorrect.">
            <a:extLst>
              <a:ext uri="{FF2B5EF4-FFF2-40B4-BE49-F238E27FC236}">
                <a16:creationId xmlns:a16="http://schemas.microsoft.com/office/drawing/2014/main" id="{B35BA3BD-0D29-076E-4AC8-D43CA1FF0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33" y="-1"/>
            <a:ext cx="7151913" cy="12736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759191-028B-1467-8A97-75E97B8237B2}"/>
              </a:ext>
            </a:extLst>
          </p:cNvPr>
          <p:cNvSpPr txBox="1"/>
          <p:nvPr/>
        </p:nvSpPr>
        <p:spPr>
          <a:xfrm>
            <a:off x="1636738" y="1307807"/>
            <a:ext cx="7592786" cy="842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 this unit, art is not just about what things look like.</a:t>
            </a:r>
            <a:endParaRPr lang="en-AU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Art becomes a lens, meaning a way of interpreting the world.</a:t>
            </a:r>
            <a:endParaRPr lang="en-AU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Story pin image">
            <a:extLst>
              <a:ext uri="{FF2B5EF4-FFF2-40B4-BE49-F238E27FC236}">
                <a16:creationId xmlns:a16="http://schemas.microsoft.com/office/drawing/2014/main" id="{22E6706C-F434-FCA8-1604-2F3C5B361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00" y="60558"/>
            <a:ext cx="2857500" cy="28575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04F2E7-5099-45C1-E5E4-1C2AF0067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8758" y="3113440"/>
            <a:ext cx="5778736" cy="709140"/>
          </a:xfrm>
          <a:prstGeom prst="rect">
            <a:avLst/>
          </a:prstGeom>
        </p:spPr>
      </p:pic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342E8231-4E3B-902D-F48F-7B139C0386BF}"/>
              </a:ext>
            </a:extLst>
          </p:cNvPr>
          <p:cNvSpPr/>
          <p:nvPr/>
        </p:nvSpPr>
        <p:spPr>
          <a:xfrm>
            <a:off x="596454" y="4427729"/>
            <a:ext cx="2221455" cy="1089806"/>
          </a:xfrm>
          <a:custGeom>
            <a:avLst/>
            <a:gdLst>
              <a:gd name="csX0" fmla="*/ 0 w 2221455"/>
              <a:gd name="csY0" fmla="*/ 544903 h 1089806"/>
              <a:gd name="csX1" fmla="*/ 1110728 w 2221455"/>
              <a:gd name="csY1" fmla="*/ 0 h 1089806"/>
              <a:gd name="csX2" fmla="*/ 2221456 w 2221455"/>
              <a:gd name="csY2" fmla="*/ 544903 h 1089806"/>
              <a:gd name="csX3" fmla="*/ 1110728 w 2221455"/>
              <a:gd name="csY3" fmla="*/ 1089806 h 1089806"/>
              <a:gd name="csX4" fmla="*/ 0 w 2221455"/>
              <a:gd name="csY4" fmla="*/ 544903 h 10898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21455" h="1089806" fill="none" extrusionOk="0">
                <a:moveTo>
                  <a:pt x="0" y="544903"/>
                </a:moveTo>
                <a:cubicBezTo>
                  <a:pt x="61548" y="185462"/>
                  <a:pt x="513789" y="1089"/>
                  <a:pt x="1110728" y="0"/>
                </a:cubicBezTo>
                <a:cubicBezTo>
                  <a:pt x="1733044" y="15175"/>
                  <a:pt x="2175021" y="242963"/>
                  <a:pt x="2221456" y="544903"/>
                </a:cubicBezTo>
                <a:cubicBezTo>
                  <a:pt x="2260812" y="851552"/>
                  <a:pt x="1677886" y="1068685"/>
                  <a:pt x="1110728" y="1089806"/>
                </a:cubicBezTo>
                <a:cubicBezTo>
                  <a:pt x="451043" y="1103607"/>
                  <a:pt x="11168" y="830706"/>
                  <a:pt x="0" y="544903"/>
                </a:cubicBezTo>
                <a:close/>
              </a:path>
              <a:path w="2221455" h="1089806" stroke="0" extrusionOk="0">
                <a:moveTo>
                  <a:pt x="0" y="544903"/>
                </a:moveTo>
                <a:cubicBezTo>
                  <a:pt x="-18204" y="275898"/>
                  <a:pt x="458480" y="-16026"/>
                  <a:pt x="1110728" y="0"/>
                </a:cubicBezTo>
                <a:cubicBezTo>
                  <a:pt x="1729650" y="-810"/>
                  <a:pt x="2199954" y="283122"/>
                  <a:pt x="2221456" y="544903"/>
                </a:cubicBezTo>
                <a:cubicBezTo>
                  <a:pt x="2145818" y="871126"/>
                  <a:pt x="1676176" y="1146554"/>
                  <a:pt x="1110728" y="1089806"/>
                </a:cubicBezTo>
                <a:cubicBezTo>
                  <a:pt x="531288" y="1067804"/>
                  <a:pt x="-27834" y="852230"/>
                  <a:pt x="0" y="544903"/>
                </a:cubicBezTo>
                <a:close/>
              </a:path>
            </a:pathLst>
          </a:custGeom>
          <a:solidFill>
            <a:srgbClr val="E2DED2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flowChartConnector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Change perspective</a:t>
            </a:r>
            <a:endParaRPr lang="en-AU" sz="1600" b="1" i="1" dirty="0">
              <a:solidFill>
                <a:schemeClr val="tx1"/>
              </a:solidFill>
            </a:endParaRP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3F279CBF-8115-1BF8-4A39-4C5683A4FCF9}"/>
              </a:ext>
            </a:extLst>
          </p:cNvPr>
          <p:cNvSpPr/>
          <p:nvPr/>
        </p:nvSpPr>
        <p:spPr>
          <a:xfrm>
            <a:off x="3522333" y="4494565"/>
            <a:ext cx="2221455" cy="1089806"/>
          </a:xfrm>
          <a:custGeom>
            <a:avLst/>
            <a:gdLst>
              <a:gd name="csX0" fmla="*/ 0 w 2221455"/>
              <a:gd name="csY0" fmla="*/ 544903 h 1089806"/>
              <a:gd name="csX1" fmla="*/ 1110728 w 2221455"/>
              <a:gd name="csY1" fmla="*/ 0 h 1089806"/>
              <a:gd name="csX2" fmla="*/ 2221456 w 2221455"/>
              <a:gd name="csY2" fmla="*/ 544903 h 1089806"/>
              <a:gd name="csX3" fmla="*/ 1110728 w 2221455"/>
              <a:gd name="csY3" fmla="*/ 1089806 h 1089806"/>
              <a:gd name="csX4" fmla="*/ 0 w 2221455"/>
              <a:gd name="csY4" fmla="*/ 544903 h 10898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21455" h="1089806" fill="none" extrusionOk="0">
                <a:moveTo>
                  <a:pt x="0" y="544903"/>
                </a:moveTo>
                <a:cubicBezTo>
                  <a:pt x="61548" y="185462"/>
                  <a:pt x="513789" y="1089"/>
                  <a:pt x="1110728" y="0"/>
                </a:cubicBezTo>
                <a:cubicBezTo>
                  <a:pt x="1733044" y="15175"/>
                  <a:pt x="2175021" y="242963"/>
                  <a:pt x="2221456" y="544903"/>
                </a:cubicBezTo>
                <a:cubicBezTo>
                  <a:pt x="2260812" y="851552"/>
                  <a:pt x="1677886" y="1068685"/>
                  <a:pt x="1110728" y="1089806"/>
                </a:cubicBezTo>
                <a:cubicBezTo>
                  <a:pt x="451043" y="1103607"/>
                  <a:pt x="11168" y="830706"/>
                  <a:pt x="0" y="544903"/>
                </a:cubicBezTo>
                <a:close/>
              </a:path>
              <a:path w="2221455" h="1089806" stroke="0" extrusionOk="0">
                <a:moveTo>
                  <a:pt x="0" y="544903"/>
                </a:moveTo>
                <a:cubicBezTo>
                  <a:pt x="-18204" y="275898"/>
                  <a:pt x="458480" y="-16026"/>
                  <a:pt x="1110728" y="0"/>
                </a:cubicBezTo>
                <a:cubicBezTo>
                  <a:pt x="1729650" y="-810"/>
                  <a:pt x="2199954" y="283122"/>
                  <a:pt x="2221456" y="544903"/>
                </a:cubicBezTo>
                <a:cubicBezTo>
                  <a:pt x="2145818" y="871126"/>
                  <a:pt x="1676176" y="1146554"/>
                  <a:pt x="1110728" y="1089806"/>
                </a:cubicBezTo>
                <a:cubicBezTo>
                  <a:pt x="531288" y="1067804"/>
                  <a:pt x="-27834" y="852230"/>
                  <a:pt x="0" y="544903"/>
                </a:cubicBezTo>
                <a:close/>
              </a:path>
            </a:pathLst>
          </a:custGeom>
          <a:solidFill>
            <a:srgbClr val="E8B538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flowChartConnector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highlight certain ideas</a:t>
            </a:r>
            <a:endParaRPr lang="en-AU" sz="1600" b="1" i="1" dirty="0">
              <a:solidFill>
                <a:schemeClr val="tx1"/>
              </a:solidFill>
            </a:endParaRP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57CF2409-7B40-AAB2-796A-AFF5EEA07E59}"/>
              </a:ext>
            </a:extLst>
          </p:cNvPr>
          <p:cNvSpPr/>
          <p:nvPr/>
        </p:nvSpPr>
        <p:spPr>
          <a:xfrm>
            <a:off x="6586253" y="4494565"/>
            <a:ext cx="2221455" cy="1089806"/>
          </a:xfrm>
          <a:custGeom>
            <a:avLst/>
            <a:gdLst>
              <a:gd name="csX0" fmla="*/ 0 w 2221455"/>
              <a:gd name="csY0" fmla="*/ 544903 h 1089806"/>
              <a:gd name="csX1" fmla="*/ 1110728 w 2221455"/>
              <a:gd name="csY1" fmla="*/ 0 h 1089806"/>
              <a:gd name="csX2" fmla="*/ 2221456 w 2221455"/>
              <a:gd name="csY2" fmla="*/ 544903 h 1089806"/>
              <a:gd name="csX3" fmla="*/ 1110728 w 2221455"/>
              <a:gd name="csY3" fmla="*/ 1089806 h 1089806"/>
              <a:gd name="csX4" fmla="*/ 0 w 2221455"/>
              <a:gd name="csY4" fmla="*/ 544903 h 10898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21455" h="1089806" fill="none" extrusionOk="0">
                <a:moveTo>
                  <a:pt x="0" y="544903"/>
                </a:moveTo>
                <a:cubicBezTo>
                  <a:pt x="61548" y="185462"/>
                  <a:pt x="513789" y="1089"/>
                  <a:pt x="1110728" y="0"/>
                </a:cubicBezTo>
                <a:cubicBezTo>
                  <a:pt x="1733044" y="15175"/>
                  <a:pt x="2175021" y="242963"/>
                  <a:pt x="2221456" y="544903"/>
                </a:cubicBezTo>
                <a:cubicBezTo>
                  <a:pt x="2260812" y="851552"/>
                  <a:pt x="1677886" y="1068685"/>
                  <a:pt x="1110728" y="1089806"/>
                </a:cubicBezTo>
                <a:cubicBezTo>
                  <a:pt x="451043" y="1103607"/>
                  <a:pt x="11168" y="830706"/>
                  <a:pt x="0" y="544903"/>
                </a:cubicBezTo>
                <a:close/>
              </a:path>
              <a:path w="2221455" h="1089806" stroke="0" extrusionOk="0">
                <a:moveTo>
                  <a:pt x="0" y="544903"/>
                </a:moveTo>
                <a:cubicBezTo>
                  <a:pt x="-18204" y="275898"/>
                  <a:pt x="458480" y="-16026"/>
                  <a:pt x="1110728" y="0"/>
                </a:cubicBezTo>
                <a:cubicBezTo>
                  <a:pt x="1729650" y="-810"/>
                  <a:pt x="2199954" y="283122"/>
                  <a:pt x="2221456" y="544903"/>
                </a:cubicBezTo>
                <a:cubicBezTo>
                  <a:pt x="2145818" y="871126"/>
                  <a:pt x="1676176" y="1146554"/>
                  <a:pt x="1110728" y="1089806"/>
                </a:cubicBezTo>
                <a:cubicBezTo>
                  <a:pt x="531288" y="1067804"/>
                  <a:pt x="-27834" y="852230"/>
                  <a:pt x="0" y="544903"/>
                </a:cubicBezTo>
                <a:close/>
              </a:path>
            </a:pathLst>
          </a:custGeom>
          <a:solidFill>
            <a:srgbClr val="E2DED2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flowChartConnector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challenge assumptions</a:t>
            </a:r>
            <a:endParaRPr lang="en-AU" sz="1600" b="1" i="1" dirty="0">
              <a:solidFill>
                <a:schemeClr val="tx1"/>
              </a:solidFill>
            </a:endParaRP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03E7C0CD-E577-8E24-4D60-380B0C349179}"/>
              </a:ext>
            </a:extLst>
          </p:cNvPr>
          <p:cNvSpPr/>
          <p:nvPr/>
        </p:nvSpPr>
        <p:spPr>
          <a:xfrm>
            <a:off x="9512132" y="4494565"/>
            <a:ext cx="2221455" cy="1089806"/>
          </a:xfrm>
          <a:custGeom>
            <a:avLst/>
            <a:gdLst>
              <a:gd name="csX0" fmla="*/ 0 w 2221455"/>
              <a:gd name="csY0" fmla="*/ 544903 h 1089806"/>
              <a:gd name="csX1" fmla="*/ 1110728 w 2221455"/>
              <a:gd name="csY1" fmla="*/ 0 h 1089806"/>
              <a:gd name="csX2" fmla="*/ 2221456 w 2221455"/>
              <a:gd name="csY2" fmla="*/ 544903 h 1089806"/>
              <a:gd name="csX3" fmla="*/ 1110728 w 2221455"/>
              <a:gd name="csY3" fmla="*/ 1089806 h 1089806"/>
              <a:gd name="csX4" fmla="*/ 0 w 2221455"/>
              <a:gd name="csY4" fmla="*/ 544903 h 10898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21455" h="1089806" fill="none" extrusionOk="0">
                <a:moveTo>
                  <a:pt x="0" y="544903"/>
                </a:moveTo>
                <a:cubicBezTo>
                  <a:pt x="61548" y="185462"/>
                  <a:pt x="513789" y="1089"/>
                  <a:pt x="1110728" y="0"/>
                </a:cubicBezTo>
                <a:cubicBezTo>
                  <a:pt x="1733044" y="15175"/>
                  <a:pt x="2175021" y="242963"/>
                  <a:pt x="2221456" y="544903"/>
                </a:cubicBezTo>
                <a:cubicBezTo>
                  <a:pt x="2260812" y="851552"/>
                  <a:pt x="1677886" y="1068685"/>
                  <a:pt x="1110728" y="1089806"/>
                </a:cubicBezTo>
                <a:cubicBezTo>
                  <a:pt x="451043" y="1103607"/>
                  <a:pt x="11168" y="830706"/>
                  <a:pt x="0" y="544903"/>
                </a:cubicBezTo>
                <a:close/>
              </a:path>
              <a:path w="2221455" h="1089806" stroke="0" extrusionOk="0">
                <a:moveTo>
                  <a:pt x="0" y="544903"/>
                </a:moveTo>
                <a:cubicBezTo>
                  <a:pt x="-18204" y="275898"/>
                  <a:pt x="458480" y="-16026"/>
                  <a:pt x="1110728" y="0"/>
                </a:cubicBezTo>
                <a:cubicBezTo>
                  <a:pt x="1729650" y="-810"/>
                  <a:pt x="2199954" y="283122"/>
                  <a:pt x="2221456" y="544903"/>
                </a:cubicBezTo>
                <a:cubicBezTo>
                  <a:pt x="2145818" y="871126"/>
                  <a:pt x="1676176" y="1146554"/>
                  <a:pt x="1110728" y="1089806"/>
                </a:cubicBezTo>
                <a:cubicBezTo>
                  <a:pt x="531288" y="1067804"/>
                  <a:pt x="-27834" y="852230"/>
                  <a:pt x="0" y="544903"/>
                </a:cubicBezTo>
                <a:close/>
              </a:path>
            </a:pathLst>
          </a:custGeom>
          <a:solidFill>
            <a:srgbClr val="E8B538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flowChartConnector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communicate viewpoints</a:t>
            </a:r>
            <a:endParaRPr lang="en-AU" sz="1600" b="1" i="1" dirty="0">
              <a:solidFill>
                <a:schemeClr val="tx1"/>
              </a:solidFill>
            </a:endParaRPr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9F29AD4B-9982-3161-2078-4D2A2B7128E1}"/>
              </a:ext>
            </a:extLst>
          </p:cNvPr>
          <p:cNvSpPr/>
          <p:nvPr/>
        </p:nvSpPr>
        <p:spPr>
          <a:xfrm rot="2563284">
            <a:off x="8778280" y="4083824"/>
            <a:ext cx="716330" cy="193409"/>
          </a:xfrm>
          <a:custGeom>
            <a:avLst/>
            <a:gdLst/>
            <a:ahLst/>
            <a:cxnLst/>
            <a:rect l="l" t="t" r="r" b="b"/>
            <a:pathLst>
              <a:path w="716330" h="193409">
                <a:moveTo>
                  <a:pt x="0" y="0"/>
                </a:moveTo>
                <a:lnTo>
                  <a:pt x="716329" y="0"/>
                </a:lnTo>
                <a:lnTo>
                  <a:pt x="716329" y="193409"/>
                </a:lnTo>
                <a:lnTo>
                  <a:pt x="0" y="1934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8C9C5DA7-C772-9BFB-19E8-FC6CE0F6FE5F}"/>
              </a:ext>
            </a:extLst>
          </p:cNvPr>
          <p:cNvSpPr/>
          <p:nvPr/>
        </p:nvSpPr>
        <p:spPr>
          <a:xfrm rot="4944075">
            <a:off x="7195598" y="3986141"/>
            <a:ext cx="716330" cy="193409"/>
          </a:xfrm>
          <a:custGeom>
            <a:avLst/>
            <a:gdLst/>
            <a:ahLst/>
            <a:cxnLst/>
            <a:rect l="l" t="t" r="r" b="b"/>
            <a:pathLst>
              <a:path w="716330" h="193409">
                <a:moveTo>
                  <a:pt x="0" y="0"/>
                </a:moveTo>
                <a:lnTo>
                  <a:pt x="716329" y="0"/>
                </a:lnTo>
                <a:lnTo>
                  <a:pt x="716329" y="193409"/>
                </a:lnTo>
                <a:lnTo>
                  <a:pt x="0" y="1934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24" name="Freeform 22">
            <a:extLst>
              <a:ext uri="{FF2B5EF4-FFF2-40B4-BE49-F238E27FC236}">
                <a16:creationId xmlns:a16="http://schemas.microsoft.com/office/drawing/2014/main" id="{1F6BC386-6345-AC02-B09C-4F51261E6B9D}"/>
              </a:ext>
            </a:extLst>
          </p:cNvPr>
          <p:cNvSpPr/>
          <p:nvPr/>
        </p:nvSpPr>
        <p:spPr>
          <a:xfrm rot="6206358">
            <a:off x="4423292" y="4030053"/>
            <a:ext cx="716330" cy="193409"/>
          </a:xfrm>
          <a:custGeom>
            <a:avLst/>
            <a:gdLst/>
            <a:ahLst/>
            <a:cxnLst/>
            <a:rect l="l" t="t" r="r" b="b"/>
            <a:pathLst>
              <a:path w="716330" h="193409">
                <a:moveTo>
                  <a:pt x="0" y="0"/>
                </a:moveTo>
                <a:lnTo>
                  <a:pt x="716329" y="0"/>
                </a:lnTo>
                <a:lnTo>
                  <a:pt x="716329" y="193409"/>
                </a:lnTo>
                <a:lnTo>
                  <a:pt x="0" y="1934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25" name="Freeform 22">
            <a:extLst>
              <a:ext uri="{FF2B5EF4-FFF2-40B4-BE49-F238E27FC236}">
                <a16:creationId xmlns:a16="http://schemas.microsoft.com/office/drawing/2014/main" id="{42A2E6ED-051A-19B6-300F-418EFFBA570E}"/>
              </a:ext>
            </a:extLst>
          </p:cNvPr>
          <p:cNvSpPr/>
          <p:nvPr/>
        </p:nvSpPr>
        <p:spPr>
          <a:xfrm rot="8102253">
            <a:off x="2618494" y="4009504"/>
            <a:ext cx="716330" cy="193409"/>
          </a:xfrm>
          <a:custGeom>
            <a:avLst/>
            <a:gdLst/>
            <a:ahLst/>
            <a:cxnLst/>
            <a:rect l="l" t="t" r="r" b="b"/>
            <a:pathLst>
              <a:path w="716330" h="193409">
                <a:moveTo>
                  <a:pt x="0" y="0"/>
                </a:moveTo>
                <a:lnTo>
                  <a:pt x="716329" y="0"/>
                </a:lnTo>
                <a:lnTo>
                  <a:pt x="716329" y="193409"/>
                </a:lnTo>
                <a:lnTo>
                  <a:pt x="0" y="1934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26" name="Freeform 9">
            <a:extLst>
              <a:ext uri="{FF2B5EF4-FFF2-40B4-BE49-F238E27FC236}">
                <a16:creationId xmlns:a16="http://schemas.microsoft.com/office/drawing/2014/main" id="{32274E08-2933-8A6B-0B9B-9F976B264B78}"/>
              </a:ext>
            </a:extLst>
          </p:cNvPr>
          <p:cNvSpPr/>
          <p:nvPr/>
        </p:nvSpPr>
        <p:spPr>
          <a:xfrm rot="10800000" flipV="1">
            <a:off x="1220959" y="2326986"/>
            <a:ext cx="7597948" cy="247057"/>
          </a:xfrm>
          <a:custGeom>
            <a:avLst/>
            <a:gdLst/>
            <a:ahLst/>
            <a:cxnLst/>
            <a:rect l="l" t="t" r="r" b="b"/>
            <a:pathLst>
              <a:path w="1682387" h="159827">
                <a:moveTo>
                  <a:pt x="0" y="0"/>
                </a:moveTo>
                <a:lnTo>
                  <a:pt x="1682387" y="0"/>
                </a:lnTo>
                <a:lnTo>
                  <a:pt x="1682387" y="159826"/>
                </a:lnTo>
                <a:lnTo>
                  <a:pt x="0" y="1598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DF458A-ADC3-292B-721E-1C15461C1716}"/>
              </a:ext>
            </a:extLst>
          </p:cNvPr>
          <p:cNvSpPr txBox="1"/>
          <p:nvPr/>
        </p:nvSpPr>
        <p:spPr>
          <a:xfrm>
            <a:off x="2947883" y="6008325"/>
            <a:ext cx="6098720" cy="537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2800" b="1" i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 lens is a way of seeing, not a style.</a:t>
            </a:r>
            <a:endParaRPr lang="en-AU" sz="2800" b="1" i="1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19">
            <a:extLst>
              <a:ext uri="{FF2B5EF4-FFF2-40B4-BE49-F238E27FC236}">
                <a16:creationId xmlns:a16="http://schemas.microsoft.com/office/drawing/2014/main" id="{EED7EA61-8830-879A-3A9E-69DB281526F0}"/>
              </a:ext>
            </a:extLst>
          </p:cNvPr>
          <p:cNvSpPr/>
          <p:nvPr/>
        </p:nvSpPr>
        <p:spPr>
          <a:xfrm rot="5294381">
            <a:off x="13918556" y="8652208"/>
            <a:ext cx="230038" cy="793234"/>
          </a:xfrm>
          <a:custGeom>
            <a:avLst/>
            <a:gdLst/>
            <a:ahLst/>
            <a:cxnLst/>
            <a:rect l="l" t="t" r="r" b="b"/>
            <a:pathLst>
              <a:path w="230038" h="793234">
                <a:moveTo>
                  <a:pt x="0" y="0"/>
                </a:moveTo>
                <a:lnTo>
                  <a:pt x="230038" y="0"/>
                </a:lnTo>
                <a:lnTo>
                  <a:pt x="230038" y="793234"/>
                </a:lnTo>
                <a:lnTo>
                  <a:pt x="0" y="7932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0" name="Freeform 19">
            <a:extLst>
              <a:ext uri="{FF2B5EF4-FFF2-40B4-BE49-F238E27FC236}">
                <a16:creationId xmlns:a16="http://schemas.microsoft.com/office/drawing/2014/main" id="{24E865FC-3D1C-9431-7F25-95100D80EC5B}"/>
              </a:ext>
            </a:extLst>
          </p:cNvPr>
          <p:cNvSpPr/>
          <p:nvPr/>
        </p:nvSpPr>
        <p:spPr>
          <a:xfrm rot="5294381">
            <a:off x="14070956" y="8804608"/>
            <a:ext cx="230038" cy="793234"/>
          </a:xfrm>
          <a:custGeom>
            <a:avLst/>
            <a:gdLst/>
            <a:ahLst/>
            <a:cxnLst/>
            <a:rect l="l" t="t" r="r" b="b"/>
            <a:pathLst>
              <a:path w="230038" h="793234">
                <a:moveTo>
                  <a:pt x="0" y="0"/>
                </a:moveTo>
                <a:lnTo>
                  <a:pt x="230038" y="0"/>
                </a:lnTo>
                <a:lnTo>
                  <a:pt x="230038" y="793234"/>
                </a:lnTo>
                <a:lnTo>
                  <a:pt x="0" y="7932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1" name="Freeform 18">
            <a:extLst>
              <a:ext uri="{FF2B5EF4-FFF2-40B4-BE49-F238E27FC236}">
                <a16:creationId xmlns:a16="http://schemas.microsoft.com/office/drawing/2014/main" id="{A80B8002-8544-3638-901A-C4CC2B7C7DD5}"/>
              </a:ext>
            </a:extLst>
          </p:cNvPr>
          <p:cNvSpPr/>
          <p:nvPr/>
        </p:nvSpPr>
        <p:spPr>
          <a:xfrm rot="5294381">
            <a:off x="6279329" y="8652208"/>
            <a:ext cx="230038" cy="793234"/>
          </a:xfrm>
          <a:custGeom>
            <a:avLst/>
            <a:gdLst/>
            <a:ahLst/>
            <a:cxnLst/>
            <a:rect l="l" t="t" r="r" b="b"/>
            <a:pathLst>
              <a:path w="230038" h="793234">
                <a:moveTo>
                  <a:pt x="0" y="0"/>
                </a:moveTo>
                <a:lnTo>
                  <a:pt x="230037" y="0"/>
                </a:lnTo>
                <a:lnTo>
                  <a:pt x="230037" y="793234"/>
                </a:lnTo>
                <a:lnTo>
                  <a:pt x="0" y="7932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3" name="Freeform 18">
            <a:extLst>
              <a:ext uri="{FF2B5EF4-FFF2-40B4-BE49-F238E27FC236}">
                <a16:creationId xmlns:a16="http://schemas.microsoft.com/office/drawing/2014/main" id="{91590217-00A6-24E3-B307-5E8383A85A8C}"/>
              </a:ext>
            </a:extLst>
          </p:cNvPr>
          <p:cNvSpPr/>
          <p:nvPr/>
        </p:nvSpPr>
        <p:spPr>
          <a:xfrm rot="5294381">
            <a:off x="6431729" y="8804608"/>
            <a:ext cx="230038" cy="793234"/>
          </a:xfrm>
          <a:custGeom>
            <a:avLst/>
            <a:gdLst/>
            <a:ahLst/>
            <a:cxnLst/>
            <a:rect l="l" t="t" r="r" b="b"/>
            <a:pathLst>
              <a:path w="230038" h="793234">
                <a:moveTo>
                  <a:pt x="0" y="0"/>
                </a:moveTo>
                <a:lnTo>
                  <a:pt x="230037" y="0"/>
                </a:lnTo>
                <a:lnTo>
                  <a:pt x="230037" y="793234"/>
                </a:lnTo>
                <a:lnTo>
                  <a:pt x="0" y="7932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4" name="Freeform 18">
            <a:extLst>
              <a:ext uri="{FF2B5EF4-FFF2-40B4-BE49-F238E27FC236}">
                <a16:creationId xmlns:a16="http://schemas.microsoft.com/office/drawing/2014/main" id="{4502F7E8-5B7C-69F7-56F6-2703C6663ABA}"/>
              </a:ext>
            </a:extLst>
          </p:cNvPr>
          <p:cNvSpPr/>
          <p:nvPr/>
        </p:nvSpPr>
        <p:spPr>
          <a:xfrm rot="5294381">
            <a:off x="6584129" y="8957008"/>
            <a:ext cx="230038" cy="793234"/>
          </a:xfrm>
          <a:custGeom>
            <a:avLst/>
            <a:gdLst/>
            <a:ahLst/>
            <a:cxnLst/>
            <a:rect l="l" t="t" r="r" b="b"/>
            <a:pathLst>
              <a:path w="230038" h="793234">
                <a:moveTo>
                  <a:pt x="0" y="0"/>
                </a:moveTo>
                <a:lnTo>
                  <a:pt x="230037" y="0"/>
                </a:lnTo>
                <a:lnTo>
                  <a:pt x="230037" y="793234"/>
                </a:lnTo>
                <a:lnTo>
                  <a:pt x="0" y="7932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115B6D27-9DAB-7D3B-1731-2A7DD2046279}"/>
              </a:ext>
            </a:extLst>
          </p:cNvPr>
          <p:cNvSpPr/>
          <p:nvPr/>
        </p:nvSpPr>
        <p:spPr>
          <a:xfrm rot="20730826" flipH="1">
            <a:off x="2505839" y="5894685"/>
            <a:ext cx="568073" cy="631192"/>
          </a:xfrm>
          <a:custGeom>
            <a:avLst/>
            <a:gdLst/>
            <a:ahLst/>
            <a:cxnLst/>
            <a:rect l="l" t="t" r="r" b="b"/>
            <a:pathLst>
              <a:path w="568073" h="631192">
                <a:moveTo>
                  <a:pt x="568073" y="0"/>
                </a:moveTo>
                <a:lnTo>
                  <a:pt x="0" y="0"/>
                </a:lnTo>
                <a:lnTo>
                  <a:pt x="0" y="631193"/>
                </a:lnTo>
                <a:lnTo>
                  <a:pt x="568073" y="631193"/>
                </a:lnTo>
                <a:lnTo>
                  <a:pt x="568073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5806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black and white text&#10;&#10;AI-generated content may be incorrect.">
            <a:extLst>
              <a:ext uri="{FF2B5EF4-FFF2-40B4-BE49-F238E27FC236}">
                <a16:creationId xmlns:a16="http://schemas.microsoft.com/office/drawing/2014/main" id="{03D87493-B1FE-58D7-E423-4FDF1BC8E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846" y="58561"/>
            <a:ext cx="5257141" cy="778012"/>
          </a:xfrm>
          <a:prstGeom prst="rect">
            <a:avLst/>
          </a:prstGeom>
        </p:spPr>
      </p:pic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96E8F4B8-E0AD-8AE2-4AD1-D667ED2E6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53" y="58561"/>
            <a:ext cx="5528202" cy="855830"/>
          </a:xfrm>
          <a:prstGeom prst="rect">
            <a:avLst/>
          </a:prstGeom>
        </p:spPr>
      </p:pic>
      <p:sp>
        <p:nvSpPr>
          <p:cNvPr id="6" name="Freeform 9">
            <a:extLst>
              <a:ext uri="{FF2B5EF4-FFF2-40B4-BE49-F238E27FC236}">
                <a16:creationId xmlns:a16="http://schemas.microsoft.com/office/drawing/2014/main" id="{11B78F59-07B9-0253-300E-877CE8DD3501}"/>
              </a:ext>
            </a:extLst>
          </p:cNvPr>
          <p:cNvSpPr/>
          <p:nvPr/>
        </p:nvSpPr>
        <p:spPr>
          <a:xfrm rot="16200000" flipV="1">
            <a:off x="3352048" y="3240950"/>
            <a:ext cx="5866828" cy="114959"/>
          </a:xfrm>
          <a:custGeom>
            <a:avLst/>
            <a:gdLst/>
            <a:ahLst/>
            <a:cxnLst/>
            <a:rect l="l" t="t" r="r" b="b"/>
            <a:pathLst>
              <a:path w="1682387" h="159827">
                <a:moveTo>
                  <a:pt x="0" y="0"/>
                </a:moveTo>
                <a:lnTo>
                  <a:pt x="1682387" y="0"/>
                </a:lnTo>
                <a:lnTo>
                  <a:pt x="1682387" y="159826"/>
                </a:lnTo>
                <a:lnTo>
                  <a:pt x="0" y="1598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5FC3CF-1882-0099-E91D-FEC643684BA7}"/>
              </a:ext>
            </a:extLst>
          </p:cNvPr>
          <p:cNvSpPr txBox="1"/>
          <p:nvPr/>
        </p:nvSpPr>
        <p:spPr>
          <a:xfrm>
            <a:off x="451932" y="1134278"/>
            <a:ext cx="4832243" cy="4940327"/>
          </a:xfrm>
          <a:custGeom>
            <a:avLst/>
            <a:gdLst>
              <a:gd name="csX0" fmla="*/ 0 w 4832243"/>
              <a:gd name="csY0" fmla="*/ 0 h 4940327"/>
              <a:gd name="csX1" fmla="*/ 4832243 w 4832243"/>
              <a:gd name="csY1" fmla="*/ 0 h 4940327"/>
              <a:gd name="csX2" fmla="*/ 4832243 w 4832243"/>
              <a:gd name="csY2" fmla="*/ 4940327 h 4940327"/>
              <a:gd name="csX3" fmla="*/ 0 w 4832243"/>
              <a:gd name="csY3" fmla="*/ 4940327 h 4940327"/>
              <a:gd name="csX4" fmla="*/ 0 w 4832243"/>
              <a:gd name="csY4" fmla="*/ 0 h 49403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832243" h="4940327" extrusionOk="0">
                <a:moveTo>
                  <a:pt x="0" y="0"/>
                </a:moveTo>
                <a:cubicBezTo>
                  <a:pt x="1610214" y="-5264"/>
                  <a:pt x="2654120" y="84467"/>
                  <a:pt x="4832243" y="0"/>
                </a:cubicBezTo>
                <a:cubicBezTo>
                  <a:pt x="4704070" y="2142894"/>
                  <a:pt x="4961393" y="4185743"/>
                  <a:pt x="4832243" y="4940327"/>
                </a:cubicBezTo>
                <a:cubicBezTo>
                  <a:pt x="4004669" y="5046647"/>
                  <a:pt x="1075855" y="4932678"/>
                  <a:pt x="0" y="4940327"/>
                </a:cubicBezTo>
                <a:cubicBezTo>
                  <a:pt x="160128" y="4325106"/>
                  <a:pt x="25049" y="1688271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50216993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Artists and audiences understand artworks through different contexts:</a:t>
            </a:r>
          </a:p>
          <a:p>
            <a:endParaRPr lang="en-US" sz="1600" dirty="0"/>
          </a:p>
          <a:p>
            <a:r>
              <a:rPr lang="en-US" sz="1600" b="1" dirty="0"/>
              <a:t>Personal Context</a:t>
            </a:r>
            <a:br>
              <a:rPr lang="en-US" sz="1600" dirty="0"/>
            </a:br>
            <a:r>
              <a:rPr lang="en-US" sz="1600" dirty="0"/>
              <a:t>The artist’s identity, experiences, memories, relationships, and environment.</a:t>
            </a:r>
          </a:p>
          <a:p>
            <a:endParaRPr lang="en-US" sz="1600" dirty="0"/>
          </a:p>
          <a:p>
            <a:r>
              <a:rPr lang="en-US" sz="1600" b="1" dirty="0"/>
              <a:t>Cultural Context</a:t>
            </a:r>
            <a:br>
              <a:rPr lang="en-US" sz="1600" dirty="0"/>
            </a:br>
            <a:r>
              <a:rPr lang="en-US" sz="1600" dirty="0"/>
              <a:t>Beliefs, traditions, and values connected to communities and societies.</a:t>
            </a:r>
          </a:p>
          <a:p>
            <a:endParaRPr lang="en-US" sz="1600" dirty="0"/>
          </a:p>
          <a:p>
            <a:r>
              <a:rPr lang="en-US" sz="1600" b="1" dirty="0"/>
              <a:t>Contemporary Context</a:t>
            </a:r>
            <a:br>
              <a:rPr lang="en-US" sz="1600" dirty="0"/>
            </a:br>
            <a:r>
              <a:rPr lang="en-US" sz="1600" dirty="0"/>
              <a:t>Issues, ideas, materials, and concerns relevant to today’s world.</a:t>
            </a:r>
          </a:p>
          <a:p>
            <a:endParaRPr lang="en-US" sz="1600" dirty="0"/>
          </a:p>
          <a:p>
            <a:r>
              <a:rPr lang="en-US" sz="1600" b="1" dirty="0"/>
              <a:t>Formal Context</a:t>
            </a:r>
            <a:br>
              <a:rPr lang="en-US" sz="1600" dirty="0"/>
            </a:br>
            <a:r>
              <a:rPr lang="en-US" sz="1600" dirty="0"/>
              <a:t>Visual language such as elements, principles, composition, materials, and techniques.</a:t>
            </a:r>
          </a:p>
          <a:p>
            <a:pPr>
              <a:lnSpc>
                <a:spcPct val="200000"/>
              </a:lnSpc>
            </a:pPr>
            <a:endParaRPr lang="en-AU" sz="1600" kern="100" dirty="0">
              <a:effectLst/>
              <a:latin typeface="HK Grotesk Bold" panose="020B0604020202020204" charset="0"/>
              <a:ea typeface="Aptos" panose="020B0004020202020204" pitchFamily="34" charset="0"/>
              <a:cs typeface="Hadassah Friedlaender" panose="02020603050405020304" pitchFamily="18" charset="-79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E45D8F-3021-FAAD-6376-4ED9A130D289}"/>
              </a:ext>
            </a:extLst>
          </p:cNvPr>
          <p:cNvSpPr txBox="1"/>
          <p:nvPr/>
        </p:nvSpPr>
        <p:spPr>
          <a:xfrm>
            <a:off x="6984744" y="1066987"/>
            <a:ext cx="4832243" cy="4940327"/>
          </a:xfrm>
          <a:custGeom>
            <a:avLst/>
            <a:gdLst>
              <a:gd name="csX0" fmla="*/ 0 w 4832243"/>
              <a:gd name="csY0" fmla="*/ 0 h 4940327"/>
              <a:gd name="csX1" fmla="*/ 4832243 w 4832243"/>
              <a:gd name="csY1" fmla="*/ 0 h 4940327"/>
              <a:gd name="csX2" fmla="*/ 4832243 w 4832243"/>
              <a:gd name="csY2" fmla="*/ 4940327 h 4940327"/>
              <a:gd name="csX3" fmla="*/ 0 w 4832243"/>
              <a:gd name="csY3" fmla="*/ 4940327 h 4940327"/>
              <a:gd name="csX4" fmla="*/ 0 w 4832243"/>
              <a:gd name="csY4" fmla="*/ 0 h 49403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832243" h="4940327" extrusionOk="0">
                <a:moveTo>
                  <a:pt x="0" y="0"/>
                </a:moveTo>
                <a:cubicBezTo>
                  <a:pt x="1610214" y="-5264"/>
                  <a:pt x="2654120" y="84467"/>
                  <a:pt x="4832243" y="0"/>
                </a:cubicBezTo>
                <a:cubicBezTo>
                  <a:pt x="4704070" y="2142894"/>
                  <a:pt x="4961393" y="4185743"/>
                  <a:pt x="4832243" y="4940327"/>
                </a:cubicBezTo>
                <a:cubicBezTo>
                  <a:pt x="4004669" y="5046647"/>
                  <a:pt x="1075855" y="4932678"/>
                  <a:pt x="0" y="4940327"/>
                </a:cubicBezTo>
                <a:cubicBezTo>
                  <a:pt x="160128" y="4325106"/>
                  <a:pt x="25049" y="1688271"/>
                  <a:pt x="0" y="0"/>
                </a:cubicBezTo>
                <a:close/>
              </a:path>
            </a:pathLst>
          </a:custGeom>
          <a:solidFill>
            <a:srgbClr val="E8B538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50216993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IN THIS UNIT </a:t>
            </a:r>
          </a:p>
          <a:p>
            <a:pPr algn="ctr"/>
            <a:endParaRPr lang="en-US" b="1" dirty="0"/>
          </a:p>
          <a:p>
            <a:r>
              <a:rPr lang="en-US" dirty="0"/>
              <a:t>Your work will be shaped by two key contexts: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Personal Context</a:t>
            </a:r>
          </a:p>
          <a:p>
            <a:r>
              <a:rPr lang="en-US" dirty="0"/>
              <a:t>Your memories, identity, experiences, relationships, and environment.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Contemporary Context</a:t>
            </a:r>
          </a:p>
          <a:p>
            <a:r>
              <a:rPr lang="en-US" dirty="0"/>
              <a:t>How artists respond to issues, ideas, materials, and concerns in today’s world.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These contexts influence both: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 the artists you study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the artworks you make</a:t>
            </a:r>
          </a:p>
          <a:p>
            <a:pPr>
              <a:lnSpc>
                <a:spcPct val="200000"/>
              </a:lnSpc>
            </a:pPr>
            <a:endParaRPr lang="en-AU" sz="1600" kern="100" dirty="0">
              <a:effectLst/>
              <a:latin typeface="HK Grotesk Bold" panose="020B0604020202020204" charset="0"/>
              <a:ea typeface="Aptos" panose="020B0004020202020204" pitchFamily="34" charset="0"/>
              <a:cs typeface="Hadassah Friedlaender" panose="02020603050405020304" pitchFamily="18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67130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B08D96-379F-2A48-EEC6-5D6814FFB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" y="0"/>
            <a:ext cx="8618640" cy="9797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A27988-40C1-D06F-21DA-5B8C13C36958}"/>
              </a:ext>
            </a:extLst>
          </p:cNvPr>
          <p:cNvSpPr txBox="1"/>
          <p:nvPr/>
        </p:nvSpPr>
        <p:spPr>
          <a:xfrm>
            <a:off x="1927391" y="979714"/>
            <a:ext cx="6922696" cy="41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Artists do not create in isolation. Ideas travel through time.</a:t>
            </a:r>
            <a:endParaRPr lang="en-AU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This may contain: a man walking on top of a giant clock">
            <a:extLst>
              <a:ext uri="{FF2B5EF4-FFF2-40B4-BE49-F238E27FC236}">
                <a16:creationId xmlns:a16="http://schemas.microsoft.com/office/drawing/2014/main" id="{A447CD24-41CD-C6F0-91CB-F9AD5A66D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340" y="179613"/>
            <a:ext cx="3644537" cy="4555671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20E228-B5BF-4F0C-78EE-2F008EB25EA3}"/>
              </a:ext>
            </a:extLst>
          </p:cNvPr>
          <p:cNvSpPr txBox="1"/>
          <p:nvPr/>
        </p:nvSpPr>
        <p:spPr>
          <a:xfrm>
            <a:off x="105123" y="2239867"/>
            <a:ext cx="6098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b="1" kern="0" dirty="0">
                <a:effectLst/>
                <a:ea typeface="Times New Roman" panose="02020603050405020304" pitchFamily="18" charset="0"/>
              </a:rPr>
              <a:t>You will explore reverse chronology, which means:</a:t>
            </a:r>
            <a:br>
              <a:rPr lang="en-AU" sz="2000" b="1" kern="0" dirty="0">
                <a:effectLst/>
                <a:ea typeface="Times New Roman" panose="02020603050405020304" pitchFamily="18" charset="0"/>
              </a:rPr>
            </a:br>
            <a:endParaRPr lang="en-AU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4813BE-2443-2225-0291-8E085947CA9E}"/>
              </a:ext>
            </a:extLst>
          </p:cNvPr>
          <p:cNvSpPr txBox="1"/>
          <p:nvPr/>
        </p:nvSpPr>
        <p:spPr>
          <a:xfrm>
            <a:off x="292554" y="2881863"/>
            <a:ext cx="8605159" cy="41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2000" b="1" i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Contemporary Artist </a:t>
            </a:r>
            <a:r>
              <a:rPr lang="en-AU" sz="2000" b="1" i="1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	       </a:t>
            </a:r>
            <a:r>
              <a:rPr lang="en-AU" sz="2000" b="1" i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Historical Influence </a:t>
            </a:r>
            <a:r>
              <a:rPr lang="en-AU" sz="2000" b="1" i="1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	              </a:t>
            </a:r>
            <a:r>
              <a:rPr lang="en-AU" sz="2000" b="1" i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Your Work</a:t>
            </a:r>
            <a:endParaRPr lang="en-AU" sz="2000" b="1" i="1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Freeform 14">
            <a:extLst>
              <a:ext uri="{FF2B5EF4-FFF2-40B4-BE49-F238E27FC236}">
                <a16:creationId xmlns:a16="http://schemas.microsoft.com/office/drawing/2014/main" id="{97FE7A73-5E6A-4FBB-BA22-B10005F04198}"/>
              </a:ext>
            </a:extLst>
          </p:cNvPr>
          <p:cNvSpPr/>
          <p:nvPr/>
        </p:nvSpPr>
        <p:spPr>
          <a:xfrm>
            <a:off x="2744782" y="2947753"/>
            <a:ext cx="602955" cy="322581"/>
          </a:xfrm>
          <a:custGeom>
            <a:avLst/>
            <a:gdLst/>
            <a:ahLst/>
            <a:cxnLst/>
            <a:rect l="l" t="t" r="r" b="b"/>
            <a:pathLst>
              <a:path w="602955" h="322581">
                <a:moveTo>
                  <a:pt x="0" y="0"/>
                </a:moveTo>
                <a:lnTo>
                  <a:pt x="602955" y="0"/>
                </a:lnTo>
                <a:lnTo>
                  <a:pt x="602955" y="322581"/>
                </a:lnTo>
                <a:lnTo>
                  <a:pt x="0" y="3225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1" name="Freeform 14">
            <a:extLst>
              <a:ext uri="{FF2B5EF4-FFF2-40B4-BE49-F238E27FC236}">
                <a16:creationId xmlns:a16="http://schemas.microsoft.com/office/drawing/2014/main" id="{8B4A98E5-D16A-DF25-E561-B9793009B33A}"/>
              </a:ext>
            </a:extLst>
          </p:cNvPr>
          <p:cNvSpPr/>
          <p:nvPr/>
        </p:nvSpPr>
        <p:spPr>
          <a:xfrm>
            <a:off x="5889770" y="2947753"/>
            <a:ext cx="602955" cy="322581"/>
          </a:xfrm>
          <a:custGeom>
            <a:avLst/>
            <a:gdLst/>
            <a:ahLst/>
            <a:cxnLst/>
            <a:rect l="l" t="t" r="r" b="b"/>
            <a:pathLst>
              <a:path w="602955" h="322581">
                <a:moveTo>
                  <a:pt x="0" y="0"/>
                </a:moveTo>
                <a:lnTo>
                  <a:pt x="602955" y="0"/>
                </a:lnTo>
                <a:lnTo>
                  <a:pt x="602955" y="322581"/>
                </a:lnTo>
                <a:lnTo>
                  <a:pt x="0" y="3225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0D663E-D906-67B1-102A-AC375A8EDF63}"/>
              </a:ext>
            </a:extLst>
          </p:cNvPr>
          <p:cNvSpPr txBox="1"/>
          <p:nvPr/>
        </p:nvSpPr>
        <p:spPr>
          <a:xfrm>
            <a:off x="1082450" y="4004939"/>
            <a:ext cx="7025368" cy="2215355"/>
          </a:xfrm>
          <a:custGeom>
            <a:avLst/>
            <a:gdLst>
              <a:gd name="csX0" fmla="*/ 0 w 7025368"/>
              <a:gd name="csY0" fmla="*/ 1107678 h 2215355"/>
              <a:gd name="csX1" fmla="*/ 3512684 w 7025368"/>
              <a:gd name="csY1" fmla="*/ 0 h 2215355"/>
              <a:gd name="csX2" fmla="*/ 7025368 w 7025368"/>
              <a:gd name="csY2" fmla="*/ 1107678 h 2215355"/>
              <a:gd name="csX3" fmla="*/ 3512684 w 7025368"/>
              <a:gd name="csY3" fmla="*/ 2215356 h 2215355"/>
              <a:gd name="csX4" fmla="*/ 0 w 7025368"/>
              <a:gd name="csY4" fmla="*/ 1107678 h 22153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025368" h="2215355" extrusionOk="0">
                <a:moveTo>
                  <a:pt x="0" y="1107678"/>
                </a:moveTo>
                <a:cubicBezTo>
                  <a:pt x="29137" y="545553"/>
                  <a:pt x="1522435" y="-61775"/>
                  <a:pt x="3512684" y="0"/>
                </a:cubicBezTo>
                <a:cubicBezTo>
                  <a:pt x="5445238" y="-4094"/>
                  <a:pt x="6928751" y="530898"/>
                  <a:pt x="7025368" y="1107678"/>
                </a:cubicBezTo>
                <a:cubicBezTo>
                  <a:pt x="7068256" y="1677460"/>
                  <a:pt x="5216317" y="2318255"/>
                  <a:pt x="3512684" y="2215356"/>
                </a:cubicBezTo>
                <a:cubicBezTo>
                  <a:pt x="1577896" y="2255366"/>
                  <a:pt x="118952" y="1726625"/>
                  <a:pt x="0" y="1107678"/>
                </a:cubicBezTo>
                <a:close/>
              </a:path>
            </a:pathLst>
          </a:custGeom>
          <a:solidFill>
            <a:srgbClr val="E2DED2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0699922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This helps you understand: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AU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how ideas evolve</a:t>
            </a:r>
            <a:endParaRPr lang="en-AU" kern="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AU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how artists build on earlier practices</a:t>
            </a:r>
            <a:endParaRPr lang="en-AU" kern="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AU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how your work sits within a lineage of thinking</a:t>
            </a:r>
            <a:endParaRPr lang="en-AU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Freeform 12">
            <a:extLst>
              <a:ext uri="{FF2B5EF4-FFF2-40B4-BE49-F238E27FC236}">
                <a16:creationId xmlns:a16="http://schemas.microsoft.com/office/drawing/2014/main" id="{0EC306A8-748F-CC5A-AAD3-7E590E2BB8A0}"/>
              </a:ext>
            </a:extLst>
          </p:cNvPr>
          <p:cNvSpPr/>
          <p:nvPr/>
        </p:nvSpPr>
        <p:spPr>
          <a:xfrm>
            <a:off x="6349069" y="3370989"/>
            <a:ext cx="1948045" cy="185064"/>
          </a:xfrm>
          <a:custGeom>
            <a:avLst/>
            <a:gdLst/>
            <a:ahLst/>
            <a:cxnLst/>
            <a:rect l="l" t="t" r="r" b="b"/>
            <a:pathLst>
              <a:path w="1948045" h="185064">
                <a:moveTo>
                  <a:pt x="0" y="0"/>
                </a:moveTo>
                <a:lnTo>
                  <a:pt x="1948046" y="0"/>
                </a:lnTo>
                <a:lnTo>
                  <a:pt x="1948046" y="185064"/>
                </a:lnTo>
                <a:lnTo>
                  <a:pt x="0" y="1850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4955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black text&#10;&#10;AI-generated content may be incorrect.">
            <a:extLst>
              <a:ext uri="{FF2B5EF4-FFF2-40B4-BE49-F238E27FC236}">
                <a16:creationId xmlns:a16="http://schemas.microsoft.com/office/drawing/2014/main" id="{7A82F9D4-A1BD-B225-0E0D-10BC1FCB2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227382" cy="9307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D327EB-483F-EC5B-DA82-9DDF99EEA354}"/>
              </a:ext>
            </a:extLst>
          </p:cNvPr>
          <p:cNvSpPr txBox="1"/>
          <p:nvPr/>
        </p:nvSpPr>
        <p:spPr>
          <a:xfrm>
            <a:off x="3375252" y="1001887"/>
            <a:ext cx="5441495" cy="41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20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You will experiment with different lenses:</a:t>
            </a:r>
            <a:endParaRPr lang="en-AU" sz="2000" b="1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1348C0-DE5A-C70B-1CEA-6548E6DADF12}"/>
              </a:ext>
            </a:extLst>
          </p:cNvPr>
          <p:cNvSpPr/>
          <p:nvPr/>
        </p:nvSpPr>
        <p:spPr>
          <a:xfrm>
            <a:off x="6982504" y="1819908"/>
            <a:ext cx="3668485" cy="1453809"/>
          </a:xfrm>
          <a:custGeom>
            <a:avLst/>
            <a:gdLst>
              <a:gd name="csX0" fmla="*/ 0 w 3668485"/>
              <a:gd name="csY0" fmla="*/ 0 h 1453809"/>
              <a:gd name="csX1" fmla="*/ 3668485 w 3668485"/>
              <a:gd name="csY1" fmla="*/ 0 h 1453809"/>
              <a:gd name="csX2" fmla="*/ 3668485 w 3668485"/>
              <a:gd name="csY2" fmla="*/ 1453809 h 1453809"/>
              <a:gd name="csX3" fmla="*/ 0 w 3668485"/>
              <a:gd name="csY3" fmla="*/ 1453809 h 1453809"/>
              <a:gd name="csX4" fmla="*/ 0 w 3668485"/>
              <a:gd name="csY4" fmla="*/ 0 h 14538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668485" h="1453809" fill="none" extrusionOk="0">
                <a:moveTo>
                  <a:pt x="0" y="0"/>
                </a:moveTo>
                <a:cubicBezTo>
                  <a:pt x="610848" y="99984"/>
                  <a:pt x="2191384" y="-75286"/>
                  <a:pt x="3668485" y="0"/>
                </a:cubicBezTo>
                <a:cubicBezTo>
                  <a:pt x="3638877" y="308475"/>
                  <a:pt x="3710213" y="1195161"/>
                  <a:pt x="3668485" y="1453809"/>
                </a:cubicBezTo>
                <a:cubicBezTo>
                  <a:pt x="2959774" y="1381432"/>
                  <a:pt x="1751164" y="1610449"/>
                  <a:pt x="0" y="1453809"/>
                </a:cubicBezTo>
                <a:cubicBezTo>
                  <a:pt x="-61484" y="993918"/>
                  <a:pt x="-100865" y="205236"/>
                  <a:pt x="0" y="0"/>
                </a:cubicBezTo>
                <a:close/>
              </a:path>
              <a:path w="3668485" h="1453809" stroke="0" extrusionOk="0">
                <a:moveTo>
                  <a:pt x="0" y="0"/>
                </a:moveTo>
                <a:cubicBezTo>
                  <a:pt x="990057" y="-42197"/>
                  <a:pt x="2183297" y="-104829"/>
                  <a:pt x="3668485" y="0"/>
                </a:cubicBezTo>
                <a:cubicBezTo>
                  <a:pt x="3729444" y="446462"/>
                  <a:pt x="3670844" y="900552"/>
                  <a:pt x="3668485" y="1453809"/>
                </a:cubicBezTo>
                <a:cubicBezTo>
                  <a:pt x="2476233" y="1373486"/>
                  <a:pt x="1088685" y="1300878"/>
                  <a:pt x="0" y="1453809"/>
                </a:cubicBezTo>
                <a:cubicBezTo>
                  <a:pt x="-100913" y="956061"/>
                  <a:pt x="93052" y="616255"/>
                  <a:pt x="0" y="0"/>
                </a:cubicBezTo>
                <a:close/>
              </a:path>
            </a:pathLst>
          </a:custGeom>
          <a:solidFill>
            <a:srgbClr val="E2DED2"/>
          </a:solidFill>
          <a:ln>
            <a:solidFill>
              <a:schemeClr val="bg1">
                <a:lumMod val="5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540634549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</a:pPr>
            <a:r>
              <a:rPr lang="en-AU" sz="1600" dirty="0"/>
              <a:t>Experiment: </a:t>
            </a:r>
            <a:r>
              <a:rPr lang="en-AU" sz="1600" b="1" dirty="0"/>
              <a:t>People</a:t>
            </a:r>
          </a:p>
          <a:p>
            <a:pPr>
              <a:lnSpc>
                <a:spcPct val="107000"/>
              </a:lnSpc>
            </a:pPr>
            <a:br>
              <a:rPr lang="en-AU" sz="1600" dirty="0"/>
            </a:br>
            <a:r>
              <a:rPr lang="en-AU" sz="1600" dirty="0"/>
              <a:t>Focus: Identity and inner experience</a:t>
            </a:r>
            <a:br>
              <a:rPr lang="en-AU" sz="1600" dirty="0"/>
            </a:br>
            <a:r>
              <a:rPr lang="en-AU" sz="1600" dirty="0"/>
              <a:t>Lens: Psychological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AU" sz="1600" dirty="0"/>
          </a:p>
          <a:p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5DBE4F-D7C4-F31E-A400-639C84BD53F9}"/>
              </a:ext>
            </a:extLst>
          </p:cNvPr>
          <p:cNvSpPr/>
          <p:nvPr/>
        </p:nvSpPr>
        <p:spPr>
          <a:xfrm>
            <a:off x="8298710" y="4014169"/>
            <a:ext cx="3592286" cy="1453809"/>
          </a:xfrm>
          <a:custGeom>
            <a:avLst/>
            <a:gdLst>
              <a:gd name="csX0" fmla="*/ 0 w 3592286"/>
              <a:gd name="csY0" fmla="*/ 0 h 1453809"/>
              <a:gd name="csX1" fmla="*/ 3592286 w 3592286"/>
              <a:gd name="csY1" fmla="*/ 0 h 1453809"/>
              <a:gd name="csX2" fmla="*/ 3592286 w 3592286"/>
              <a:gd name="csY2" fmla="*/ 1453809 h 1453809"/>
              <a:gd name="csX3" fmla="*/ 0 w 3592286"/>
              <a:gd name="csY3" fmla="*/ 1453809 h 1453809"/>
              <a:gd name="csX4" fmla="*/ 0 w 3592286"/>
              <a:gd name="csY4" fmla="*/ 0 h 14538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92286" h="1453809" fill="none" extrusionOk="0">
                <a:moveTo>
                  <a:pt x="0" y="0"/>
                </a:moveTo>
                <a:cubicBezTo>
                  <a:pt x="1251488" y="99984"/>
                  <a:pt x="3176328" y="-75286"/>
                  <a:pt x="3592286" y="0"/>
                </a:cubicBezTo>
                <a:cubicBezTo>
                  <a:pt x="3562678" y="308475"/>
                  <a:pt x="3634014" y="1195161"/>
                  <a:pt x="3592286" y="1453809"/>
                </a:cubicBezTo>
                <a:cubicBezTo>
                  <a:pt x="2812878" y="1381432"/>
                  <a:pt x="686345" y="1610449"/>
                  <a:pt x="0" y="1453809"/>
                </a:cubicBezTo>
                <a:cubicBezTo>
                  <a:pt x="-61484" y="993918"/>
                  <a:pt x="-100865" y="205236"/>
                  <a:pt x="0" y="0"/>
                </a:cubicBezTo>
                <a:close/>
              </a:path>
              <a:path w="3592286" h="1453809" stroke="0" extrusionOk="0">
                <a:moveTo>
                  <a:pt x="0" y="0"/>
                </a:moveTo>
                <a:cubicBezTo>
                  <a:pt x="1535024" y="-42197"/>
                  <a:pt x="2814909" y="-104829"/>
                  <a:pt x="3592286" y="0"/>
                </a:cubicBezTo>
                <a:cubicBezTo>
                  <a:pt x="3653245" y="446462"/>
                  <a:pt x="3594645" y="900552"/>
                  <a:pt x="3592286" y="1453809"/>
                </a:cubicBezTo>
                <a:cubicBezTo>
                  <a:pt x="2905194" y="1373486"/>
                  <a:pt x="1625882" y="1300878"/>
                  <a:pt x="0" y="1453809"/>
                </a:cubicBezTo>
                <a:cubicBezTo>
                  <a:pt x="-100913" y="956061"/>
                  <a:pt x="93052" y="616255"/>
                  <a:pt x="0" y="0"/>
                </a:cubicBezTo>
                <a:close/>
              </a:path>
            </a:pathLst>
          </a:custGeom>
          <a:solidFill>
            <a:srgbClr val="E8B538"/>
          </a:solidFill>
          <a:ln>
            <a:solidFill>
              <a:schemeClr val="bg1">
                <a:lumMod val="5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540634549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</a:pPr>
            <a:r>
              <a:rPr lang="en-AU" sz="1600" dirty="0"/>
              <a:t>Experiment: </a:t>
            </a:r>
            <a:r>
              <a:rPr lang="en-AU" sz="1600" b="1" dirty="0"/>
              <a:t>Time</a:t>
            </a:r>
          </a:p>
          <a:p>
            <a:pPr>
              <a:lnSpc>
                <a:spcPct val="107000"/>
              </a:lnSpc>
            </a:pPr>
            <a:br>
              <a:rPr lang="en-AU" sz="1600" dirty="0"/>
            </a:br>
            <a:r>
              <a:rPr lang="en-AU" sz="1600" dirty="0"/>
              <a:t>Focus: Change and identity over time</a:t>
            </a:r>
            <a:br>
              <a:rPr lang="en-AU" sz="1600" dirty="0"/>
            </a:br>
            <a:r>
              <a:rPr lang="en-AU" sz="1600" dirty="0"/>
              <a:t>Lens: Psychological over time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AU" sz="1600" dirty="0"/>
          </a:p>
          <a:p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26F08E0-A032-6966-6E10-3641755B4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242" y="6258297"/>
            <a:ext cx="9595757" cy="429940"/>
          </a:xfrm>
          <a:prstGeom prst="rect">
            <a:avLst/>
          </a:prstGeom>
        </p:spPr>
      </p:pic>
      <p:pic>
        <p:nvPicPr>
          <p:cNvPr id="5122" name="Picture 2" descr="Hand drawn sketch icon pin location map | Premium Vector">
            <a:extLst>
              <a:ext uri="{FF2B5EF4-FFF2-40B4-BE49-F238E27FC236}">
                <a16:creationId xmlns:a16="http://schemas.microsoft.com/office/drawing/2014/main" id="{C9044DB0-DAA0-1CA9-6987-C20239CEBF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52" t="22429" r="29667" b="22532"/>
          <a:stretch>
            <a:fillRect/>
          </a:stretch>
        </p:blipFill>
        <p:spPr bwMode="auto">
          <a:xfrm>
            <a:off x="212717" y="1457380"/>
            <a:ext cx="738435" cy="965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238+ Thousand Person Icon Sketch Royalty-Free Images, Stock Photos &amp;  Pictures | Shutterstock">
            <a:extLst>
              <a:ext uri="{FF2B5EF4-FFF2-40B4-BE49-F238E27FC236}">
                <a16:creationId xmlns:a16="http://schemas.microsoft.com/office/drawing/2014/main" id="{88A1BDD3-4460-D965-FA54-772AA47323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46" t="6365" r="9670" b="13061"/>
          <a:stretch>
            <a:fillRect/>
          </a:stretch>
        </p:blipFill>
        <p:spPr bwMode="auto">
          <a:xfrm>
            <a:off x="10786686" y="1974704"/>
            <a:ext cx="914323" cy="1037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Hand drawn stopwatch timer symbol for fast time – Royalty-Free Vector |  VectorStock">
            <a:extLst>
              <a:ext uri="{FF2B5EF4-FFF2-40B4-BE49-F238E27FC236}">
                <a16:creationId xmlns:a16="http://schemas.microsoft.com/office/drawing/2014/main" id="{34478C21-4E6A-364F-5CE1-8A1568058C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90" t="7901" r="19459" b="24799"/>
          <a:stretch>
            <a:fillRect/>
          </a:stretch>
        </p:blipFill>
        <p:spPr bwMode="auto">
          <a:xfrm>
            <a:off x="7548648" y="3564027"/>
            <a:ext cx="732026" cy="896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4" name="Picture 14" descr="Shoes icon hand draw black colour youth day logo – Royalty-Free Vector |  VectorStock">
            <a:extLst>
              <a:ext uri="{FF2B5EF4-FFF2-40B4-BE49-F238E27FC236}">
                <a16:creationId xmlns:a16="http://schemas.microsoft.com/office/drawing/2014/main" id="{70322C29-9D5B-F555-7D47-4EA8EEB0A2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00" t="14609" r="18629" b="23217"/>
          <a:stretch>
            <a:fillRect/>
          </a:stretch>
        </p:blipFill>
        <p:spPr bwMode="auto">
          <a:xfrm flipH="1">
            <a:off x="5500006" y="3006342"/>
            <a:ext cx="1191986" cy="1344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41E04F4-AB5F-BFCE-D8CA-A869151319AB}"/>
              </a:ext>
            </a:extLst>
          </p:cNvPr>
          <p:cNvSpPr/>
          <p:nvPr/>
        </p:nvSpPr>
        <p:spPr>
          <a:xfrm>
            <a:off x="2612745" y="3899351"/>
            <a:ext cx="3329185" cy="1139821"/>
          </a:xfrm>
          <a:custGeom>
            <a:avLst/>
            <a:gdLst>
              <a:gd name="csX0" fmla="*/ 0 w 3329185"/>
              <a:gd name="csY0" fmla="*/ 0 h 1139821"/>
              <a:gd name="csX1" fmla="*/ 3329185 w 3329185"/>
              <a:gd name="csY1" fmla="*/ 0 h 1139821"/>
              <a:gd name="csX2" fmla="*/ 3329185 w 3329185"/>
              <a:gd name="csY2" fmla="*/ 1139821 h 1139821"/>
              <a:gd name="csX3" fmla="*/ 0 w 3329185"/>
              <a:gd name="csY3" fmla="*/ 1139821 h 1139821"/>
              <a:gd name="csX4" fmla="*/ 0 w 3329185"/>
              <a:gd name="csY4" fmla="*/ 0 h 11398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329185" h="1139821" fill="none" extrusionOk="0">
                <a:moveTo>
                  <a:pt x="0" y="0"/>
                </a:moveTo>
                <a:cubicBezTo>
                  <a:pt x="697033" y="99984"/>
                  <a:pt x="2644909" y="-75286"/>
                  <a:pt x="3329185" y="0"/>
                </a:cubicBezTo>
                <a:cubicBezTo>
                  <a:pt x="3301035" y="363613"/>
                  <a:pt x="3309893" y="903751"/>
                  <a:pt x="3329185" y="1139821"/>
                </a:cubicBezTo>
                <a:cubicBezTo>
                  <a:pt x="1754174" y="1067444"/>
                  <a:pt x="462204" y="1296461"/>
                  <a:pt x="0" y="1139821"/>
                </a:cubicBezTo>
                <a:cubicBezTo>
                  <a:pt x="-69682" y="661713"/>
                  <a:pt x="-47806" y="255337"/>
                  <a:pt x="0" y="0"/>
                </a:cubicBezTo>
                <a:close/>
              </a:path>
              <a:path w="3329185" h="1139821" stroke="0" extrusionOk="0">
                <a:moveTo>
                  <a:pt x="0" y="0"/>
                </a:moveTo>
                <a:cubicBezTo>
                  <a:pt x="878897" y="-42197"/>
                  <a:pt x="2063387" y="-104829"/>
                  <a:pt x="3329185" y="0"/>
                </a:cubicBezTo>
                <a:cubicBezTo>
                  <a:pt x="3400983" y="177623"/>
                  <a:pt x="3380616" y="777297"/>
                  <a:pt x="3329185" y="1139821"/>
                </a:cubicBezTo>
                <a:cubicBezTo>
                  <a:pt x="2157878" y="1059498"/>
                  <a:pt x="1180555" y="986890"/>
                  <a:pt x="0" y="1139821"/>
                </a:cubicBezTo>
                <a:cubicBezTo>
                  <a:pt x="83630" y="914677"/>
                  <a:pt x="65005" y="201031"/>
                  <a:pt x="0" y="0"/>
                </a:cubicBezTo>
                <a:close/>
              </a:path>
            </a:pathLst>
          </a:custGeom>
          <a:solidFill>
            <a:srgbClr val="E8B538"/>
          </a:solidFill>
          <a:ln>
            <a:solidFill>
              <a:schemeClr val="bg1">
                <a:lumMod val="5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540634549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/>
              <a:t>Experiment: </a:t>
            </a:r>
            <a:r>
              <a:rPr lang="en-US" sz="1600" b="1" dirty="0"/>
              <a:t>Object</a:t>
            </a:r>
          </a:p>
          <a:p>
            <a:r>
              <a:rPr lang="en-US" sz="1600" dirty="0"/>
              <a:t>Focus: Everyday material world</a:t>
            </a:r>
          </a:p>
          <a:p>
            <a:r>
              <a:rPr lang="en-US" sz="1600" dirty="0"/>
              <a:t>Lens: Objective versus subjective</a:t>
            </a:r>
          </a:p>
          <a:p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CAABDA-F308-1D52-4574-FBFFB9FD4F40}"/>
              </a:ext>
            </a:extLst>
          </p:cNvPr>
          <p:cNvSpPr/>
          <p:nvPr/>
        </p:nvSpPr>
        <p:spPr>
          <a:xfrm>
            <a:off x="948152" y="2256439"/>
            <a:ext cx="3329185" cy="1139821"/>
          </a:xfrm>
          <a:custGeom>
            <a:avLst/>
            <a:gdLst>
              <a:gd name="csX0" fmla="*/ 0 w 3329185"/>
              <a:gd name="csY0" fmla="*/ 0 h 1139821"/>
              <a:gd name="csX1" fmla="*/ 3329185 w 3329185"/>
              <a:gd name="csY1" fmla="*/ 0 h 1139821"/>
              <a:gd name="csX2" fmla="*/ 3329185 w 3329185"/>
              <a:gd name="csY2" fmla="*/ 1139821 h 1139821"/>
              <a:gd name="csX3" fmla="*/ 0 w 3329185"/>
              <a:gd name="csY3" fmla="*/ 1139821 h 1139821"/>
              <a:gd name="csX4" fmla="*/ 0 w 3329185"/>
              <a:gd name="csY4" fmla="*/ 0 h 11398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329185" h="1139821" fill="none" extrusionOk="0">
                <a:moveTo>
                  <a:pt x="0" y="0"/>
                </a:moveTo>
                <a:cubicBezTo>
                  <a:pt x="697033" y="99984"/>
                  <a:pt x="2644909" y="-75286"/>
                  <a:pt x="3329185" y="0"/>
                </a:cubicBezTo>
                <a:cubicBezTo>
                  <a:pt x="3301035" y="363613"/>
                  <a:pt x="3309893" y="903751"/>
                  <a:pt x="3329185" y="1139821"/>
                </a:cubicBezTo>
                <a:cubicBezTo>
                  <a:pt x="1754174" y="1067444"/>
                  <a:pt x="462204" y="1296461"/>
                  <a:pt x="0" y="1139821"/>
                </a:cubicBezTo>
                <a:cubicBezTo>
                  <a:pt x="-69682" y="661713"/>
                  <a:pt x="-47806" y="255337"/>
                  <a:pt x="0" y="0"/>
                </a:cubicBezTo>
                <a:close/>
              </a:path>
              <a:path w="3329185" h="1139821" stroke="0" extrusionOk="0">
                <a:moveTo>
                  <a:pt x="0" y="0"/>
                </a:moveTo>
                <a:cubicBezTo>
                  <a:pt x="878897" y="-42197"/>
                  <a:pt x="2063387" y="-104829"/>
                  <a:pt x="3329185" y="0"/>
                </a:cubicBezTo>
                <a:cubicBezTo>
                  <a:pt x="3400983" y="177623"/>
                  <a:pt x="3380616" y="777297"/>
                  <a:pt x="3329185" y="1139821"/>
                </a:cubicBezTo>
                <a:cubicBezTo>
                  <a:pt x="2157878" y="1059498"/>
                  <a:pt x="1180555" y="986890"/>
                  <a:pt x="0" y="1139821"/>
                </a:cubicBezTo>
                <a:cubicBezTo>
                  <a:pt x="83630" y="914677"/>
                  <a:pt x="65005" y="201031"/>
                  <a:pt x="0" y="0"/>
                </a:cubicBezTo>
                <a:close/>
              </a:path>
            </a:pathLst>
          </a:custGeom>
          <a:solidFill>
            <a:srgbClr val="E2DED2"/>
          </a:solidFill>
          <a:ln>
            <a:solidFill>
              <a:schemeClr val="bg1">
                <a:lumMod val="5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540634549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/>
              <a:t>Experiment: </a:t>
            </a:r>
            <a:r>
              <a:rPr lang="en-US" sz="1600" b="1" dirty="0"/>
              <a:t>Place</a:t>
            </a:r>
          </a:p>
          <a:p>
            <a:r>
              <a:rPr lang="en-US" sz="1600" dirty="0"/>
              <a:t>Focus: Environment and memory</a:t>
            </a:r>
          </a:p>
          <a:p>
            <a:r>
              <a:rPr lang="en-US" sz="1600" dirty="0"/>
              <a:t>Lens: Literal versus non-literal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122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stamp&#10;&#10;AI-generated content may be incorrect.">
            <a:extLst>
              <a:ext uri="{FF2B5EF4-FFF2-40B4-BE49-F238E27FC236}">
                <a16:creationId xmlns:a16="http://schemas.microsoft.com/office/drawing/2014/main" id="{004B9A97-A7A9-45F2-9865-73DAFDDE9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50" y="-1"/>
            <a:ext cx="5303455" cy="866911"/>
          </a:xfrm>
          <a:prstGeom prst="rect">
            <a:avLst/>
          </a:prstGeom>
        </p:spPr>
      </p:pic>
      <p:sp>
        <p:nvSpPr>
          <p:cNvPr id="6" name="Freeform 9">
            <a:extLst>
              <a:ext uri="{FF2B5EF4-FFF2-40B4-BE49-F238E27FC236}">
                <a16:creationId xmlns:a16="http://schemas.microsoft.com/office/drawing/2014/main" id="{5ED2A66D-F6D0-DF91-A299-3444FFA3EAC4}"/>
              </a:ext>
            </a:extLst>
          </p:cNvPr>
          <p:cNvSpPr/>
          <p:nvPr/>
        </p:nvSpPr>
        <p:spPr>
          <a:xfrm rot="16200000" flipV="1">
            <a:off x="2721355" y="3198996"/>
            <a:ext cx="5866828" cy="135430"/>
          </a:xfrm>
          <a:custGeom>
            <a:avLst/>
            <a:gdLst/>
            <a:ahLst/>
            <a:cxnLst/>
            <a:rect l="l" t="t" r="r" b="b"/>
            <a:pathLst>
              <a:path w="1682387" h="159827">
                <a:moveTo>
                  <a:pt x="0" y="0"/>
                </a:moveTo>
                <a:lnTo>
                  <a:pt x="1682387" y="0"/>
                </a:lnTo>
                <a:lnTo>
                  <a:pt x="1682387" y="159826"/>
                </a:lnTo>
                <a:lnTo>
                  <a:pt x="0" y="1598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B59BED-E104-D98F-6ADE-947AE56A52E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2678" b="8594"/>
          <a:stretch>
            <a:fillRect/>
          </a:stretch>
        </p:blipFill>
        <p:spPr>
          <a:xfrm>
            <a:off x="451898" y="6035757"/>
            <a:ext cx="4823713" cy="325584"/>
          </a:xfrm>
          <a:prstGeom prst="rect">
            <a:avLst/>
          </a:prstGeom>
        </p:spPr>
      </p:pic>
      <p:pic>
        <p:nvPicPr>
          <p:cNvPr id="10" name="Picture 9" descr="A close up of a word&#10;&#10;AI-generated content may be incorrect.">
            <a:extLst>
              <a:ext uri="{FF2B5EF4-FFF2-40B4-BE49-F238E27FC236}">
                <a16:creationId xmlns:a16="http://schemas.microsoft.com/office/drawing/2014/main" id="{C141E8E6-25C4-87CB-F620-103E5451C63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36445"/>
          <a:stretch>
            <a:fillRect/>
          </a:stretch>
        </p:blipFill>
        <p:spPr>
          <a:xfrm>
            <a:off x="1398474" y="6341065"/>
            <a:ext cx="4382681" cy="446717"/>
          </a:xfrm>
          <a:prstGeom prst="rect">
            <a:avLst/>
          </a:prstGeom>
        </p:spPr>
      </p:pic>
      <p:pic>
        <p:nvPicPr>
          <p:cNvPr id="6148" name="Picture 4" descr="Story pin image">
            <a:extLst>
              <a:ext uri="{FF2B5EF4-FFF2-40B4-BE49-F238E27FC236}">
                <a16:creationId xmlns:a16="http://schemas.microsoft.com/office/drawing/2014/main" id="{D13AC23D-DD52-9253-7AFD-5795B8FC79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6" b="27315"/>
          <a:stretch>
            <a:fillRect/>
          </a:stretch>
        </p:blipFill>
        <p:spPr bwMode="auto">
          <a:xfrm>
            <a:off x="-436676" y="-80647"/>
            <a:ext cx="5870481" cy="7364187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0510A2-17B8-33DC-536F-A2E1516C7BF3}"/>
              </a:ext>
            </a:extLst>
          </p:cNvPr>
          <p:cNvSpPr txBox="1"/>
          <p:nvPr/>
        </p:nvSpPr>
        <p:spPr>
          <a:xfrm>
            <a:off x="289832" y="927473"/>
            <a:ext cx="4298496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This unit follows a practice-based inquiry model.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n-AU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AU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You learn by:</a:t>
            </a:r>
          </a:p>
          <a:p>
            <a:pPr>
              <a:lnSpc>
                <a:spcPct val="107000"/>
              </a:lnSpc>
            </a:pPr>
            <a:endParaRPr lang="en-AU" b="1" kern="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AU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Making</a:t>
            </a:r>
            <a:endParaRPr lang="en-AU" kern="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AU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researching artists</a:t>
            </a:r>
            <a:endParaRPr lang="en-AU" kern="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AU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Experimenting</a:t>
            </a:r>
            <a:endParaRPr lang="en-AU" kern="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AU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reflecting</a:t>
            </a:r>
            <a:endParaRPr lang="en-AU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EE368380-4FE8-0141-FA12-BB846DDABD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7474" y="-1"/>
            <a:ext cx="5641614" cy="79669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86CECE5-2661-8B77-2EC6-FE78D1D33394}"/>
              </a:ext>
            </a:extLst>
          </p:cNvPr>
          <p:cNvSpPr txBox="1"/>
          <p:nvPr/>
        </p:nvSpPr>
        <p:spPr>
          <a:xfrm>
            <a:off x="6906277" y="2719113"/>
            <a:ext cx="4324008" cy="3342197"/>
          </a:xfrm>
          <a:custGeom>
            <a:avLst/>
            <a:gdLst>
              <a:gd name="csX0" fmla="*/ 0 w 4324008"/>
              <a:gd name="csY0" fmla="*/ 0 h 3342197"/>
              <a:gd name="csX1" fmla="*/ 4324008 w 4324008"/>
              <a:gd name="csY1" fmla="*/ 0 h 3342197"/>
              <a:gd name="csX2" fmla="*/ 4324008 w 4324008"/>
              <a:gd name="csY2" fmla="*/ 3342197 h 3342197"/>
              <a:gd name="csX3" fmla="*/ 0 w 4324008"/>
              <a:gd name="csY3" fmla="*/ 3342197 h 3342197"/>
              <a:gd name="csX4" fmla="*/ 0 w 4324008"/>
              <a:gd name="csY4" fmla="*/ 0 h 33421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24008" h="3342197" extrusionOk="0">
                <a:moveTo>
                  <a:pt x="0" y="0"/>
                </a:moveTo>
                <a:cubicBezTo>
                  <a:pt x="1489261" y="-48048"/>
                  <a:pt x="2170069" y="99539"/>
                  <a:pt x="4324008" y="0"/>
                </a:cubicBezTo>
                <a:cubicBezTo>
                  <a:pt x="4364156" y="588440"/>
                  <a:pt x="4369881" y="2385923"/>
                  <a:pt x="4324008" y="3342197"/>
                </a:cubicBezTo>
                <a:cubicBezTo>
                  <a:pt x="3615022" y="3326111"/>
                  <a:pt x="658236" y="3448543"/>
                  <a:pt x="0" y="3342197"/>
                </a:cubicBezTo>
                <a:cubicBezTo>
                  <a:pt x="30457" y="1911369"/>
                  <a:pt x="83021" y="111349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092977644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AU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You will produce:</a:t>
            </a:r>
            <a:endParaRPr lang="en-AU" b="1" kern="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AU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AU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experimental artworks</a:t>
            </a:r>
            <a:endParaRPr lang="en-AU" kern="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AU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 digital presentation (</a:t>
            </a:r>
            <a:r>
              <a:rPr lang="en-AU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AU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slides maximum)</a:t>
            </a:r>
            <a:endParaRPr lang="en-AU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None/>
            </a:pPr>
            <a:endParaRPr lang="en-AU" kern="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AU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Your slides will show:</a:t>
            </a:r>
            <a:endParaRPr lang="en-AU" b="1" kern="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AU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your inquiry question</a:t>
            </a:r>
            <a:endParaRPr lang="en-AU" kern="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AU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mentor artists</a:t>
            </a:r>
            <a:endParaRPr lang="en-AU" kern="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AU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historical influences</a:t>
            </a:r>
            <a:endParaRPr lang="en-AU" kern="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AU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your experiments</a:t>
            </a:r>
            <a:endParaRPr lang="en-AU" kern="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AU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how your viewpoint developed</a:t>
            </a:r>
            <a:endParaRPr lang="en-AU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39366C36-D5B8-3B0C-6770-7A4CC350515C}"/>
              </a:ext>
            </a:extLst>
          </p:cNvPr>
          <p:cNvSpPr/>
          <p:nvPr/>
        </p:nvSpPr>
        <p:spPr>
          <a:xfrm rot="2228816">
            <a:off x="9442118" y="1339643"/>
            <a:ext cx="2037948" cy="713282"/>
          </a:xfrm>
          <a:custGeom>
            <a:avLst/>
            <a:gdLst/>
            <a:ahLst/>
            <a:cxnLst/>
            <a:rect l="l" t="t" r="r" b="b"/>
            <a:pathLst>
              <a:path w="2435160" h="852306">
                <a:moveTo>
                  <a:pt x="0" y="0"/>
                </a:moveTo>
                <a:lnTo>
                  <a:pt x="2435160" y="0"/>
                </a:lnTo>
                <a:lnTo>
                  <a:pt x="2435160" y="852306"/>
                </a:lnTo>
                <a:lnTo>
                  <a:pt x="0" y="8523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7524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67869D-2E60-164F-FA07-FF5B39D1F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57" y="130630"/>
            <a:ext cx="8490857" cy="973684"/>
          </a:xfrm>
          <a:prstGeom prst="rect">
            <a:avLst/>
          </a:prstGeom>
        </p:spPr>
      </p:pic>
      <p:pic>
        <p:nvPicPr>
          <p:cNvPr id="7170" name="Picture 2" descr="This may contain: two hands reaching towards each other over a piece of paper with yellow and black background">
            <a:extLst>
              <a:ext uri="{FF2B5EF4-FFF2-40B4-BE49-F238E27FC236}">
                <a16:creationId xmlns:a16="http://schemas.microsoft.com/office/drawing/2014/main" id="{80188C18-C19F-5516-FD1B-F1F1DD6F2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882852"/>
            <a:ext cx="5968364" cy="5943599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939F65-E04A-D97F-5E44-BA27A3B97E03}"/>
              </a:ext>
            </a:extLst>
          </p:cNvPr>
          <p:cNvSpPr txBox="1"/>
          <p:nvPr/>
        </p:nvSpPr>
        <p:spPr>
          <a:xfrm>
            <a:off x="334999" y="1267723"/>
            <a:ext cx="24898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b="1" kern="0" dirty="0">
                <a:effectLst/>
                <a:ea typeface="Times New Roman" panose="02020603050405020304" pitchFamily="18" charset="0"/>
              </a:rPr>
              <a:t>Connection can be:</a:t>
            </a:r>
            <a:br>
              <a:rPr lang="en-AU" sz="2000" b="1" kern="0" dirty="0">
                <a:effectLst/>
                <a:ea typeface="Times New Roman" panose="02020603050405020304" pitchFamily="18" charset="0"/>
              </a:rPr>
            </a:br>
            <a:endParaRPr lang="en-AU" sz="2000" b="1" dirty="0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282CA4E0-BC9B-AF50-ECC1-7533D6E92B1C}"/>
              </a:ext>
            </a:extLst>
          </p:cNvPr>
          <p:cNvSpPr/>
          <p:nvPr/>
        </p:nvSpPr>
        <p:spPr>
          <a:xfrm>
            <a:off x="334999" y="2166713"/>
            <a:ext cx="2669265" cy="1089806"/>
          </a:xfrm>
          <a:custGeom>
            <a:avLst/>
            <a:gdLst>
              <a:gd name="csX0" fmla="*/ 0 w 2669265"/>
              <a:gd name="csY0" fmla="*/ 544903 h 1089806"/>
              <a:gd name="csX1" fmla="*/ 1334633 w 2669265"/>
              <a:gd name="csY1" fmla="*/ 0 h 1089806"/>
              <a:gd name="csX2" fmla="*/ 2669266 w 2669265"/>
              <a:gd name="csY2" fmla="*/ 544903 h 1089806"/>
              <a:gd name="csX3" fmla="*/ 1334633 w 2669265"/>
              <a:gd name="csY3" fmla="*/ 1089806 h 1089806"/>
              <a:gd name="csX4" fmla="*/ 0 w 2669265"/>
              <a:gd name="csY4" fmla="*/ 544903 h 10898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69265" h="1089806" fill="none" extrusionOk="0">
                <a:moveTo>
                  <a:pt x="0" y="544903"/>
                </a:moveTo>
                <a:cubicBezTo>
                  <a:pt x="23172" y="221937"/>
                  <a:pt x="638786" y="2722"/>
                  <a:pt x="1334633" y="0"/>
                </a:cubicBezTo>
                <a:cubicBezTo>
                  <a:pt x="2080608" y="15175"/>
                  <a:pt x="2622831" y="242963"/>
                  <a:pt x="2669266" y="544903"/>
                </a:cubicBezTo>
                <a:cubicBezTo>
                  <a:pt x="2789307" y="863252"/>
                  <a:pt x="2003954" y="1058875"/>
                  <a:pt x="1334633" y="1089806"/>
                </a:cubicBezTo>
                <a:cubicBezTo>
                  <a:pt x="551289" y="1103607"/>
                  <a:pt x="11168" y="830706"/>
                  <a:pt x="0" y="544903"/>
                </a:cubicBezTo>
                <a:close/>
              </a:path>
              <a:path w="2669265" h="1089806" stroke="0" extrusionOk="0">
                <a:moveTo>
                  <a:pt x="0" y="544903"/>
                </a:moveTo>
                <a:cubicBezTo>
                  <a:pt x="-38784" y="312006"/>
                  <a:pt x="478438" y="-49180"/>
                  <a:pt x="1334633" y="0"/>
                </a:cubicBezTo>
                <a:cubicBezTo>
                  <a:pt x="2077214" y="-810"/>
                  <a:pt x="2647764" y="283122"/>
                  <a:pt x="2669266" y="544903"/>
                </a:cubicBezTo>
                <a:cubicBezTo>
                  <a:pt x="2652559" y="851429"/>
                  <a:pt x="2022830" y="1147630"/>
                  <a:pt x="1334633" y="1089806"/>
                </a:cubicBezTo>
                <a:cubicBezTo>
                  <a:pt x="631534" y="1067804"/>
                  <a:pt x="-27834" y="852230"/>
                  <a:pt x="0" y="544903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flowChartConnector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tx1"/>
                </a:solidFill>
              </a:rPr>
              <a:t>EMOTIONAL </a:t>
            </a:r>
            <a:endParaRPr lang="en-AU" sz="2000" b="1" i="1" dirty="0">
              <a:solidFill>
                <a:schemeClr val="tx1"/>
              </a:solidFill>
            </a:endParaRP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1F368365-715C-7835-116D-FF0ABD7A0EE1}"/>
              </a:ext>
            </a:extLst>
          </p:cNvPr>
          <p:cNvSpPr/>
          <p:nvPr/>
        </p:nvSpPr>
        <p:spPr>
          <a:xfrm>
            <a:off x="3632266" y="2166713"/>
            <a:ext cx="2221455" cy="1089806"/>
          </a:xfrm>
          <a:custGeom>
            <a:avLst/>
            <a:gdLst>
              <a:gd name="csX0" fmla="*/ 0 w 2221455"/>
              <a:gd name="csY0" fmla="*/ 544903 h 1089806"/>
              <a:gd name="csX1" fmla="*/ 1110728 w 2221455"/>
              <a:gd name="csY1" fmla="*/ 0 h 1089806"/>
              <a:gd name="csX2" fmla="*/ 2221456 w 2221455"/>
              <a:gd name="csY2" fmla="*/ 544903 h 1089806"/>
              <a:gd name="csX3" fmla="*/ 1110728 w 2221455"/>
              <a:gd name="csY3" fmla="*/ 1089806 h 1089806"/>
              <a:gd name="csX4" fmla="*/ 0 w 2221455"/>
              <a:gd name="csY4" fmla="*/ 544903 h 10898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21455" h="1089806" fill="none" extrusionOk="0">
                <a:moveTo>
                  <a:pt x="0" y="544903"/>
                </a:moveTo>
                <a:cubicBezTo>
                  <a:pt x="61548" y="185462"/>
                  <a:pt x="513789" y="1089"/>
                  <a:pt x="1110728" y="0"/>
                </a:cubicBezTo>
                <a:cubicBezTo>
                  <a:pt x="1733044" y="15175"/>
                  <a:pt x="2175021" y="242963"/>
                  <a:pt x="2221456" y="544903"/>
                </a:cubicBezTo>
                <a:cubicBezTo>
                  <a:pt x="2260812" y="851552"/>
                  <a:pt x="1677886" y="1068685"/>
                  <a:pt x="1110728" y="1089806"/>
                </a:cubicBezTo>
                <a:cubicBezTo>
                  <a:pt x="451043" y="1103607"/>
                  <a:pt x="11168" y="830706"/>
                  <a:pt x="0" y="544903"/>
                </a:cubicBezTo>
                <a:close/>
              </a:path>
              <a:path w="2221455" h="1089806" stroke="0" extrusionOk="0">
                <a:moveTo>
                  <a:pt x="0" y="544903"/>
                </a:moveTo>
                <a:cubicBezTo>
                  <a:pt x="-18204" y="275898"/>
                  <a:pt x="458480" y="-16026"/>
                  <a:pt x="1110728" y="0"/>
                </a:cubicBezTo>
                <a:cubicBezTo>
                  <a:pt x="1729650" y="-810"/>
                  <a:pt x="2199954" y="283122"/>
                  <a:pt x="2221456" y="544903"/>
                </a:cubicBezTo>
                <a:cubicBezTo>
                  <a:pt x="2145818" y="871126"/>
                  <a:pt x="1676176" y="1146554"/>
                  <a:pt x="1110728" y="1089806"/>
                </a:cubicBezTo>
                <a:cubicBezTo>
                  <a:pt x="531288" y="1067804"/>
                  <a:pt x="-27834" y="852230"/>
                  <a:pt x="0" y="544903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flowChartConnector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tx1"/>
                </a:solidFill>
              </a:rPr>
              <a:t>CULTURAL </a:t>
            </a:r>
            <a:r>
              <a:rPr lang="en-US" sz="1600" b="1" i="1" dirty="0">
                <a:solidFill>
                  <a:schemeClr val="tx1"/>
                </a:solidFill>
              </a:rPr>
              <a:t> </a:t>
            </a:r>
            <a:endParaRPr lang="en-AU" sz="1600" b="1" i="1" dirty="0">
              <a:solidFill>
                <a:schemeClr val="tx1"/>
              </a:solidFill>
            </a:endParaRP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619CD753-414B-59FB-FCA2-EF6619B4A96B}"/>
              </a:ext>
            </a:extLst>
          </p:cNvPr>
          <p:cNvSpPr/>
          <p:nvPr/>
        </p:nvSpPr>
        <p:spPr>
          <a:xfrm>
            <a:off x="1889011" y="3226501"/>
            <a:ext cx="3253468" cy="1089806"/>
          </a:xfrm>
          <a:custGeom>
            <a:avLst/>
            <a:gdLst>
              <a:gd name="csX0" fmla="*/ 0 w 3253468"/>
              <a:gd name="csY0" fmla="*/ 544903 h 1089806"/>
              <a:gd name="csX1" fmla="*/ 1626734 w 3253468"/>
              <a:gd name="csY1" fmla="*/ 0 h 1089806"/>
              <a:gd name="csX2" fmla="*/ 3253468 w 3253468"/>
              <a:gd name="csY2" fmla="*/ 544903 h 1089806"/>
              <a:gd name="csX3" fmla="*/ 1626734 w 3253468"/>
              <a:gd name="csY3" fmla="*/ 1089806 h 1089806"/>
              <a:gd name="csX4" fmla="*/ 0 w 3253468"/>
              <a:gd name="csY4" fmla="*/ 544903 h 10898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253468" h="1089806" fill="none" extrusionOk="0">
                <a:moveTo>
                  <a:pt x="0" y="544903"/>
                </a:moveTo>
                <a:cubicBezTo>
                  <a:pt x="60750" y="186221"/>
                  <a:pt x="775114" y="3088"/>
                  <a:pt x="1626734" y="0"/>
                </a:cubicBezTo>
                <a:cubicBezTo>
                  <a:pt x="2534032" y="15175"/>
                  <a:pt x="3207033" y="242963"/>
                  <a:pt x="3253468" y="544903"/>
                </a:cubicBezTo>
                <a:cubicBezTo>
                  <a:pt x="3344002" y="858974"/>
                  <a:pt x="2442093" y="1051899"/>
                  <a:pt x="1626734" y="1089806"/>
                </a:cubicBezTo>
                <a:cubicBezTo>
                  <a:pt x="682067" y="1103607"/>
                  <a:pt x="11168" y="830706"/>
                  <a:pt x="0" y="544903"/>
                </a:cubicBezTo>
                <a:close/>
              </a:path>
              <a:path w="3253468" h="1089806" stroke="0" extrusionOk="0">
                <a:moveTo>
                  <a:pt x="0" y="544903"/>
                </a:moveTo>
                <a:cubicBezTo>
                  <a:pt x="-35005" y="305375"/>
                  <a:pt x="649931" y="-32368"/>
                  <a:pt x="1626734" y="0"/>
                </a:cubicBezTo>
                <a:cubicBezTo>
                  <a:pt x="2530638" y="-810"/>
                  <a:pt x="3231966" y="283122"/>
                  <a:pt x="3253468" y="544903"/>
                </a:cubicBezTo>
                <a:cubicBezTo>
                  <a:pt x="3233667" y="852463"/>
                  <a:pt x="2463285" y="1162966"/>
                  <a:pt x="1626734" y="1089806"/>
                </a:cubicBezTo>
                <a:cubicBezTo>
                  <a:pt x="762312" y="1067804"/>
                  <a:pt x="-27834" y="852230"/>
                  <a:pt x="0" y="544903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flowChartConnector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tx1"/>
                </a:solidFill>
              </a:rPr>
              <a:t>ENVIRONMENTAL  </a:t>
            </a:r>
            <a:r>
              <a:rPr lang="en-US" sz="1600" b="1" i="1" dirty="0">
                <a:solidFill>
                  <a:schemeClr val="tx1"/>
                </a:solidFill>
              </a:rPr>
              <a:t> </a:t>
            </a:r>
            <a:endParaRPr lang="en-AU" sz="1600" b="1" i="1" dirty="0">
              <a:solidFill>
                <a:schemeClr val="tx1"/>
              </a:solidFill>
            </a:endParaRP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563AF2AD-616B-2901-A3D8-B9F8611EF7A9}"/>
              </a:ext>
            </a:extLst>
          </p:cNvPr>
          <p:cNvSpPr/>
          <p:nvPr/>
        </p:nvSpPr>
        <p:spPr>
          <a:xfrm>
            <a:off x="146764" y="4286289"/>
            <a:ext cx="3135279" cy="1089806"/>
          </a:xfrm>
          <a:custGeom>
            <a:avLst/>
            <a:gdLst>
              <a:gd name="csX0" fmla="*/ 0 w 3135279"/>
              <a:gd name="csY0" fmla="*/ 544903 h 1089806"/>
              <a:gd name="csX1" fmla="*/ 1567640 w 3135279"/>
              <a:gd name="csY1" fmla="*/ 0 h 1089806"/>
              <a:gd name="csX2" fmla="*/ 3135280 w 3135279"/>
              <a:gd name="csY2" fmla="*/ 544903 h 1089806"/>
              <a:gd name="csX3" fmla="*/ 1567640 w 3135279"/>
              <a:gd name="csY3" fmla="*/ 1089806 h 1089806"/>
              <a:gd name="csX4" fmla="*/ 0 w 3135279"/>
              <a:gd name="csY4" fmla="*/ 544903 h 10898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35279" h="1089806" fill="none" extrusionOk="0">
                <a:moveTo>
                  <a:pt x="0" y="544903"/>
                </a:moveTo>
                <a:cubicBezTo>
                  <a:pt x="11255" y="233264"/>
                  <a:pt x="714210" y="815"/>
                  <a:pt x="1567640" y="0"/>
                </a:cubicBezTo>
                <a:cubicBezTo>
                  <a:pt x="2442302" y="15175"/>
                  <a:pt x="3088845" y="242963"/>
                  <a:pt x="3135280" y="544903"/>
                </a:cubicBezTo>
                <a:cubicBezTo>
                  <a:pt x="3149445" y="847899"/>
                  <a:pt x="2336511" y="1045578"/>
                  <a:pt x="1567640" y="1089806"/>
                </a:cubicBezTo>
                <a:cubicBezTo>
                  <a:pt x="655609" y="1103607"/>
                  <a:pt x="11168" y="830706"/>
                  <a:pt x="0" y="544903"/>
                </a:cubicBezTo>
                <a:close/>
              </a:path>
              <a:path w="3135279" h="1089806" stroke="0" extrusionOk="0">
                <a:moveTo>
                  <a:pt x="0" y="544903"/>
                </a:moveTo>
                <a:cubicBezTo>
                  <a:pt x="-61472" y="351811"/>
                  <a:pt x="637050" y="-26761"/>
                  <a:pt x="1567640" y="0"/>
                </a:cubicBezTo>
                <a:cubicBezTo>
                  <a:pt x="2438908" y="-810"/>
                  <a:pt x="3113778" y="283122"/>
                  <a:pt x="3135280" y="544903"/>
                </a:cubicBezTo>
                <a:cubicBezTo>
                  <a:pt x="2998099" y="891695"/>
                  <a:pt x="2391175" y="1139766"/>
                  <a:pt x="1567640" y="1089806"/>
                </a:cubicBezTo>
                <a:cubicBezTo>
                  <a:pt x="735854" y="1067804"/>
                  <a:pt x="-27834" y="852230"/>
                  <a:pt x="0" y="544903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flowChartConnector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tx1"/>
                </a:solidFill>
              </a:rPr>
              <a:t>PSYCHOLOGICAL</a:t>
            </a:r>
            <a:endParaRPr lang="en-AU" sz="2000" b="1" i="1" dirty="0">
              <a:solidFill>
                <a:schemeClr val="tx1"/>
              </a:solidFill>
            </a:endParaRPr>
          </a:p>
        </p:txBody>
      </p:sp>
      <p:sp>
        <p:nvSpPr>
          <p:cNvPr id="11" name="Freeform 4">
            <a:extLst>
              <a:ext uri="{FF2B5EF4-FFF2-40B4-BE49-F238E27FC236}">
                <a16:creationId xmlns:a16="http://schemas.microsoft.com/office/drawing/2014/main" id="{F83820E2-B9DF-EBCF-682B-F96775DE314F}"/>
              </a:ext>
            </a:extLst>
          </p:cNvPr>
          <p:cNvSpPr/>
          <p:nvPr/>
        </p:nvSpPr>
        <p:spPr>
          <a:xfrm rot="7867065" flipV="1">
            <a:off x="2524673" y="1330317"/>
            <a:ext cx="1205851" cy="687335"/>
          </a:xfrm>
          <a:custGeom>
            <a:avLst/>
            <a:gdLst/>
            <a:ahLst/>
            <a:cxnLst/>
            <a:rect l="l" t="t" r="r" b="b"/>
            <a:pathLst>
              <a:path w="1867823" h="1064659">
                <a:moveTo>
                  <a:pt x="0" y="1064659"/>
                </a:moveTo>
                <a:lnTo>
                  <a:pt x="1867823" y="1064659"/>
                </a:lnTo>
                <a:lnTo>
                  <a:pt x="1867823" y="0"/>
                </a:lnTo>
                <a:lnTo>
                  <a:pt x="0" y="0"/>
                </a:lnTo>
                <a:lnTo>
                  <a:pt x="0" y="106465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CCE2C950-C2BD-8B51-9846-021022336B94}"/>
              </a:ext>
            </a:extLst>
          </p:cNvPr>
          <p:cNvSpPr/>
          <p:nvPr/>
        </p:nvSpPr>
        <p:spPr>
          <a:xfrm>
            <a:off x="3588467" y="4540451"/>
            <a:ext cx="2400493" cy="1089806"/>
          </a:xfrm>
          <a:custGeom>
            <a:avLst/>
            <a:gdLst>
              <a:gd name="csX0" fmla="*/ 0 w 2400493"/>
              <a:gd name="csY0" fmla="*/ 544903 h 1089806"/>
              <a:gd name="csX1" fmla="*/ 1200247 w 2400493"/>
              <a:gd name="csY1" fmla="*/ 0 h 1089806"/>
              <a:gd name="csX2" fmla="*/ 2400494 w 2400493"/>
              <a:gd name="csY2" fmla="*/ 544903 h 1089806"/>
              <a:gd name="csX3" fmla="*/ 1200247 w 2400493"/>
              <a:gd name="csY3" fmla="*/ 1089806 h 1089806"/>
              <a:gd name="csX4" fmla="*/ 0 w 2400493"/>
              <a:gd name="csY4" fmla="*/ 544903 h 10898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400493" h="1089806" fill="none" extrusionOk="0">
                <a:moveTo>
                  <a:pt x="0" y="544903"/>
                </a:moveTo>
                <a:cubicBezTo>
                  <a:pt x="35755" y="209978"/>
                  <a:pt x="571000" y="2219"/>
                  <a:pt x="1200247" y="0"/>
                </a:cubicBezTo>
                <a:cubicBezTo>
                  <a:pt x="1872003" y="15175"/>
                  <a:pt x="2354059" y="242963"/>
                  <a:pt x="2400494" y="544903"/>
                </a:cubicBezTo>
                <a:cubicBezTo>
                  <a:pt x="2496921" y="859828"/>
                  <a:pt x="1822445" y="1071241"/>
                  <a:pt x="1200247" y="1089806"/>
                </a:cubicBezTo>
                <a:cubicBezTo>
                  <a:pt x="491122" y="1103607"/>
                  <a:pt x="11168" y="830706"/>
                  <a:pt x="0" y="544903"/>
                </a:cubicBezTo>
                <a:close/>
              </a:path>
              <a:path w="2400493" h="1089806" stroke="0" extrusionOk="0">
                <a:moveTo>
                  <a:pt x="0" y="544903"/>
                </a:moveTo>
                <a:cubicBezTo>
                  <a:pt x="-46574" y="325672"/>
                  <a:pt x="442112" y="-39336"/>
                  <a:pt x="1200247" y="0"/>
                </a:cubicBezTo>
                <a:cubicBezTo>
                  <a:pt x="1868609" y="-810"/>
                  <a:pt x="2378992" y="283122"/>
                  <a:pt x="2400494" y="544903"/>
                </a:cubicBezTo>
                <a:cubicBezTo>
                  <a:pt x="2342924" y="865087"/>
                  <a:pt x="1813485" y="1148506"/>
                  <a:pt x="1200247" y="1089806"/>
                </a:cubicBezTo>
                <a:cubicBezTo>
                  <a:pt x="571367" y="1067804"/>
                  <a:pt x="-27834" y="852230"/>
                  <a:pt x="0" y="544903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flowChartConnector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tx1"/>
                </a:solidFill>
              </a:rPr>
              <a:t>RELATIONAL </a:t>
            </a:r>
            <a:endParaRPr lang="en-AU" sz="1600" b="1" i="1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F171E3-75BF-1E83-24DC-92BADDEBCF7C}"/>
              </a:ext>
            </a:extLst>
          </p:cNvPr>
          <p:cNvSpPr txBox="1"/>
          <p:nvPr/>
        </p:nvSpPr>
        <p:spPr>
          <a:xfrm>
            <a:off x="-45096" y="5975148"/>
            <a:ext cx="6098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kern="0" dirty="0">
                <a:effectLst/>
                <a:ea typeface="Times New Roman" panose="02020603050405020304" pitchFamily="18" charset="0"/>
              </a:rPr>
              <a:t>Each experiment asks:</a:t>
            </a:r>
            <a:br>
              <a:rPr lang="en-AU" sz="2000" kern="0" dirty="0">
                <a:effectLst/>
                <a:ea typeface="Times New Roman" panose="02020603050405020304" pitchFamily="18" charset="0"/>
              </a:rPr>
            </a:br>
            <a:endParaRPr lang="en-AU" sz="2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C4A252B-2ED9-C132-CA0A-4BBECCF94F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999" y="6349117"/>
            <a:ext cx="7241987" cy="277870"/>
          </a:xfrm>
          <a:prstGeom prst="rect">
            <a:avLst/>
          </a:prstGeom>
        </p:spPr>
      </p:pic>
      <p:sp>
        <p:nvSpPr>
          <p:cNvPr id="18" name="Freeform 12">
            <a:extLst>
              <a:ext uri="{FF2B5EF4-FFF2-40B4-BE49-F238E27FC236}">
                <a16:creationId xmlns:a16="http://schemas.microsoft.com/office/drawing/2014/main" id="{BEE6E99A-17F9-AE62-67C8-0957E9E1F644}"/>
              </a:ext>
            </a:extLst>
          </p:cNvPr>
          <p:cNvSpPr/>
          <p:nvPr/>
        </p:nvSpPr>
        <p:spPr>
          <a:xfrm>
            <a:off x="5853721" y="6668533"/>
            <a:ext cx="1948045" cy="185064"/>
          </a:xfrm>
          <a:custGeom>
            <a:avLst/>
            <a:gdLst/>
            <a:ahLst/>
            <a:cxnLst/>
            <a:rect l="l" t="t" r="r" b="b"/>
            <a:pathLst>
              <a:path w="1948045" h="185064">
                <a:moveTo>
                  <a:pt x="0" y="0"/>
                </a:moveTo>
                <a:lnTo>
                  <a:pt x="1948046" y="0"/>
                </a:lnTo>
                <a:lnTo>
                  <a:pt x="1948046" y="185064"/>
                </a:lnTo>
                <a:lnTo>
                  <a:pt x="0" y="1850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95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9CC0C2-E4D8-35CC-DFEF-73DFD3307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0492829" cy="751114"/>
          </a:xfrm>
          <a:prstGeom prst="rect">
            <a:avLst/>
          </a:prstGeom>
        </p:spPr>
      </p:pic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4B86292C-6B27-9E75-AE98-6B115E377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519" y="1627099"/>
            <a:ext cx="4877481" cy="533474"/>
          </a:xfrm>
          <a:prstGeom prst="rect">
            <a:avLst/>
          </a:prstGeom>
        </p:spPr>
      </p:pic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799FF936-FAA1-FCB2-6F5E-CDEC25402D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7137" y="4534224"/>
            <a:ext cx="5315692" cy="4953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0F3EDD-C3C8-C66A-35C9-D84BE8566A2D}"/>
              </a:ext>
            </a:extLst>
          </p:cNvPr>
          <p:cNvSpPr txBox="1"/>
          <p:nvPr/>
        </p:nvSpPr>
        <p:spPr>
          <a:xfrm>
            <a:off x="3820238" y="2160573"/>
            <a:ext cx="6098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AU" sz="2000" kern="0" dirty="0">
                <a:effectLst/>
                <a:ea typeface="Times New Roman" panose="02020603050405020304" pitchFamily="18" charset="0"/>
              </a:rPr>
              <a:t>interpret your world through lenses</a:t>
            </a:r>
            <a:endParaRPr lang="en-AU" sz="2000" kern="0" dirty="0">
              <a:ea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AU" sz="2000" kern="0" dirty="0">
                <a:effectLst/>
                <a:ea typeface="Times New Roman" panose="02020603050405020304" pitchFamily="18" charset="0"/>
              </a:rPr>
              <a:t>communicate personal viewpoints</a:t>
            </a:r>
            <a:endParaRPr lang="en-AU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0F5F14-AF39-81BB-28B6-D7A7DF728480}"/>
              </a:ext>
            </a:extLst>
          </p:cNvPr>
          <p:cNvSpPr txBox="1"/>
          <p:nvPr/>
        </p:nvSpPr>
        <p:spPr>
          <a:xfrm>
            <a:off x="6396718" y="5019951"/>
            <a:ext cx="52003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AU" sz="2000" kern="0" dirty="0">
                <a:effectLst/>
                <a:ea typeface="Times New Roman" panose="02020603050405020304" pitchFamily="18" charset="0"/>
              </a:rPr>
              <a:t>consider how artists influence perspective</a:t>
            </a:r>
            <a:endParaRPr lang="en-AU" sz="2000" kern="0" dirty="0">
              <a:ea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AU" sz="2000" kern="0" dirty="0">
                <a:effectLst/>
                <a:ea typeface="Times New Roman" panose="02020603050405020304" pitchFamily="18" charset="0"/>
              </a:rPr>
              <a:t>question how meaning is constructed</a:t>
            </a:r>
            <a:endParaRPr lang="en-AU" sz="2000" dirty="0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25AE1E98-5901-B713-E551-BE9C8A6BCE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4902" b="72852" l="9288" r="86719">
                        <a14:foregroundMark x1="86719" y1="43408" x2="86719" y2="43408"/>
                        <a14:foregroundMark x1="84549" y1="52637" x2="84549" y2="52637"/>
                        <a14:foregroundMark x1="49392" y1="57373" x2="49392" y2="57373"/>
                        <a14:foregroundMark x1="17708" y1="53857" x2="17708" y2="53857"/>
                        <a14:foregroundMark x1="26563" y1="48877" x2="26563" y2="488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8952" r="6543" b="21113"/>
          <a:stretch>
            <a:fillRect/>
          </a:stretch>
        </p:blipFill>
        <p:spPr bwMode="auto">
          <a:xfrm>
            <a:off x="-463631" y="2122714"/>
            <a:ext cx="4810535" cy="5236354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Freeform 9">
            <a:extLst>
              <a:ext uri="{FF2B5EF4-FFF2-40B4-BE49-F238E27FC236}">
                <a16:creationId xmlns:a16="http://schemas.microsoft.com/office/drawing/2014/main" id="{0C0F97E2-F106-0CB5-3204-34CA433D807F}"/>
              </a:ext>
            </a:extLst>
          </p:cNvPr>
          <p:cNvSpPr/>
          <p:nvPr/>
        </p:nvSpPr>
        <p:spPr>
          <a:xfrm rot="10800000" flipV="1">
            <a:off x="4303361" y="3429000"/>
            <a:ext cx="7597948" cy="247057"/>
          </a:xfrm>
          <a:custGeom>
            <a:avLst/>
            <a:gdLst/>
            <a:ahLst/>
            <a:cxnLst/>
            <a:rect l="l" t="t" r="r" b="b"/>
            <a:pathLst>
              <a:path w="1682387" h="159827">
                <a:moveTo>
                  <a:pt x="0" y="0"/>
                </a:moveTo>
                <a:lnTo>
                  <a:pt x="1682387" y="0"/>
                </a:lnTo>
                <a:lnTo>
                  <a:pt x="1682387" y="159826"/>
                </a:lnTo>
                <a:lnTo>
                  <a:pt x="0" y="1598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0135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9b8a18a-7af3-4931-9d08-29df45da2bd9}" enabled="0" method="" siteId="{49b8a18a-7af3-4931-9d08-29df45da2bd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824</TotalTime>
  <Words>577</Words>
  <Application>Microsoft Office PowerPoint</Application>
  <PresentationFormat>Widescreen</PresentationFormat>
  <Paragraphs>103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Courier New</vt:lpstr>
      <vt:lpstr>HK Grotesk Bold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Southport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Jacqueline Ockwell</dc:creator>
  <cp:lastModifiedBy>Jacqueline Ockwell</cp:lastModifiedBy>
  <cp:revision>1</cp:revision>
  <dcterms:created xsi:type="dcterms:W3CDTF">2026-02-03T07:04:47Z</dcterms:created>
  <dcterms:modified xsi:type="dcterms:W3CDTF">2026-02-03T20:49:32Z</dcterms:modified>
</cp:coreProperties>
</file>
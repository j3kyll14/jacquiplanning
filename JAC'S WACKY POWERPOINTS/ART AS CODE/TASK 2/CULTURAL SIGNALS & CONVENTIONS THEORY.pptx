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9" autoAdjust="0"/>
    <p:restoredTop sz="94660"/>
  </p:normalViewPr>
  <p:slideViewPr>
    <p:cSldViewPr snapToGrid="0">
      <p:cViewPr varScale="1">
        <p:scale>
          <a:sx n="59" d="100"/>
          <a:sy n="59" d="100"/>
        </p:scale>
        <p:origin x="78" y="8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CA93-663F-8ECA-CE2E-BFF45553A36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5B4AF2F4-62BE-DF8F-E877-90AE9713FD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F8E348EC-4D0C-C10B-4843-C22CADBE92EF}"/>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5" name="Footer Placeholder 4">
            <a:extLst>
              <a:ext uri="{FF2B5EF4-FFF2-40B4-BE49-F238E27FC236}">
                <a16:creationId xmlns:a16="http://schemas.microsoft.com/office/drawing/2014/main" id="{6511DE01-4532-DDBD-AF55-E6D9DB6BCA8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A999EC1-ACF6-1FE9-7E89-F66C4D31526A}"/>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3987451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895DD-1ACC-5AA4-109B-DEC0B3FF679B}"/>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8DD5FE08-C69F-2654-82BD-D1FC02CF11A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10C785A-3FA9-9C79-93CA-89B839245C53}"/>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5" name="Footer Placeholder 4">
            <a:extLst>
              <a:ext uri="{FF2B5EF4-FFF2-40B4-BE49-F238E27FC236}">
                <a16:creationId xmlns:a16="http://schemas.microsoft.com/office/drawing/2014/main" id="{384FBF57-F82C-70EC-2CCE-D47D19EE472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7FA03BE-EEF8-28FD-65A5-300608157247}"/>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1623668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3DAB5-D485-6C09-FE86-B8E52C72BBD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89A0F8C1-113A-02A6-7D10-4B95E67A51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E193DD0-2701-8D39-EA9F-5F986EDFE6BC}"/>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5" name="Footer Placeholder 4">
            <a:extLst>
              <a:ext uri="{FF2B5EF4-FFF2-40B4-BE49-F238E27FC236}">
                <a16:creationId xmlns:a16="http://schemas.microsoft.com/office/drawing/2014/main" id="{BD9686C3-4520-7ABE-26E6-EC88B83B820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8A37058-7AD7-9B6C-1D56-426F28BED1A6}"/>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1779273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EFDE-B6F4-96B1-3B1B-16787799D48A}"/>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550621F6-89B6-53A2-1D15-E871A786AC6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6AD21671-5BDC-8DD1-FA40-B3F23DF9435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BDF817A9-2D72-1A29-3A90-969854777F54}"/>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6" name="Footer Placeholder 5">
            <a:extLst>
              <a:ext uri="{FF2B5EF4-FFF2-40B4-BE49-F238E27FC236}">
                <a16:creationId xmlns:a16="http://schemas.microsoft.com/office/drawing/2014/main" id="{6A4E6C43-CB2D-BE7E-377F-EE442ED33E6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3D15263-ECC8-EA19-CB5C-522828BDCC2D}"/>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1281084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546EB-146C-19CE-E98A-FBDF52A4B59D}"/>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D3260502-E03B-1323-B5B4-14069F731F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1BE8ACC-531C-B2C5-EF2A-C428368797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CDBB3AC5-A33A-9F0B-01D1-26414166D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088916-BEDC-03EF-B866-5DBD5E9DD38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EA0A28BE-9BD9-7CA0-FD10-BB8A6B97467B}"/>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8" name="Footer Placeholder 7">
            <a:extLst>
              <a:ext uri="{FF2B5EF4-FFF2-40B4-BE49-F238E27FC236}">
                <a16:creationId xmlns:a16="http://schemas.microsoft.com/office/drawing/2014/main" id="{C388C213-F3A9-15DE-8464-42B0F04824C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3A76FE1-5E03-7343-5BAE-3AAFD28C2EF5}"/>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387561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3B3C-183D-D3DC-8A55-332A976E5BF6}"/>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9EF662E3-EC78-DE11-FCA3-9FB6E5566655}"/>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4" name="Footer Placeholder 3">
            <a:extLst>
              <a:ext uri="{FF2B5EF4-FFF2-40B4-BE49-F238E27FC236}">
                <a16:creationId xmlns:a16="http://schemas.microsoft.com/office/drawing/2014/main" id="{F379E6C9-9F19-D21C-416E-A9C55732C5D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7541BE4-6F08-C3FC-6073-CF0FA1C21B3D}"/>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3333851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9AC962-8BBC-D394-C170-274B2B81EBF9}"/>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3" name="Footer Placeholder 2">
            <a:extLst>
              <a:ext uri="{FF2B5EF4-FFF2-40B4-BE49-F238E27FC236}">
                <a16:creationId xmlns:a16="http://schemas.microsoft.com/office/drawing/2014/main" id="{8B4F0E7E-50E6-E348-AFC4-8CBC358E23A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784AEBE-5955-A216-28B0-99C0AD240CEE}"/>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1625333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02C-F71E-ECC4-143D-9A30ECFEABF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12401449-38B3-FA36-B63A-E15601E96E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14C2B577-CCAE-8641-1286-FD32A84879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D4C9FE9-EC97-2D74-C5E9-74B92AB9429B}"/>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6" name="Footer Placeholder 5">
            <a:extLst>
              <a:ext uri="{FF2B5EF4-FFF2-40B4-BE49-F238E27FC236}">
                <a16:creationId xmlns:a16="http://schemas.microsoft.com/office/drawing/2014/main" id="{93093D12-0441-587D-3038-67B9E4077F1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D514FD8-C09D-279D-FE9A-F64BC4BB4AAA}"/>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3748212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42783-75B0-FF6F-3DF8-508F7528A9D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93CBF74E-175D-95AA-7D9B-54F86D3094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E7348C6-030C-972D-1281-8AD27B979E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D0DEB8-9A24-7162-4F0B-03D9B114A253}"/>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6" name="Footer Placeholder 5">
            <a:extLst>
              <a:ext uri="{FF2B5EF4-FFF2-40B4-BE49-F238E27FC236}">
                <a16:creationId xmlns:a16="http://schemas.microsoft.com/office/drawing/2014/main" id="{A6B972C6-BCA4-C233-1D5F-80B15AC844B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03E8B4B-8B9E-0B15-0C1F-DF8E01D77C8D}"/>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1332389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53187-606D-8B06-1453-771BDE32FD22}"/>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8CB6BA0A-00F5-388F-4BDD-DE569783C4A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51C767B6-E909-E07E-C35B-94EEC37B1C6B}"/>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5" name="Footer Placeholder 4">
            <a:extLst>
              <a:ext uri="{FF2B5EF4-FFF2-40B4-BE49-F238E27FC236}">
                <a16:creationId xmlns:a16="http://schemas.microsoft.com/office/drawing/2014/main" id="{E3DFE070-A20C-FE33-2E8D-56910DB9C37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28ACD38-7168-0678-E446-8BF520B0BE10}"/>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2564977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C6CA2F-8E37-B465-0B05-856615199C9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CD89A204-CCF3-0B17-0CEA-C1BEF1C80DF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EA7CA10E-5933-EB35-5A1C-E5062CA5259E}"/>
              </a:ext>
            </a:extLst>
          </p:cNvPr>
          <p:cNvSpPr>
            <a:spLocks noGrp="1"/>
          </p:cNvSpPr>
          <p:nvPr>
            <p:ph type="dt" sz="half" idx="10"/>
          </p:nvPr>
        </p:nvSpPr>
        <p:spPr/>
        <p:txBody>
          <a:bodyPr/>
          <a:lstStyle/>
          <a:p>
            <a:fld id="{C9B60EE1-7A1A-4B0F-9F4C-114D0055ED8A}" type="datetimeFigureOut">
              <a:rPr lang="en-AU" smtClean="0"/>
              <a:t>25/04/2025</a:t>
            </a:fld>
            <a:endParaRPr lang="en-AU"/>
          </a:p>
        </p:txBody>
      </p:sp>
      <p:sp>
        <p:nvSpPr>
          <p:cNvPr id="5" name="Footer Placeholder 4">
            <a:extLst>
              <a:ext uri="{FF2B5EF4-FFF2-40B4-BE49-F238E27FC236}">
                <a16:creationId xmlns:a16="http://schemas.microsoft.com/office/drawing/2014/main" id="{74F0F53D-6F70-9918-8E3B-6D9E6A6FBA6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C0FB983-44BB-0874-F7A7-F99FEB00C9AD}"/>
              </a:ext>
            </a:extLst>
          </p:cNvPr>
          <p:cNvSpPr>
            <a:spLocks noGrp="1"/>
          </p:cNvSpPr>
          <p:nvPr>
            <p:ph type="sldNum" sz="quarter" idx="12"/>
          </p:nvPr>
        </p:nvSpPr>
        <p:spPr/>
        <p:txBody>
          <a:bodyPr/>
          <a:lstStyle/>
          <a:p>
            <a:fld id="{FB217FA0-0A29-45C7-A24E-4F65321F46B7}" type="slidenum">
              <a:rPr lang="en-AU" smtClean="0"/>
              <a:t>‹#›</a:t>
            </a:fld>
            <a:endParaRPr lang="en-AU"/>
          </a:p>
        </p:txBody>
      </p:sp>
    </p:spTree>
    <p:extLst>
      <p:ext uri="{BB962C8B-B14F-4D97-AF65-F5344CB8AC3E}">
        <p14:creationId xmlns:p14="http://schemas.microsoft.com/office/powerpoint/2010/main" val="96073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94C506-5E71-870F-1F10-7E19A81914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D2AC1CE8-A918-EA72-C22E-9A9E88C6B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6B8FCDF1-818A-13C4-44BB-A1108DE378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B60EE1-7A1A-4B0F-9F4C-114D0055ED8A}" type="datetimeFigureOut">
              <a:rPr lang="en-AU" smtClean="0"/>
              <a:t>25/04/2025</a:t>
            </a:fld>
            <a:endParaRPr lang="en-AU"/>
          </a:p>
        </p:txBody>
      </p:sp>
      <p:sp>
        <p:nvSpPr>
          <p:cNvPr id="5" name="Footer Placeholder 4">
            <a:extLst>
              <a:ext uri="{FF2B5EF4-FFF2-40B4-BE49-F238E27FC236}">
                <a16:creationId xmlns:a16="http://schemas.microsoft.com/office/drawing/2014/main" id="{A96F44C6-44C4-DA1B-422C-F35B6089CF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169E0D44-26E3-0D4B-03B3-5C6FF4E5F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217FA0-0A29-45C7-A24E-4F65321F46B7}" type="slidenum">
              <a:rPr lang="en-AU" smtClean="0"/>
              <a:t>‹#›</a:t>
            </a:fld>
            <a:endParaRPr lang="en-AU"/>
          </a:p>
        </p:txBody>
      </p:sp>
    </p:spTree>
    <p:extLst>
      <p:ext uri="{BB962C8B-B14F-4D97-AF65-F5344CB8AC3E}">
        <p14:creationId xmlns:p14="http://schemas.microsoft.com/office/powerpoint/2010/main" val="1801716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8A9B5E-84D9-6EA8-9FF9-47285EE00E0A}"/>
              </a:ext>
            </a:extLst>
          </p:cNvPr>
          <p:cNvPicPr>
            <a:picLocks noChangeAspect="1"/>
          </p:cNvPicPr>
          <p:nvPr/>
        </p:nvPicPr>
        <p:blipFill>
          <a:blip r:embed="rId2"/>
          <a:stretch>
            <a:fillRect/>
          </a:stretch>
        </p:blipFill>
        <p:spPr>
          <a:xfrm>
            <a:off x="546913" y="155750"/>
            <a:ext cx="11098174" cy="733527"/>
          </a:xfrm>
          <a:prstGeom prst="rect">
            <a:avLst/>
          </a:prstGeom>
        </p:spPr>
      </p:pic>
      <p:pic>
        <p:nvPicPr>
          <p:cNvPr id="6" name="Picture 5">
            <a:extLst>
              <a:ext uri="{FF2B5EF4-FFF2-40B4-BE49-F238E27FC236}">
                <a16:creationId xmlns:a16="http://schemas.microsoft.com/office/drawing/2014/main" id="{D2F077FD-8B6A-7679-3C92-4084DEDD984C}"/>
              </a:ext>
            </a:extLst>
          </p:cNvPr>
          <p:cNvPicPr>
            <a:picLocks noChangeAspect="1"/>
          </p:cNvPicPr>
          <p:nvPr/>
        </p:nvPicPr>
        <p:blipFill>
          <a:blip r:embed="rId3"/>
          <a:stretch>
            <a:fillRect/>
          </a:stretch>
        </p:blipFill>
        <p:spPr>
          <a:xfrm>
            <a:off x="4909972" y="1015048"/>
            <a:ext cx="2372056" cy="647790"/>
          </a:xfrm>
          <a:prstGeom prst="rect">
            <a:avLst/>
          </a:prstGeom>
        </p:spPr>
      </p:pic>
      <p:pic>
        <p:nvPicPr>
          <p:cNvPr id="1026" name="Picture 2">
            <a:extLst>
              <a:ext uri="{FF2B5EF4-FFF2-40B4-BE49-F238E27FC236}">
                <a16:creationId xmlns:a16="http://schemas.microsoft.com/office/drawing/2014/main" id="{CBEB6D3E-AC5D-337F-29E1-796B4191867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350" b="21013"/>
          <a:stretch/>
        </p:blipFill>
        <p:spPr bwMode="auto">
          <a:xfrm>
            <a:off x="0" y="2417080"/>
            <a:ext cx="12192000" cy="4440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563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0EE0D1-E252-685A-C9AB-111353155C22}"/>
              </a:ext>
            </a:extLst>
          </p:cNvPr>
          <p:cNvPicPr>
            <a:picLocks noChangeAspect="1"/>
          </p:cNvPicPr>
          <p:nvPr/>
        </p:nvPicPr>
        <p:blipFill>
          <a:blip r:embed="rId2"/>
          <a:stretch>
            <a:fillRect/>
          </a:stretch>
        </p:blipFill>
        <p:spPr>
          <a:xfrm>
            <a:off x="399955" y="123093"/>
            <a:ext cx="11098174" cy="733527"/>
          </a:xfrm>
          <a:prstGeom prst="rect">
            <a:avLst/>
          </a:prstGeom>
        </p:spPr>
      </p:pic>
      <p:sp>
        <p:nvSpPr>
          <p:cNvPr id="3" name="TextBox 2">
            <a:extLst>
              <a:ext uri="{FF2B5EF4-FFF2-40B4-BE49-F238E27FC236}">
                <a16:creationId xmlns:a16="http://schemas.microsoft.com/office/drawing/2014/main" id="{7BAE648C-63CA-0B14-1E7A-76A26B680583}"/>
              </a:ext>
            </a:extLst>
          </p:cNvPr>
          <p:cNvSpPr txBox="1"/>
          <p:nvPr/>
        </p:nvSpPr>
        <p:spPr>
          <a:xfrm>
            <a:off x="399955" y="2473016"/>
            <a:ext cx="3570515" cy="2325743"/>
          </a:xfrm>
          <a:prstGeom prst="round2DiagRect">
            <a:avLst/>
          </a:prstGeom>
          <a:noFill/>
          <a:ln w="12700">
            <a:solidFill>
              <a:schemeClr val="tx1"/>
            </a:solidFill>
            <a:prstDash val="solid"/>
          </a:ln>
        </p:spPr>
        <p:txBody>
          <a:bodyPr wrap="square" rtlCol="0">
            <a:spAutoFit/>
          </a:bodyPr>
          <a:lstStyle/>
          <a:p>
            <a:r>
              <a:rPr lang="en-US" sz="1600" b="1" dirty="0"/>
              <a:t>Cultural Symbols in Art</a:t>
            </a:r>
            <a:r>
              <a:rPr lang="en-US" sz="1600" dirty="0"/>
              <a:t> may include:</a:t>
            </a:r>
          </a:p>
          <a:p>
            <a:pPr marL="285750" indent="-285750">
              <a:buFont typeface="Courier New" panose="02070309020205020404" pitchFamily="49" charset="0"/>
              <a:buChar char="o"/>
            </a:pPr>
            <a:r>
              <a:rPr lang="en-US" sz="1600" dirty="0"/>
              <a:t>Totemic animals</a:t>
            </a:r>
          </a:p>
          <a:p>
            <a:pPr marL="285750" indent="-285750">
              <a:buFont typeface="Courier New" panose="02070309020205020404" pitchFamily="49" charset="0"/>
              <a:buChar char="o"/>
            </a:pPr>
            <a:r>
              <a:rPr lang="en-US" sz="1600" dirty="0"/>
              <a:t>Traditional patterns</a:t>
            </a:r>
          </a:p>
          <a:p>
            <a:pPr marL="285750" indent="-285750">
              <a:buFont typeface="Courier New" panose="02070309020205020404" pitchFamily="49" charset="0"/>
              <a:buChar char="o"/>
            </a:pPr>
            <a:r>
              <a:rPr lang="en-US" sz="1600" dirty="0"/>
              <a:t>Glyphs, icons, family crests</a:t>
            </a:r>
          </a:p>
          <a:p>
            <a:pPr marL="285750" indent="-285750">
              <a:buFont typeface="Courier New" panose="02070309020205020404" pitchFamily="49" charset="0"/>
              <a:buChar char="o"/>
            </a:pPr>
            <a:r>
              <a:rPr lang="en-US" sz="1600" dirty="0"/>
              <a:t>Cultural or ancestral materials (earth, bark, pulp, thread)</a:t>
            </a:r>
          </a:p>
          <a:p>
            <a:pPr algn="ctr">
              <a:lnSpc>
                <a:spcPct val="107000"/>
              </a:lnSpc>
              <a:spcAft>
                <a:spcPts val="800"/>
              </a:spcAft>
              <a:buNone/>
            </a:pPr>
            <a:endParaRPr lang="en-AU" sz="1800" b="1" kern="0" dirty="0">
              <a:effectLst/>
              <a:latin typeface="+mj-lt"/>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2B74C69-C83A-2738-17D4-6FB40148C929}"/>
              </a:ext>
            </a:extLst>
          </p:cNvPr>
          <p:cNvSpPr txBox="1"/>
          <p:nvPr/>
        </p:nvSpPr>
        <p:spPr>
          <a:xfrm>
            <a:off x="604157" y="986348"/>
            <a:ext cx="10678886" cy="1102994"/>
          </a:xfrm>
          <a:prstGeom prst="rect">
            <a:avLst/>
          </a:prstGeom>
          <a:noFill/>
        </p:spPr>
        <p:txBody>
          <a:bodyPr wrap="square">
            <a:spAutoFit/>
          </a:bodyPr>
          <a:lstStyle/>
          <a:p>
            <a:pPr algn="ctr">
              <a:lnSpc>
                <a:spcPct val="107000"/>
              </a:lnSpc>
            </a:pPr>
            <a:r>
              <a:rPr lang="en-US" b="1" i="1" dirty="0"/>
              <a:t>Artists often encode meaning using visual codes such as pattern, repetition, deconstructed text, and symbolic motifs.</a:t>
            </a:r>
          </a:p>
          <a:p>
            <a:pPr algn="ctr">
              <a:lnSpc>
                <a:spcPct val="107000"/>
              </a:lnSpc>
            </a:pPr>
            <a:endParaRPr lang="en-US" sz="800" b="1" i="1" dirty="0"/>
          </a:p>
          <a:p>
            <a:pPr lvl="0" algn="ctr">
              <a:lnSpc>
                <a:spcPct val="107000"/>
              </a:lnSpc>
              <a:buSzPts val="1000"/>
              <a:tabLst>
                <a:tab pos="457200" algn="l"/>
              </a:tabLst>
            </a:pPr>
            <a:r>
              <a:rPr lang="en-AU" b="1" i="1" kern="0" dirty="0">
                <a:effectLst/>
                <a:ea typeface="Times New Roman" panose="02020603050405020304" pitchFamily="18" charset="0"/>
                <a:cs typeface="Times New Roman" panose="02020603050405020304" pitchFamily="18" charset="0"/>
              </a:rPr>
              <a:t>Symbols go beyond words—shapes, motifs, materials, and repetition carry meaning</a:t>
            </a:r>
            <a:endParaRPr lang="en-AU" b="1" i="1" kern="100" dirty="0">
              <a:effectLst/>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CBBD9BB-144B-5216-CF95-B751B1F42B2A}"/>
              </a:ext>
            </a:extLst>
          </p:cNvPr>
          <p:cNvSpPr txBox="1"/>
          <p:nvPr/>
        </p:nvSpPr>
        <p:spPr>
          <a:xfrm>
            <a:off x="4310742" y="2442916"/>
            <a:ext cx="3570516" cy="3098721"/>
          </a:xfrm>
          <a:prstGeom prst="round2DiagRect">
            <a:avLst/>
          </a:prstGeom>
          <a:noFill/>
          <a:ln w="12700">
            <a:solidFill>
              <a:schemeClr val="tx1"/>
            </a:solidFill>
            <a:prstDash val="solid"/>
          </a:ln>
        </p:spPr>
        <p:txBody>
          <a:bodyPr wrap="square" rtlCol="0">
            <a:spAutoFit/>
          </a:bodyPr>
          <a:lstStyle/>
          <a:p>
            <a:r>
              <a:rPr lang="en-US" sz="1600" b="1" dirty="0"/>
              <a:t>Language in Art</a:t>
            </a:r>
            <a:r>
              <a:rPr lang="en-US" sz="1600" dirty="0"/>
              <a:t>:</a:t>
            </a:r>
          </a:p>
          <a:p>
            <a:pPr marL="285750" indent="-285750">
              <a:buFont typeface="Courier New" panose="02070309020205020404" pitchFamily="49" charset="0"/>
              <a:buChar char="o"/>
            </a:pPr>
            <a:r>
              <a:rPr lang="en-US" sz="1600" dirty="0"/>
              <a:t>Can be literal (text and script) or abstract (marks and symbols)</a:t>
            </a:r>
          </a:p>
          <a:p>
            <a:pPr marL="285750" indent="-285750">
              <a:buFont typeface="Courier New" panose="02070309020205020404" pitchFamily="49" charset="0"/>
              <a:buChar char="o"/>
            </a:pPr>
            <a:r>
              <a:rPr lang="en-US" sz="1600" dirty="0"/>
              <a:t>Can </a:t>
            </a:r>
            <a:r>
              <a:rPr lang="en-US" sz="1600" dirty="0" err="1"/>
              <a:t>symbolise</a:t>
            </a:r>
            <a:r>
              <a:rPr lang="en-US" sz="1600" dirty="0"/>
              <a:t> inclusion or exclusion, clarity or confusion</a:t>
            </a:r>
          </a:p>
          <a:p>
            <a:pPr marL="285750" indent="-285750">
              <a:buFont typeface="Courier New" panose="02070309020205020404" pitchFamily="49" charset="0"/>
              <a:buChar char="o"/>
            </a:pPr>
            <a:r>
              <a:rPr lang="en-US" sz="1600" dirty="0"/>
              <a:t>Fragmented or </a:t>
            </a:r>
            <a:r>
              <a:rPr lang="en-US" sz="1600" dirty="0" err="1"/>
              <a:t>recontextualised</a:t>
            </a:r>
            <a:r>
              <a:rPr lang="en-US" sz="1600" dirty="0"/>
              <a:t> language reflects cultural loss, recovery, or transformation</a:t>
            </a:r>
          </a:p>
          <a:p>
            <a:pPr marL="742950" lvl="1" indent="-285750">
              <a:buFont typeface="Arial" panose="020B0604020202020204" pitchFamily="34" charset="0"/>
              <a:buChar char="•"/>
            </a:pPr>
            <a:endParaRPr lang="en-US" sz="1600" dirty="0"/>
          </a:p>
        </p:txBody>
      </p:sp>
      <p:sp>
        <p:nvSpPr>
          <p:cNvPr id="7" name="TextBox 6">
            <a:extLst>
              <a:ext uri="{FF2B5EF4-FFF2-40B4-BE49-F238E27FC236}">
                <a16:creationId xmlns:a16="http://schemas.microsoft.com/office/drawing/2014/main" id="{6C7CA7DD-D497-D8BB-1E02-5C4EC4295B99}"/>
              </a:ext>
            </a:extLst>
          </p:cNvPr>
          <p:cNvSpPr txBox="1"/>
          <p:nvPr/>
        </p:nvSpPr>
        <p:spPr>
          <a:xfrm>
            <a:off x="8352157" y="2442916"/>
            <a:ext cx="3570517" cy="2325743"/>
          </a:xfrm>
          <a:prstGeom prst="round2DiagRect">
            <a:avLst/>
          </a:prstGeom>
          <a:noFill/>
          <a:ln w="12700">
            <a:solidFill>
              <a:schemeClr val="tx1"/>
            </a:solidFill>
            <a:prstDash val="solid"/>
          </a:ln>
        </p:spPr>
        <p:txBody>
          <a:bodyPr wrap="square" rtlCol="0">
            <a:spAutoFit/>
          </a:bodyPr>
          <a:lstStyle/>
          <a:p>
            <a:r>
              <a:rPr lang="en-US" sz="1600" b="1" dirty="0"/>
              <a:t>Purpose of Visual Codes</a:t>
            </a:r>
            <a:r>
              <a:rPr lang="en-US" sz="1600" dirty="0"/>
              <a:t>:</a:t>
            </a:r>
          </a:p>
          <a:p>
            <a:pPr marL="285750" indent="-285750">
              <a:buFont typeface="Courier New" panose="02070309020205020404" pitchFamily="49" charset="0"/>
              <a:buChar char="o"/>
            </a:pPr>
            <a:r>
              <a:rPr lang="en-US" sz="1600" dirty="0"/>
              <a:t>Convey identity, memory, spirituality, protest</a:t>
            </a:r>
          </a:p>
          <a:p>
            <a:pPr marL="285750" indent="-285750">
              <a:buFont typeface="Courier New" panose="02070309020205020404" pitchFamily="49" charset="0"/>
              <a:buChar char="o"/>
            </a:pPr>
            <a:r>
              <a:rPr lang="en-US" sz="1600" dirty="0"/>
              <a:t>Reclaim erased or silenced histories</a:t>
            </a:r>
          </a:p>
          <a:p>
            <a:pPr marL="285750" indent="-285750">
              <a:buFont typeface="Courier New" panose="02070309020205020404" pitchFamily="49" charset="0"/>
              <a:buChar char="o"/>
            </a:pPr>
            <a:r>
              <a:rPr lang="en-US" sz="1600" dirty="0"/>
              <a:t>Layer meaning beyond the literal</a:t>
            </a:r>
          </a:p>
          <a:p>
            <a:pPr marL="285750" indent="-285750">
              <a:buFont typeface="Courier New" panose="02070309020205020404" pitchFamily="49" charset="0"/>
              <a:buChar char="o"/>
            </a:pPr>
            <a:r>
              <a:rPr lang="en-US" sz="1600" dirty="0"/>
              <a:t>Create space for interpretation</a:t>
            </a:r>
          </a:p>
          <a:p>
            <a:pPr algn="ctr">
              <a:lnSpc>
                <a:spcPct val="107000"/>
              </a:lnSpc>
              <a:spcAft>
                <a:spcPts val="800"/>
              </a:spcAft>
              <a:buNone/>
            </a:pPr>
            <a:endParaRPr lang="en-AU" sz="1800" b="1" kern="0" dirty="0">
              <a:effectLst/>
              <a:latin typeface="+mj-lt"/>
              <a:ea typeface="Times New Roman" panose="02020603050405020304" pitchFamily="18" charset="0"/>
              <a:cs typeface="Times New Roman" panose="02020603050405020304" pitchFamily="18" charset="0"/>
            </a:endParaRPr>
          </a:p>
        </p:txBody>
      </p:sp>
      <p:sp>
        <p:nvSpPr>
          <p:cNvPr id="8" name="TextBox 2">
            <a:extLst>
              <a:ext uri="{FF2B5EF4-FFF2-40B4-BE49-F238E27FC236}">
                <a16:creationId xmlns:a16="http://schemas.microsoft.com/office/drawing/2014/main" id="{EF11BEFC-DF41-BFF6-8A9F-D8DCCC76E312}"/>
              </a:ext>
            </a:extLst>
          </p:cNvPr>
          <p:cNvSpPr txBox="1"/>
          <p:nvPr/>
        </p:nvSpPr>
        <p:spPr>
          <a:xfrm rot="810856">
            <a:off x="9479627" y="4606178"/>
            <a:ext cx="2515211" cy="1985421"/>
          </a:xfrm>
          <a:custGeom>
            <a:avLst/>
            <a:gdLst>
              <a:gd name="connsiteX0" fmla="*/ 0 w 2515211"/>
              <a:gd name="connsiteY0" fmla="*/ 992711 h 1985421"/>
              <a:gd name="connsiteX1" fmla="*/ 1257606 w 2515211"/>
              <a:gd name="connsiteY1" fmla="*/ 0 h 1985421"/>
              <a:gd name="connsiteX2" fmla="*/ 2515212 w 2515211"/>
              <a:gd name="connsiteY2" fmla="*/ 992711 h 1985421"/>
              <a:gd name="connsiteX3" fmla="*/ 1257606 w 2515211"/>
              <a:gd name="connsiteY3" fmla="*/ 1985422 h 1985421"/>
              <a:gd name="connsiteX4" fmla="*/ 0 w 2515211"/>
              <a:gd name="connsiteY4" fmla="*/ 992711 h 1985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5211" h="1985421" fill="none" extrusionOk="0">
                <a:moveTo>
                  <a:pt x="0" y="992711"/>
                </a:moveTo>
                <a:cubicBezTo>
                  <a:pt x="-32519" y="431129"/>
                  <a:pt x="467332" y="172960"/>
                  <a:pt x="1257606" y="0"/>
                </a:cubicBezTo>
                <a:cubicBezTo>
                  <a:pt x="2029899" y="89262"/>
                  <a:pt x="2563582" y="493899"/>
                  <a:pt x="2515212" y="992711"/>
                </a:cubicBezTo>
                <a:cubicBezTo>
                  <a:pt x="2384075" y="1500784"/>
                  <a:pt x="1989223" y="2028221"/>
                  <a:pt x="1257606" y="1985422"/>
                </a:cubicBezTo>
                <a:cubicBezTo>
                  <a:pt x="523550" y="2038826"/>
                  <a:pt x="-47808" y="1497118"/>
                  <a:pt x="0" y="992711"/>
                </a:cubicBezTo>
                <a:close/>
              </a:path>
              <a:path w="2515211" h="1985421" stroke="0" extrusionOk="0">
                <a:moveTo>
                  <a:pt x="0" y="992711"/>
                </a:moveTo>
                <a:cubicBezTo>
                  <a:pt x="94659" y="305130"/>
                  <a:pt x="597287" y="53666"/>
                  <a:pt x="1257606" y="0"/>
                </a:cubicBezTo>
                <a:cubicBezTo>
                  <a:pt x="1902150" y="-139214"/>
                  <a:pt x="2628413" y="512163"/>
                  <a:pt x="2515212" y="992711"/>
                </a:cubicBezTo>
                <a:cubicBezTo>
                  <a:pt x="2500637" y="1381929"/>
                  <a:pt x="1880461" y="2017717"/>
                  <a:pt x="1257606" y="1985422"/>
                </a:cubicBezTo>
                <a:cubicBezTo>
                  <a:pt x="539058" y="1870320"/>
                  <a:pt x="63495" y="1632531"/>
                  <a:pt x="0" y="992711"/>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i="1" dirty="0">
                <a:latin typeface="+mj-lt"/>
              </a:rPr>
              <a:t>What visual signs or phrases have personal meaning to you? What happens when text is erased, broken, or hidden in an artwork?</a:t>
            </a:r>
          </a:p>
        </p:txBody>
      </p:sp>
    </p:spTree>
    <p:extLst>
      <p:ext uri="{BB962C8B-B14F-4D97-AF65-F5344CB8AC3E}">
        <p14:creationId xmlns:p14="http://schemas.microsoft.com/office/powerpoint/2010/main" val="2955397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rtwork Mandang Ikamba (Strength of a crocodile) this artwork made of Vinyl-cut on paper, created in 2020-01-01">
            <a:extLst>
              <a:ext uri="{FF2B5EF4-FFF2-40B4-BE49-F238E27FC236}">
                <a16:creationId xmlns:a16="http://schemas.microsoft.com/office/drawing/2014/main" id="{450F056D-DA33-C3DC-628F-F463B9520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930" y="909363"/>
            <a:ext cx="2827555" cy="517148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88CA9A4-7117-E621-9A67-DF2C4F3D225B}"/>
              </a:ext>
            </a:extLst>
          </p:cNvPr>
          <p:cNvSpPr txBox="1"/>
          <p:nvPr/>
        </p:nvSpPr>
        <p:spPr>
          <a:xfrm>
            <a:off x="3564127" y="978075"/>
            <a:ext cx="3915666" cy="2587801"/>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1400" b="1" dirty="0">
                <a:latin typeface="+mj-lt"/>
              </a:rPr>
              <a:t>TEHO ROPEYARN </a:t>
            </a:r>
          </a:p>
          <a:p>
            <a:pPr lvl="0">
              <a:lnSpc>
                <a:spcPct val="107000"/>
              </a:lnSpc>
              <a:spcAft>
                <a:spcPts val="800"/>
              </a:spcAft>
              <a:buSzPts val="1000"/>
              <a:tabLst>
                <a:tab pos="457200" algn="l"/>
              </a:tabLst>
            </a:pPr>
            <a:r>
              <a:rPr lang="en-AU" sz="1400" b="1" kern="100" dirty="0">
                <a:effectLst/>
                <a:latin typeface="+mj-lt"/>
                <a:ea typeface="Aptos" panose="020B0004020202020204" pitchFamily="34" charset="0"/>
                <a:cs typeface="Times New Roman" panose="02020603050405020304" pitchFamily="18" charset="0"/>
              </a:rPr>
              <a:t>Theme:</a:t>
            </a:r>
            <a:r>
              <a:rPr lang="en-AU" sz="1400" kern="100" dirty="0">
                <a:effectLst/>
                <a:latin typeface="+mj-lt"/>
                <a:ea typeface="Aptos" panose="020B0004020202020204" pitchFamily="34" charset="0"/>
                <a:cs typeface="Times New Roman" panose="02020603050405020304" pitchFamily="18" charset="0"/>
              </a:rPr>
              <a:t> Ancestral memory, land, and strength</a:t>
            </a:r>
          </a:p>
          <a:p>
            <a:pPr>
              <a:lnSpc>
                <a:spcPct val="107000"/>
              </a:lnSpc>
              <a:spcAft>
                <a:spcPts val="800"/>
              </a:spcAft>
              <a:buSzPts val="1000"/>
              <a:tabLst>
                <a:tab pos="457200" algn="l"/>
              </a:tabLst>
            </a:pPr>
            <a:r>
              <a:rPr lang="en-AU" sz="1400" b="1" kern="100" dirty="0">
                <a:effectLst/>
                <a:latin typeface="+mj-lt"/>
                <a:ea typeface="Aptos" panose="020B0004020202020204" pitchFamily="34" charset="0"/>
                <a:cs typeface="Times New Roman" panose="02020603050405020304" pitchFamily="18" charset="0"/>
              </a:rPr>
              <a:t>Art as Code:</a:t>
            </a:r>
            <a:r>
              <a:rPr lang="en-AU" sz="1400" kern="100" dirty="0">
                <a:effectLst/>
                <a:latin typeface="+mj-lt"/>
                <a:ea typeface="Aptos" panose="020B0004020202020204" pitchFamily="34" charset="0"/>
                <a:cs typeface="Times New Roman" panose="02020603050405020304" pitchFamily="18" charset="0"/>
              </a:rPr>
              <a:t> Visual languages inherited from ancestors, used to map identity and place</a:t>
            </a:r>
            <a:endParaRPr lang="en-AU" sz="1400" b="1" kern="100" dirty="0">
              <a:effectLst/>
              <a:latin typeface="+mj-lt"/>
              <a:ea typeface="Aptos" panose="020B0004020202020204" pitchFamily="34" charset="0"/>
              <a:cs typeface="Times New Roman" panose="02020603050405020304" pitchFamily="18" charset="0"/>
            </a:endParaRPr>
          </a:p>
          <a:p>
            <a:pPr lvl="0">
              <a:lnSpc>
                <a:spcPct val="107000"/>
              </a:lnSpc>
              <a:spcAft>
                <a:spcPts val="800"/>
              </a:spcAft>
              <a:buSzPts val="1000"/>
              <a:tabLst>
                <a:tab pos="457200" algn="l"/>
              </a:tabLst>
            </a:pPr>
            <a:r>
              <a:rPr lang="en-AU" sz="1400" b="1" kern="100" dirty="0">
                <a:effectLst/>
                <a:latin typeface="+mj-lt"/>
                <a:ea typeface="Aptos" panose="020B0004020202020204" pitchFamily="34" charset="0"/>
                <a:cs typeface="Times New Roman" panose="02020603050405020304" pitchFamily="18" charset="0"/>
              </a:rPr>
              <a:t>Formal Context:</a:t>
            </a:r>
            <a:r>
              <a:rPr lang="en-AU" sz="1400" kern="100" dirty="0">
                <a:effectLst/>
                <a:latin typeface="+mj-lt"/>
                <a:ea typeface="Aptos" panose="020B0004020202020204" pitchFamily="34" charset="0"/>
                <a:cs typeface="Times New Roman" panose="02020603050405020304" pitchFamily="18" charset="0"/>
              </a:rPr>
              <a:t> Pattern, repetition, linocut technique</a:t>
            </a:r>
          </a:p>
          <a:p>
            <a:pPr lvl="0">
              <a:lnSpc>
                <a:spcPct val="107000"/>
              </a:lnSpc>
              <a:spcAft>
                <a:spcPts val="800"/>
              </a:spcAft>
              <a:buSzPts val="1000"/>
              <a:tabLst>
                <a:tab pos="457200" algn="l"/>
              </a:tabLst>
            </a:pPr>
            <a:r>
              <a:rPr lang="en-AU" sz="1400" b="1" kern="100" dirty="0">
                <a:effectLst/>
                <a:latin typeface="+mj-lt"/>
                <a:ea typeface="Aptos" panose="020B0004020202020204" pitchFamily="34" charset="0"/>
                <a:cs typeface="Times New Roman" panose="02020603050405020304" pitchFamily="18" charset="0"/>
              </a:rPr>
              <a:t>Cultural Context:</a:t>
            </a:r>
            <a:r>
              <a:rPr lang="en-AU" sz="1400" kern="100" dirty="0">
                <a:effectLst/>
                <a:latin typeface="+mj-lt"/>
                <a:ea typeface="Aptos" panose="020B0004020202020204" pitchFamily="34" charset="0"/>
                <a:cs typeface="Times New Roman" panose="02020603050405020304" pitchFamily="18" charset="0"/>
              </a:rPr>
              <a:t> Torres Strait Islander tradition and symbolism (crocodile, land and sea motifs)</a:t>
            </a:r>
            <a:r>
              <a:rPr lang="en-AU" sz="1400" dirty="0">
                <a:latin typeface="+mj-lt"/>
              </a:rPr>
              <a:t> </a:t>
            </a:r>
          </a:p>
        </p:txBody>
      </p:sp>
      <p:sp>
        <p:nvSpPr>
          <p:cNvPr id="8" name="TextBox 7">
            <a:extLst>
              <a:ext uri="{FF2B5EF4-FFF2-40B4-BE49-F238E27FC236}">
                <a16:creationId xmlns:a16="http://schemas.microsoft.com/office/drawing/2014/main" id="{12EE24A7-A179-F186-9D0A-D779EC3E4686}"/>
              </a:ext>
            </a:extLst>
          </p:cNvPr>
          <p:cNvSpPr txBox="1"/>
          <p:nvPr/>
        </p:nvSpPr>
        <p:spPr>
          <a:xfrm>
            <a:off x="293853" y="6196844"/>
            <a:ext cx="3384096" cy="545534"/>
          </a:xfrm>
          <a:prstGeom prst="rect">
            <a:avLst/>
          </a:prstGeom>
          <a:noFill/>
        </p:spPr>
        <p:txBody>
          <a:bodyPr wrap="square">
            <a:spAutoFit/>
          </a:bodyPr>
          <a:lstStyle/>
          <a:p>
            <a:pPr algn="ctr">
              <a:lnSpc>
                <a:spcPct val="107000"/>
              </a:lnSpc>
              <a:buSzPts val="1000"/>
              <a:tabLst>
                <a:tab pos="457200" algn="l"/>
              </a:tabLst>
            </a:pPr>
            <a:r>
              <a:rPr lang="en-US" sz="1400" b="0" i="1" dirty="0">
                <a:solidFill>
                  <a:srgbClr val="3B3B3B"/>
                </a:solidFill>
                <a:effectLst/>
                <a:latin typeface="+mj-lt"/>
              </a:rPr>
              <a:t>Mandang </a:t>
            </a:r>
            <a:r>
              <a:rPr lang="en-US" sz="1400" b="0" i="1" dirty="0" err="1">
                <a:solidFill>
                  <a:srgbClr val="3B3B3B"/>
                </a:solidFill>
                <a:effectLst/>
                <a:latin typeface="+mj-lt"/>
              </a:rPr>
              <a:t>Ikamba</a:t>
            </a:r>
            <a:r>
              <a:rPr lang="en-US" sz="1400" b="0" i="1" dirty="0">
                <a:solidFill>
                  <a:srgbClr val="3B3B3B"/>
                </a:solidFill>
                <a:effectLst/>
                <a:latin typeface="+mj-lt"/>
              </a:rPr>
              <a:t> (Strength of a crocodile)</a:t>
            </a:r>
            <a:r>
              <a:rPr lang="en-US" sz="1400" b="0" i="0" dirty="0">
                <a:solidFill>
                  <a:srgbClr val="3B3B3B"/>
                </a:solidFill>
                <a:effectLst/>
                <a:latin typeface="+mj-lt"/>
              </a:rPr>
              <a:t> </a:t>
            </a:r>
          </a:p>
          <a:p>
            <a:pPr algn="ctr">
              <a:lnSpc>
                <a:spcPct val="107000"/>
              </a:lnSpc>
              <a:buSzPts val="1000"/>
              <a:tabLst>
                <a:tab pos="457200" algn="l"/>
              </a:tabLst>
            </a:pPr>
            <a:r>
              <a:rPr lang="en-US" sz="1400" b="0" i="0" dirty="0">
                <a:solidFill>
                  <a:srgbClr val="3B3B3B"/>
                </a:solidFill>
                <a:effectLst/>
                <a:latin typeface="+mj-lt"/>
              </a:rPr>
              <a:t>2020, vinyl </a:t>
            </a:r>
            <a:r>
              <a:rPr lang="en-AU" sz="1400" dirty="0">
                <a:latin typeface="+mj-lt"/>
              </a:rPr>
              <a:t>linocut on paper</a:t>
            </a:r>
          </a:p>
        </p:txBody>
      </p:sp>
      <p:sp>
        <p:nvSpPr>
          <p:cNvPr id="9" name="TextBox 8">
            <a:extLst>
              <a:ext uri="{FF2B5EF4-FFF2-40B4-BE49-F238E27FC236}">
                <a16:creationId xmlns:a16="http://schemas.microsoft.com/office/drawing/2014/main" id="{2E0357AB-8261-CA7B-4DC9-7C5981338F62}"/>
              </a:ext>
            </a:extLst>
          </p:cNvPr>
          <p:cNvSpPr txBox="1"/>
          <p:nvPr/>
        </p:nvSpPr>
        <p:spPr>
          <a:xfrm>
            <a:off x="7194932" y="3099327"/>
            <a:ext cx="3567556" cy="3370284"/>
          </a:xfrm>
          <a:prstGeom prst="round2DiagRect">
            <a:avLst/>
          </a:prstGeom>
          <a:solidFill>
            <a:srgbClr val="FFFFCC"/>
          </a:solidFill>
          <a:ln w="12700">
            <a:solidFill>
              <a:schemeClr val="tx1"/>
            </a:solidFill>
            <a:prstDash val="dash"/>
          </a:ln>
        </p:spPr>
        <p:txBody>
          <a:bodyPr wrap="square" rtlCol="0">
            <a:spAutoFit/>
          </a:bodyPr>
          <a:lstStyle/>
          <a:p>
            <a:pPr>
              <a:buNone/>
            </a:pPr>
            <a:r>
              <a:rPr lang="en-US" sz="1600" b="1" dirty="0">
                <a:latin typeface="+mj-lt"/>
              </a:rPr>
              <a:t>Inquiry Process:</a:t>
            </a:r>
          </a:p>
          <a:p>
            <a:pPr marL="0" marR="0" lvl="0" indent="0" algn="l" defTabSz="914400" rtl="0" eaLnBrk="1" fontAlgn="auto" latinLnBrk="0" hangingPunct="1">
              <a:lnSpc>
                <a:spcPct val="107000"/>
              </a:lnSpc>
              <a:spcBef>
                <a:spcPts val="0"/>
              </a:spcBef>
              <a:spcAft>
                <a:spcPts val="800"/>
              </a:spcAft>
              <a:buClrTx/>
              <a:buSzPts val="1000"/>
              <a:buFontTx/>
              <a:buNone/>
              <a:tabLst>
                <a:tab pos="457200" algn="l"/>
              </a:tabLst>
              <a:defRPr/>
            </a:pPr>
            <a:endParaRPr lang="en-US" sz="1400" b="1" noProof="0" dirty="0">
              <a:latin typeface="+mj-lt"/>
            </a:endParaRPr>
          </a:p>
          <a:p>
            <a:pPr marL="0" marR="0" lvl="0" indent="0" algn="l" defTabSz="914400" rtl="0" eaLnBrk="1" fontAlgn="auto" latinLnBrk="0" hangingPunct="1">
              <a:lnSpc>
                <a:spcPct val="107000"/>
              </a:lnSpc>
              <a:spcBef>
                <a:spcPts val="0"/>
              </a:spcBef>
              <a:spcAft>
                <a:spcPts val="800"/>
              </a:spcAft>
              <a:buClrTx/>
              <a:buSzPts val="1000"/>
              <a:buFontTx/>
              <a:buNone/>
              <a:tabLst>
                <a:tab pos="457200" algn="l"/>
              </a:tabLst>
              <a:defRPr/>
            </a:pPr>
            <a:r>
              <a:rPr kumimoji="0" lang="en-AU" sz="1400" b="0" i="1"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Developing:</a:t>
            </a:r>
            <a:r>
              <a:rPr kumimoji="0" lang="en-AU"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Explores ancestral motifs as compositional framework</a:t>
            </a:r>
          </a:p>
          <a:p>
            <a:pPr marL="0" marR="0" lvl="0" indent="0" algn="l" defTabSz="914400" rtl="0" eaLnBrk="1" fontAlgn="auto" latinLnBrk="0" hangingPunct="1">
              <a:lnSpc>
                <a:spcPct val="107000"/>
              </a:lnSpc>
              <a:spcBef>
                <a:spcPts val="0"/>
              </a:spcBef>
              <a:spcAft>
                <a:spcPts val="800"/>
              </a:spcAft>
              <a:buClrTx/>
              <a:buSzPts val="1000"/>
              <a:buFontTx/>
              <a:buNone/>
              <a:tabLst>
                <a:tab pos="457200" algn="l"/>
              </a:tabLst>
              <a:defRPr/>
            </a:pPr>
            <a:r>
              <a:rPr kumimoji="0" lang="en-AU" sz="1400" b="0" i="1"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Researching:</a:t>
            </a:r>
            <a:r>
              <a:rPr kumimoji="0" lang="en-AU"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Investigates kinship systems, geography, and totems</a:t>
            </a:r>
          </a:p>
          <a:p>
            <a:pPr marL="0" marR="0" lvl="0" indent="0" algn="l" defTabSz="914400" rtl="0" eaLnBrk="1" fontAlgn="auto" latinLnBrk="0" hangingPunct="1">
              <a:lnSpc>
                <a:spcPct val="107000"/>
              </a:lnSpc>
              <a:spcBef>
                <a:spcPts val="0"/>
              </a:spcBef>
              <a:spcAft>
                <a:spcPts val="800"/>
              </a:spcAft>
              <a:buClrTx/>
              <a:buSzPts val="1000"/>
              <a:buFontTx/>
              <a:buNone/>
              <a:tabLst>
                <a:tab pos="457200" algn="l"/>
              </a:tabLst>
              <a:defRPr/>
            </a:pPr>
            <a:r>
              <a:rPr kumimoji="0" lang="en-AU" sz="1400" b="0" i="1"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Reflecting:</a:t>
            </a:r>
            <a:r>
              <a:rPr kumimoji="0" lang="en-AU"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Uses traditional designs to represent personal identity</a:t>
            </a:r>
          </a:p>
          <a:p>
            <a:pPr marL="0" marR="0" lvl="0" indent="0" algn="l" defTabSz="914400" rtl="0" eaLnBrk="1" fontAlgn="auto" latinLnBrk="0" hangingPunct="1">
              <a:lnSpc>
                <a:spcPct val="107000"/>
              </a:lnSpc>
              <a:spcBef>
                <a:spcPts val="0"/>
              </a:spcBef>
              <a:spcAft>
                <a:spcPts val="800"/>
              </a:spcAft>
              <a:buClrTx/>
              <a:buSzPts val="1000"/>
              <a:buFontTx/>
              <a:buNone/>
              <a:tabLst>
                <a:tab pos="457200" algn="l"/>
              </a:tabLst>
              <a:defRPr/>
            </a:pPr>
            <a:r>
              <a:rPr kumimoji="0" lang="en-AU" sz="1400" b="0" i="1"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Resolving:</a:t>
            </a:r>
            <a:r>
              <a:rPr kumimoji="0" lang="en-AU" sz="1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Final works communicate strength and resilience through repeated symbols</a:t>
            </a:r>
          </a:p>
        </p:txBody>
      </p:sp>
      <p:sp>
        <p:nvSpPr>
          <p:cNvPr id="10" name="TextBox 2">
            <a:extLst>
              <a:ext uri="{FF2B5EF4-FFF2-40B4-BE49-F238E27FC236}">
                <a16:creationId xmlns:a16="http://schemas.microsoft.com/office/drawing/2014/main" id="{DEE87259-19D2-3117-EAC6-CC235882F302}"/>
              </a:ext>
            </a:extLst>
          </p:cNvPr>
          <p:cNvSpPr txBox="1"/>
          <p:nvPr/>
        </p:nvSpPr>
        <p:spPr>
          <a:xfrm rot="810856">
            <a:off x="8648108" y="941938"/>
            <a:ext cx="2828131" cy="1985421"/>
          </a:xfrm>
          <a:custGeom>
            <a:avLst/>
            <a:gdLst>
              <a:gd name="connsiteX0" fmla="*/ 0 w 2828131"/>
              <a:gd name="connsiteY0" fmla="*/ 992711 h 1985421"/>
              <a:gd name="connsiteX1" fmla="*/ 1414066 w 2828131"/>
              <a:gd name="connsiteY1" fmla="*/ 0 h 1985421"/>
              <a:gd name="connsiteX2" fmla="*/ 2828132 w 2828131"/>
              <a:gd name="connsiteY2" fmla="*/ 992711 h 1985421"/>
              <a:gd name="connsiteX3" fmla="*/ 1414066 w 2828131"/>
              <a:gd name="connsiteY3" fmla="*/ 1985422 h 1985421"/>
              <a:gd name="connsiteX4" fmla="*/ 0 w 2828131"/>
              <a:gd name="connsiteY4" fmla="*/ 992711 h 1985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8131" h="1985421" fill="none" extrusionOk="0">
                <a:moveTo>
                  <a:pt x="0" y="992711"/>
                </a:moveTo>
                <a:cubicBezTo>
                  <a:pt x="-51839" y="423214"/>
                  <a:pt x="620699" y="22406"/>
                  <a:pt x="1414066" y="0"/>
                </a:cubicBezTo>
                <a:cubicBezTo>
                  <a:pt x="2272769" y="89262"/>
                  <a:pt x="2876502" y="493899"/>
                  <a:pt x="2828132" y="992711"/>
                </a:cubicBezTo>
                <a:cubicBezTo>
                  <a:pt x="2624377" y="1478531"/>
                  <a:pt x="2274786" y="2077526"/>
                  <a:pt x="1414066" y="1985422"/>
                </a:cubicBezTo>
                <a:cubicBezTo>
                  <a:pt x="593600" y="2038826"/>
                  <a:pt x="-47808" y="1497118"/>
                  <a:pt x="0" y="992711"/>
                </a:cubicBezTo>
                <a:close/>
              </a:path>
              <a:path w="2828131" h="1985421" stroke="0" extrusionOk="0">
                <a:moveTo>
                  <a:pt x="0" y="992711"/>
                </a:moveTo>
                <a:cubicBezTo>
                  <a:pt x="76914" y="331247"/>
                  <a:pt x="660728" y="43307"/>
                  <a:pt x="1414066" y="0"/>
                </a:cubicBezTo>
                <a:cubicBezTo>
                  <a:pt x="2145020" y="-139214"/>
                  <a:pt x="2941333" y="512163"/>
                  <a:pt x="2828132" y="992711"/>
                </a:cubicBezTo>
                <a:cubicBezTo>
                  <a:pt x="2823335" y="1488624"/>
                  <a:pt x="2054631" y="2048661"/>
                  <a:pt x="1414066" y="1985422"/>
                </a:cubicBezTo>
                <a:cubicBezTo>
                  <a:pt x="609108" y="1870320"/>
                  <a:pt x="63495" y="1632531"/>
                  <a:pt x="0" y="992711"/>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i="1" dirty="0">
                <a:latin typeface="+mj-lt"/>
              </a:rPr>
              <a:t>How does </a:t>
            </a:r>
            <a:r>
              <a:rPr lang="en-US" sz="1600" b="1" i="1" dirty="0" err="1">
                <a:latin typeface="+mj-lt"/>
              </a:rPr>
              <a:t>Ropeyarn</a:t>
            </a:r>
            <a:r>
              <a:rPr lang="en-US" sz="1600" b="1" i="1" dirty="0">
                <a:latin typeface="+mj-lt"/>
              </a:rPr>
              <a:t> use traditional symbols and repetition to show strength and connection to place?</a:t>
            </a:r>
          </a:p>
        </p:txBody>
      </p:sp>
      <p:pic>
        <p:nvPicPr>
          <p:cNvPr id="12" name="Picture 11">
            <a:extLst>
              <a:ext uri="{FF2B5EF4-FFF2-40B4-BE49-F238E27FC236}">
                <a16:creationId xmlns:a16="http://schemas.microsoft.com/office/drawing/2014/main" id="{805F99A3-1893-3EBA-DE6B-3B58BB991D46}"/>
              </a:ext>
            </a:extLst>
          </p:cNvPr>
          <p:cNvPicPr>
            <a:picLocks noChangeAspect="1"/>
          </p:cNvPicPr>
          <p:nvPr/>
        </p:nvPicPr>
        <p:blipFill>
          <a:blip r:embed="rId3"/>
          <a:stretch>
            <a:fillRect/>
          </a:stretch>
        </p:blipFill>
        <p:spPr>
          <a:xfrm>
            <a:off x="0" y="15473"/>
            <a:ext cx="12192000" cy="623502"/>
          </a:xfrm>
          <a:prstGeom prst="rect">
            <a:avLst/>
          </a:prstGeom>
        </p:spPr>
      </p:pic>
    </p:spTree>
    <p:extLst>
      <p:ext uri="{BB962C8B-B14F-4D97-AF65-F5344CB8AC3E}">
        <p14:creationId xmlns:p14="http://schemas.microsoft.com/office/powerpoint/2010/main" val="36282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62F53E-6122-6175-1929-C9315F4F3A30}"/>
              </a:ext>
            </a:extLst>
          </p:cNvPr>
          <p:cNvPicPr>
            <a:picLocks noChangeAspect="1"/>
          </p:cNvPicPr>
          <p:nvPr/>
        </p:nvPicPr>
        <p:blipFill>
          <a:blip r:embed="rId2"/>
          <a:stretch>
            <a:fillRect/>
          </a:stretch>
        </p:blipFill>
        <p:spPr>
          <a:xfrm>
            <a:off x="0" y="15473"/>
            <a:ext cx="12192000" cy="623502"/>
          </a:xfrm>
          <a:prstGeom prst="rect">
            <a:avLst/>
          </a:prstGeom>
        </p:spPr>
      </p:pic>
      <p:pic>
        <p:nvPicPr>
          <p:cNvPr id="4098" name="Picture 2" descr="Artwork XXlllVlllMCMLXXlll | XVllVllMCMXVll [When worlds collide] this artwork made of Mixed media (PVC plastic, enamel spray paint, medium density fibreboard, pine timber, raffia, feathers [cassowary, duck &amp; bird], shells [cowrie]), created in 2012-01-01">
            <a:extLst>
              <a:ext uri="{FF2B5EF4-FFF2-40B4-BE49-F238E27FC236}">
                <a16:creationId xmlns:a16="http://schemas.microsoft.com/office/drawing/2014/main" id="{B93B2662-9DB1-D2CC-FDC1-CA6BEF0ECD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8267" b="5122"/>
          <a:stretch/>
        </p:blipFill>
        <p:spPr bwMode="auto">
          <a:xfrm>
            <a:off x="208849" y="3429000"/>
            <a:ext cx="6233975" cy="27391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245EF7A-202D-80DF-0AE3-7A0F5FD75EAD}"/>
              </a:ext>
            </a:extLst>
          </p:cNvPr>
          <p:cNvSpPr txBox="1"/>
          <p:nvPr/>
        </p:nvSpPr>
        <p:spPr>
          <a:xfrm>
            <a:off x="287451" y="6212996"/>
            <a:ext cx="5641619" cy="629531"/>
          </a:xfrm>
          <a:prstGeom prst="rect">
            <a:avLst/>
          </a:prstGeom>
          <a:noFill/>
        </p:spPr>
        <p:txBody>
          <a:bodyPr wrap="square">
            <a:spAutoFit/>
          </a:bodyPr>
          <a:lstStyle/>
          <a:p>
            <a:pPr algn="ctr">
              <a:lnSpc>
                <a:spcPct val="107000"/>
              </a:lnSpc>
              <a:buSzPts val="1000"/>
              <a:tabLst>
                <a:tab pos="457200" algn="l"/>
              </a:tabLst>
            </a:pPr>
            <a:r>
              <a:rPr lang="en-US" sz="1100" b="0" i="1" dirty="0">
                <a:solidFill>
                  <a:srgbClr val="3B3B3B"/>
                </a:solidFill>
                <a:effectLst/>
                <a:latin typeface="+mj-lt"/>
              </a:rPr>
              <a:t>M</a:t>
            </a:r>
            <a:r>
              <a:rPr lang="en-AU" sz="1100" b="0" i="1" dirty="0" err="1">
                <a:solidFill>
                  <a:srgbClr val="3B3B3B"/>
                </a:solidFill>
                <a:effectLst/>
                <a:latin typeface="+mj-lt"/>
              </a:rPr>
              <a:t>XXlllVlllMCMLXXlll</a:t>
            </a:r>
            <a:r>
              <a:rPr lang="en-AU" sz="1100" b="0" i="1" dirty="0">
                <a:solidFill>
                  <a:srgbClr val="3B3B3B"/>
                </a:solidFill>
                <a:effectLst/>
                <a:latin typeface="+mj-lt"/>
              </a:rPr>
              <a:t> | </a:t>
            </a:r>
            <a:r>
              <a:rPr lang="en-AU" sz="1100" b="0" i="1" dirty="0" err="1">
                <a:solidFill>
                  <a:srgbClr val="3B3B3B"/>
                </a:solidFill>
                <a:effectLst/>
                <a:latin typeface="+mj-lt"/>
              </a:rPr>
              <a:t>XVllVllMCMXVll</a:t>
            </a:r>
            <a:r>
              <a:rPr lang="en-AU" sz="1100" b="0" i="1" dirty="0">
                <a:solidFill>
                  <a:srgbClr val="3B3B3B"/>
                </a:solidFill>
                <a:effectLst/>
                <a:latin typeface="+mj-lt"/>
              </a:rPr>
              <a:t> [When worlds collide]</a:t>
            </a:r>
            <a:r>
              <a:rPr lang="en-AU" sz="1100" b="0" i="0" dirty="0">
                <a:solidFill>
                  <a:srgbClr val="3B3B3B"/>
                </a:solidFill>
                <a:effectLst/>
                <a:latin typeface="+mj-lt"/>
              </a:rPr>
              <a:t> 2012, </a:t>
            </a:r>
          </a:p>
          <a:p>
            <a:pPr algn="ctr">
              <a:lnSpc>
                <a:spcPct val="107000"/>
              </a:lnSpc>
              <a:buSzPts val="1000"/>
              <a:tabLst>
                <a:tab pos="457200" algn="l"/>
              </a:tabLst>
            </a:pPr>
            <a:r>
              <a:rPr lang="en-AU" sz="1100" b="0" i="0" dirty="0">
                <a:solidFill>
                  <a:srgbClr val="3B3B3B"/>
                </a:solidFill>
                <a:effectLst/>
                <a:latin typeface="+mj-lt"/>
              </a:rPr>
              <a:t>Mixed media (PVC plastic, enamel spray paint, medium density fibreboard, pine timber, raffia, feathers [cassowary, duck &amp; bird], shells [cowrie])</a:t>
            </a:r>
          </a:p>
        </p:txBody>
      </p:sp>
      <p:sp>
        <p:nvSpPr>
          <p:cNvPr id="4" name="TextBox 3">
            <a:extLst>
              <a:ext uri="{FF2B5EF4-FFF2-40B4-BE49-F238E27FC236}">
                <a16:creationId xmlns:a16="http://schemas.microsoft.com/office/drawing/2014/main" id="{EEA11162-F63D-F39E-3F2B-453BB7E5AA8F}"/>
              </a:ext>
            </a:extLst>
          </p:cNvPr>
          <p:cNvSpPr txBox="1"/>
          <p:nvPr/>
        </p:nvSpPr>
        <p:spPr>
          <a:xfrm>
            <a:off x="150289" y="845186"/>
            <a:ext cx="6351093" cy="2377602"/>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AU" sz="1400" b="1" kern="100" dirty="0">
                <a:effectLst/>
                <a:latin typeface="+mj-lt"/>
                <a:ea typeface="Aptos" panose="020B0004020202020204" pitchFamily="34" charset="0"/>
                <a:cs typeface="Times New Roman" panose="02020603050405020304" pitchFamily="18" charset="0"/>
              </a:rPr>
              <a:t>BRIAN ROBINSON</a:t>
            </a:r>
          </a:p>
          <a:p>
            <a:r>
              <a:rPr lang="en-AU" sz="1400" b="1" dirty="0">
                <a:latin typeface="+mj-lt"/>
              </a:rPr>
              <a:t>Theme:</a:t>
            </a:r>
            <a:r>
              <a:rPr lang="en-AU" sz="1400" dirty="0">
                <a:latin typeface="+mj-lt"/>
              </a:rPr>
              <a:t> Fusion of Indigenous storytelling and global pop culture</a:t>
            </a:r>
          </a:p>
          <a:p>
            <a:endParaRPr lang="en-AU" sz="1400" dirty="0">
              <a:latin typeface="+mj-lt"/>
            </a:endParaRPr>
          </a:p>
          <a:p>
            <a:r>
              <a:rPr lang="en-AU" sz="1400" b="1" dirty="0">
                <a:latin typeface="+mj-lt"/>
              </a:rPr>
              <a:t>Art as Code:</a:t>
            </a:r>
            <a:r>
              <a:rPr lang="en-AU" sz="1400" dirty="0">
                <a:latin typeface="+mj-lt"/>
              </a:rPr>
              <a:t> Stars, constellations, masks, and traditional iconography collide with Western narrative figures.</a:t>
            </a:r>
          </a:p>
          <a:p>
            <a:endParaRPr lang="en-AU" sz="1400" dirty="0">
              <a:latin typeface="+mj-lt"/>
            </a:endParaRPr>
          </a:p>
          <a:p>
            <a:r>
              <a:rPr lang="en-AU" sz="1400" b="1" dirty="0">
                <a:latin typeface="+mj-lt"/>
              </a:rPr>
              <a:t>Formal Context:</a:t>
            </a:r>
            <a:r>
              <a:rPr lang="en-AU" sz="1400" dirty="0">
                <a:latin typeface="+mj-lt"/>
              </a:rPr>
              <a:t> Graphic detail, lino printing, sharp contrast</a:t>
            </a:r>
          </a:p>
          <a:p>
            <a:endParaRPr lang="en-AU" sz="1400" dirty="0">
              <a:latin typeface="+mj-lt"/>
            </a:endParaRPr>
          </a:p>
          <a:p>
            <a:r>
              <a:rPr lang="en-AU" sz="1400" b="1" dirty="0">
                <a:latin typeface="+mj-lt"/>
              </a:rPr>
              <a:t>Cultural Context:</a:t>
            </a:r>
            <a:r>
              <a:rPr lang="en-AU" sz="1400" dirty="0">
                <a:latin typeface="+mj-lt"/>
              </a:rPr>
              <a:t> Torres Strait Islander cosmology and classical mythology</a:t>
            </a:r>
          </a:p>
        </p:txBody>
      </p:sp>
      <p:sp>
        <p:nvSpPr>
          <p:cNvPr id="5" name="TextBox 4">
            <a:extLst>
              <a:ext uri="{FF2B5EF4-FFF2-40B4-BE49-F238E27FC236}">
                <a16:creationId xmlns:a16="http://schemas.microsoft.com/office/drawing/2014/main" id="{689E3CF4-68D5-6261-74E2-37E491A767DC}"/>
              </a:ext>
            </a:extLst>
          </p:cNvPr>
          <p:cNvSpPr txBox="1"/>
          <p:nvPr/>
        </p:nvSpPr>
        <p:spPr>
          <a:xfrm>
            <a:off x="7249796" y="845186"/>
            <a:ext cx="3567556" cy="3473291"/>
          </a:xfrm>
          <a:prstGeom prst="round2DiagRect">
            <a:avLst/>
          </a:prstGeom>
          <a:solidFill>
            <a:srgbClr val="FFFFCC"/>
          </a:solidFill>
          <a:ln w="12700">
            <a:solidFill>
              <a:schemeClr val="tx1"/>
            </a:solidFill>
            <a:prstDash val="dash"/>
          </a:ln>
        </p:spPr>
        <p:txBody>
          <a:bodyPr wrap="square" rtlCol="0">
            <a:spAutoFit/>
          </a:bodyPr>
          <a:lstStyle/>
          <a:p>
            <a:pPr>
              <a:buNone/>
            </a:pPr>
            <a:r>
              <a:rPr lang="en-US" sz="1600" b="1" dirty="0">
                <a:latin typeface="+mj-lt"/>
              </a:rPr>
              <a:t>Inquiry Process:</a:t>
            </a:r>
          </a:p>
          <a:p>
            <a:endParaRPr lang="en-US" sz="1400" i="1" dirty="0"/>
          </a:p>
          <a:p>
            <a:r>
              <a:rPr lang="en-US" sz="1400" i="1" dirty="0"/>
              <a:t>Developing:</a:t>
            </a:r>
            <a:r>
              <a:rPr lang="en-US" sz="1400" dirty="0"/>
              <a:t> Fuses dual narratives into one frame</a:t>
            </a:r>
          </a:p>
          <a:p>
            <a:endParaRPr lang="en-US" sz="1400" i="1" dirty="0"/>
          </a:p>
          <a:p>
            <a:r>
              <a:rPr lang="en-US" sz="1400" i="1" dirty="0"/>
              <a:t>Researching:</a:t>
            </a:r>
            <a:r>
              <a:rPr lang="en-US" sz="1400" dirty="0"/>
              <a:t> Studies both cultural mythologies</a:t>
            </a:r>
          </a:p>
          <a:p>
            <a:endParaRPr lang="en-US" sz="1400" i="1" dirty="0"/>
          </a:p>
          <a:p>
            <a:r>
              <a:rPr lang="en-US" sz="1400" i="1" dirty="0"/>
              <a:t>Reflecting:</a:t>
            </a:r>
            <a:r>
              <a:rPr lang="en-US" sz="1400" dirty="0"/>
              <a:t> Positions Indigenous knowledge at the </a:t>
            </a:r>
            <a:r>
              <a:rPr lang="en-US" sz="1400" dirty="0" err="1"/>
              <a:t>centre</a:t>
            </a:r>
            <a:r>
              <a:rPr lang="en-US" sz="1400" dirty="0"/>
              <a:t> of visual storytelling</a:t>
            </a:r>
          </a:p>
          <a:p>
            <a:endParaRPr lang="en-US" sz="1400" i="1" dirty="0"/>
          </a:p>
          <a:p>
            <a:r>
              <a:rPr lang="en-US" sz="1400" i="1" dirty="0"/>
              <a:t>Resolving:</a:t>
            </a:r>
            <a:r>
              <a:rPr lang="en-US" sz="1400" dirty="0"/>
              <a:t> Uses symbolic fusion to reflect dual identity</a:t>
            </a:r>
          </a:p>
        </p:txBody>
      </p:sp>
      <p:sp>
        <p:nvSpPr>
          <p:cNvPr id="6" name="TextBox 2">
            <a:extLst>
              <a:ext uri="{FF2B5EF4-FFF2-40B4-BE49-F238E27FC236}">
                <a16:creationId xmlns:a16="http://schemas.microsoft.com/office/drawing/2014/main" id="{D34BEBD1-1E14-5461-65B6-2C519BB00187}"/>
              </a:ext>
            </a:extLst>
          </p:cNvPr>
          <p:cNvSpPr txBox="1"/>
          <p:nvPr/>
        </p:nvSpPr>
        <p:spPr>
          <a:xfrm rot="762859">
            <a:off x="8537919" y="4371159"/>
            <a:ext cx="3339050" cy="2145702"/>
          </a:xfrm>
          <a:custGeom>
            <a:avLst/>
            <a:gdLst>
              <a:gd name="connsiteX0" fmla="*/ 0 w 3339050"/>
              <a:gd name="connsiteY0" fmla="*/ 1072851 h 2145702"/>
              <a:gd name="connsiteX1" fmla="*/ 1669525 w 3339050"/>
              <a:gd name="connsiteY1" fmla="*/ 0 h 2145702"/>
              <a:gd name="connsiteX2" fmla="*/ 3339050 w 3339050"/>
              <a:gd name="connsiteY2" fmla="*/ 1072851 h 2145702"/>
              <a:gd name="connsiteX3" fmla="*/ 1669525 w 3339050"/>
              <a:gd name="connsiteY3" fmla="*/ 2145702 h 2145702"/>
              <a:gd name="connsiteX4" fmla="*/ 0 w 3339050"/>
              <a:gd name="connsiteY4" fmla="*/ 1072851 h 2145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9050" h="2145702" fill="none" extrusionOk="0">
                <a:moveTo>
                  <a:pt x="0" y="1072851"/>
                </a:moveTo>
                <a:cubicBezTo>
                  <a:pt x="-92934" y="442258"/>
                  <a:pt x="638973" y="196056"/>
                  <a:pt x="1669525" y="0"/>
                </a:cubicBezTo>
                <a:cubicBezTo>
                  <a:pt x="2653608" y="71227"/>
                  <a:pt x="3382269" y="524514"/>
                  <a:pt x="3339050" y="1072851"/>
                </a:cubicBezTo>
                <a:cubicBezTo>
                  <a:pt x="3159067" y="1610215"/>
                  <a:pt x="2677135" y="2244508"/>
                  <a:pt x="1669525" y="2145702"/>
                </a:cubicBezTo>
                <a:cubicBezTo>
                  <a:pt x="728437" y="2171438"/>
                  <a:pt x="-97127" y="1576280"/>
                  <a:pt x="0" y="1072851"/>
                </a:cubicBezTo>
                <a:close/>
              </a:path>
              <a:path w="3339050" h="2145702" stroke="0" extrusionOk="0">
                <a:moveTo>
                  <a:pt x="0" y="1072851"/>
                </a:moveTo>
                <a:cubicBezTo>
                  <a:pt x="53237" y="401976"/>
                  <a:pt x="797363" y="78200"/>
                  <a:pt x="1669525" y="0"/>
                </a:cubicBezTo>
                <a:cubicBezTo>
                  <a:pt x="2552868" y="-107751"/>
                  <a:pt x="3384015" y="507228"/>
                  <a:pt x="3339050" y="1072851"/>
                </a:cubicBezTo>
                <a:cubicBezTo>
                  <a:pt x="3316110" y="1415044"/>
                  <a:pt x="2470519" y="2200228"/>
                  <a:pt x="1669525" y="2145702"/>
                </a:cubicBezTo>
                <a:cubicBezTo>
                  <a:pt x="737349" y="2097134"/>
                  <a:pt x="27984" y="1705723"/>
                  <a:pt x="0" y="1072851"/>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i="1" dirty="0">
                <a:latin typeface="+mj-lt"/>
              </a:rPr>
              <a:t>In what ways does Robinson's blending of pop culture and traditional iconography act as a form of visual storytelling?</a:t>
            </a:r>
          </a:p>
        </p:txBody>
      </p:sp>
    </p:spTree>
    <p:extLst>
      <p:ext uri="{BB962C8B-B14F-4D97-AF65-F5344CB8AC3E}">
        <p14:creationId xmlns:p14="http://schemas.microsoft.com/office/powerpoint/2010/main" val="2897559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0370E3-4F91-FA4F-5BCE-447F373FCEED}"/>
              </a:ext>
            </a:extLst>
          </p:cNvPr>
          <p:cNvPicPr>
            <a:picLocks noChangeAspect="1"/>
          </p:cNvPicPr>
          <p:nvPr/>
        </p:nvPicPr>
        <p:blipFill>
          <a:blip r:embed="rId2"/>
          <a:stretch>
            <a:fillRect/>
          </a:stretch>
        </p:blipFill>
        <p:spPr>
          <a:xfrm>
            <a:off x="0" y="0"/>
            <a:ext cx="12192000" cy="623502"/>
          </a:xfrm>
          <a:prstGeom prst="rect">
            <a:avLst/>
          </a:prstGeom>
        </p:spPr>
      </p:pic>
      <p:sp>
        <p:nvSpPr>
          <p:cNvPr id="3" name="TextBox 2">
            <a:extLst>
              <a:ext uri="{FF2B5EF4-FFF2-40B4-BE49-F238E27FC236}">
                <a16:creationId xmlns:a16="http://schemas.microsoft.com/office/drawing/2014/main" id="{1403C6F6-3498-29B2-9D14-46457E56F533}"/>
              </a:ext>
            </a:extLst>
          </p:cNvPr>
          <p:cNvSpPr txBox="1"/>
          <p:nvPr/>
        </p:nvSpPr>
        <p:spPr>
          <a:xfrm>
            <a:off x="150289" y="845186"/>
            <a:ext cx="6931231" cy="2247424"/>
          </a:xfrm>
          <a:prstGeom prst="round2DiagRect">
            <a:avLst/>
          </a:prstGeom>
          <a:noFill/>
          <a:ln w="12700">
            <a:solidFill>
              <a:schemeClr val="tx1"/>
            </a:solidFill>
            <a:prstDash val="solid"/>
          </a:ln>
        </p:spPr>
        <p:txBody>
          <a:bodyPr wrap="square" rtlCol="0">
            <a:spAutoFit/>
          </a:bodyPr>
          <a:lstStyle/>
          <a:p>
            <a:pPr algn="ctr"/>
            <a:r>
              <a:rPr lang="en-AU" sz="1400" b="1" dirty="0">
                <a:latin typeface="+mj-lt"/>
              </a:rPr>
              <a:t>SIMRYN GILL</a:t>
            </a:r>
          </a:p>
          <a:p>
            <a:endParaRPr lang="en-AU" sz="1400" b="1" dirty="0">
              <a:latin typeface="+mj-lt"/>
            </a:endParaRPr>
          </a:p>
          <a:p>
            <a:r>
              <a:rPr lang="en-US" sz="1400" b="1" dirty="0">
                <a:latin typeface="+mj-lt"/>
              </a:rPr>
              <a:t>Theme:</a:t>
            </a:r>
            <a:r>
              <a:rPr lang="en-US" sz="1400" dirty="0">
                <a:latin typeface="+mj-lt"/>
              </a:rPr>
              <a:t> Language loss, migration, and postcolonial identity</a:t>
            </a:r>
          </a:p>
          <a:p>
            <a:endParaRPr lang="en-US" sz="1400" b="1" dirty="0">
              <a:latin typeface="+mj-lt"/>
            </a:endParaRPr>
          </a:p>
          <a:p>
            <a:r>
              <a:rPr lang="en-US" sz="1400" b="1" dirty="0">
                <a:latin typeface="+mj-lt"/>
              </a:rPr>
              <a:t>Art as Code:</a:t>
            </a:r>
            <a:r>
              <a:rPr lang="en-US" sz="1400" dirty="0">
                <a:latin typeface="+mj-lt"/>
              </a:rPr>
              <a:t> Torn books and reassembled fragments </a:t>
            </a:r>
            <a:r>
              <a:rPr lang="en-US" sz="1400" dirty="0" err="1">
                <a:latin typeface="+mj-lt"/>
              </a:rPr>
              <a:t>symbolise</a:t>
            </a:r>
            <a:r>
              <a:rPr lang="en-US" sz="1400" dirty="0">
                <a:latin typeface="+mj-lt"/>
              </a:rPr>
              <a:t> memory and dislocation</a:t>
            </a:r>
            <a:endParaRPr lang="en-US" sz="1400" b="1" dirty="0">
              <a:latin typeface="+mj-lt"/>
            </a:endParaRPr>
          </a:p>
          <a:p>
            <a:endParaRPr lang="en-US" sz="1400" b="1" dirty="0">
              <a:latin typeface="+mj-lt"/>
            </a:endParaRPr>
          </a:p>
          <a:p>
            <a:r>
              <a:rPr lang="en-US" sz="1400" b="1" dirty="0">
                <a:latin typeface="+mj-lt"/>
              </a:rPr>
              <a:t>Formal Context:</a:t>
            </a:r>
            <a:r>
              <a:rPr lang="en-US" sz="1400" dirty="0">
                <a:latin typeface="+mj-lt"/>
              </a:rPr>
              <a:t> Deconstructed text, repetition, fragmentation</a:t>
            </a:r>
          </a:p>
          <a:p>
            <a:endParaRPr lang="en-US" sz="1400" b="1" dirty="0">
              <a:latin typeface="+mj-lt"/>
            </a:endParaRPr>
          </a:p>
          <a:p>
            <a:r>
              <a:rPr lang="en-US" sz="1400" b="1" dirty="0">
                <a:latin typeface="+mj-lt"/>
              </a:rPr>
              <a:t>Cultural Context:</a:t>
            </a:r>
            <a:r>
              <a:rPr lang="en-US" sz="1400" dirty="0">
                <a:latin typeface="+mj-lt"/>
              </a:rPr>
              <a:t> Displacement, memory, cultural silence</a:t>
            </a:r>
          </a:p>
        </p:txBody>
      </p:sp>
      <p:pic>
        <p:nvPicPr>
          <p:cNvPr id="5" name="Picture 4">
            <a:extLst>
              <a:ext uri="{FF2B5EF4-FFF2-40B4-BE49-F238E27FC236}">
                <a16:creationId xmlns:a16="http://schemas.microsoft.com/office/drawing/2014/main" id="{65A52EDD-CC68-2AD5-C598-AC59988F6870}"/>
              </a:ext>
            </a:extLst>
          </p:cNvPr>
          <p:cNvPicPr>
            <a:picLocks noChangeAspect="1"/>
          </p:cNvPicPr>
          <p:nvPr/>
        </p:nvPicPr>
        <p:blipFill>
          <a:blip r:embed="rId3"/>
          <a:stretch>
            <a:fillRect/>
          </a:stretch>
        </p:blipFill>
        <p:spPr>
          <a:xfrm>
            <a:off x="717692" y="3178933"/>
            <a:ext cx="5866386" cy="3240155"/>
          </a:xfrm>
          <a:prstGeom prst="rect">
            <a:avLst/>
          </a:prstGeom>
        </p:spPr>
      </p:pic>
      <p:sp>
        <p:nvSpPr>
          <p:cNvPr id="6" name="TextBox 5">
            <a:extLst>
              <a:ext uri="{FF2B5EF4-FFF2-40B4-BE49-F238E27FC236}">
                <a16:creationId xmlns:a16="http://schemas.microsoft.com/office/drawing/2014/main" id="{3B72F24B-2A30-ECC3-BCC8-1F468D803AB3}"/>
              </a:ext>
            </a:extLst>
          </p:cNvPr>
          <p:cNvSpPr txBox="1"/>
          <p:nvPr/>
        </p:nvSpPr>
        <p:spPr>
          <a:xfrm>
            <a:off x="634923" y="6463718"/>
            <a:ext cx="5641619" cy="267253"/>
          </a:xfrm>
          <a:prstGeom prst="rect">
            <a:avLst/>
          </a:prstGeom>
          <a:noFill/>
        </p:spPr>
        <p:txBody>
          <a:bodyPr wrap="square">
            <a:spAutoFit/>
          </a:bodyPr>
          <a:lstStyle/>
          <a:p>
            <a:pPr algn="ctr">
              <a:lnSpc>
                <a:spcPct val="107000"/>
              </a:lnSpc>
              <a:buSzPts val="1000"/>
              <a:tabLst>
                <a:tab pos="457200" algn="l"/>
              </a:tabLst>
            </a:pPr>
            <a:r>
              <a:rPr lang="en-US" sz="1100" i="1" dirty="0">
                <a:solidFill>
                  <a:srgbClr val="3B3B3B"/>
                </a:solidFill>
                <a:latin typeface="+mj-lt"/>
              </a:rPr>
              <a:t>Where to draw the line, </a:t>
            </a:r>
            <a:r>
              <a:rPr lang="en-AU" sz="1100" b="0" i="0" dirty="0">
                <a:solidFill>
                  <a:srgbClr val="3B3B3B"/>
                </a:solidFill>
                <a:effectLst/>
                <a:latin typeface="+mj-lt"/>
              </a:rPr>
              <a:t>2011-12, </a:t>
            </a:r>
            <a:r>
              <a:rPr lang="en-US" sz="1100" b="0" i="0" dirty="0">
                <a:solidFill>
                  <a:srgbClr val="000000"/>
                </a:solidFill>
                <a:effectLst/>
                <a:latin typeface="+mj-lt"/>
              </a:rPr>
              <a:t>Typewriting on nine sheets of paper</a:t>
            </a:r>
            <a:endParaRPr lang="en-AU" sz="1100" b="0" i="0" dirty="0">
              <a:solidFill>
                <a:srgbClr val="3B3B3B"/>
              </a:solidFill>
              <a:effectLst/>
              <a:latin typeface="+mj-lt"/>
            </a:endParaRPr>
          </a:p>
        </p:txBody>
      </p:sp>
      <p:sp>
        <p:nvSpPr>
          <p:cNvPr id="7" name="TextBox 6">
            <a:extLst>
              <a:ext uri="{FF2B5EF4-FFF2-40B4-BE49-F238E27FC236}">
                <a16:creationId xmlns:a16="http://schemas.microsoft.com/office/drawing/2014/main" id="{9BEB022A-C716-F2AD-D78A-FFB1C59F3825}"/>
              </a:ext>
            </a:extLst>
          </p:cNvPr>
          <p:cNvSpPr txBox="1"/>
          <p:nvPr/>
        </p:nvSpPr>
        <p:spPr>
          <a:xfrm>
            <a:off x="7533260" y="3092610"/>
            <a:ext cx="3567556" cy="3234928"/>
          </a:xfrm>
          <a:prstGeom prst="round2DiagRect">
            <a:avLst/>
          </a:prstGeom>
          <a:solidFill>
            <a:srgbClr val="FFFFCC"/>
          </a:solidFill>
          <a:ln w="12700">
            <a:solidFill>
              <a:schemeClr val="tx1"/>
            </a:solidFill>
            <a:prstDash val="dash"/>
          </a:ln>
        </p:spPr>
        <p:txBody>
          <a:bodyPr wrap="square" rtlCol="0">
            <a:spAutoFit/>
          </a:bodyPr>
          <a:lstStyle/>
          <a:p>
            <a:pPr>
              <a:buNone/>
            </a:pPr>
            <a:r>
              <a:rPr lang="en-US" sz="1600" b="1" dirty="0">
                <a:latin typeface="+mj-lt"/>
              </a:rPr>
              <a:t>Inquiry Process:</a:t>
            </a:r>
          </a:p>
          <a:p>
            <a:endParaRPr lang="en-US" sz="1400" i="1" dirty="0"/>
          </a:p>
          <a:p>
            <a:r>
              <a:rPr lang="en-US" sz="1400" i="1" dirty="0"/>
              <a:t>Developing:</a:t>
            </a:r>
            <a:r>
              <a:rPr lang="en-US" sz="1400" dirty="0"/>
              <a:t> Experiments with disassembling language</a:t>
            </a:r>
          </a:p>
          <a:p>
            <a:endParaRPr lang="en-US" sz="1400" i="1" dirty="0"/>
          </a:p>
          <a:p>
            <a:r>
              <a:rPr lang="en-US" sz="1400" i="1" dirty="0"/>
              <a:t>Researching:</a:t>
            </a:r>
            <a:r>
              <a:rPr lang="en-US" sz="1400" dirty="0"/>
              <a:t> Investigates personal migration histories</a:t>
            </a:r>
          </a:p>
          <a:p>
            <a:endParaRPr lang="en-US" sz="1400" i="1" dirty="0"/>
          </a:p>
          <a:p>
            <a:r>
              <a:rPr lang="en-US" sz="1400" i="1" dirty="0"/>
              <a:t>Reflecting:</a:t>
            </a:r>
            <a:r>
              <a:rPr lang="en-US" sz="1400" dirty="0"/>
              <a:t> Abstracts meaning through mark and removal</a:t>
            </a:r>
          </a:p>
          <a:p>
            <a:pPr>
              <a:buFont typeface="Arial" panose="020B0604020202020204" pitchFamily="34" charset="0"/>
              <a:buChar char="•"/>
            </a:pPr>
            <a:endParaRPr lang="en-US" sz="1400" i="1" dirty="0"/>
          </a:p>
          <a:p>
            <a:r>
              <a:rPr lang="en-US" sz="1400" i="1" dirty="0"/>
              <a:t>Resolving:</a:t>
            </a:r>
            <a:r>
              <a:rPr lang="en-US" sz="1400" dirty="0"/>
              <a:t> Final works act as quiet expressions of absence</a:t>
            </a:r>
          </a:p>
        </p:txBody>
      </p:sp>
      <p:sp>
        <p:nvSpPr>
          <p:cNvPr id="8" name="TextBox 2">
            <a:extLst>
              <a:ext uri="{FF2B5EF4-FFF2-40B4-BE49-F238E27FC236}">
                <a16:creationId xmlns:a16="http://schemas.microsoft.com/office/drawing/2014/main" id="{795A77A9-9A59-921A-F71A-4409DD996C22}"/>
              </a:ext>
            </a:extLst>
          </p:cNvPr>
          <p:cNvSpPr txBox="1"/>
          <p:nvPr/>
        </p:nvSpPr>
        <p:spPr>
          <a:xfrm rot="687041">
            <a:off x="8425426" y="949250"/>
            <a:ext cx="3157744" cy="1817611"/>
          </a:xfrm>
          <a:custGeom>
            <a:avLst/>
            <a:gdLst>
              <a:gd name="connsiteX0" fmla="*/ 0 w 3157744"/>
              <a:gd name="connsiteY0" fmla="*/ 908806 h 1817611"/>
              <a:gd name="connsiteX1" fmla="*/ 1578872 w 3157744"/>
              <a:gd name="connsiteY1" fmla="*/ 0 h 1817611"/>
              <a:gd name="connsiteX2" fmla="*/ 3157744 w 3157744"/>
              <a:gd name="connsiteY2" fmla="*/ 908806 h 1817611"/>
              <a:gd name="connsiteX3" fmla="*/ 1578872 w 3157744"/>
              <a:gd name="connsiteY3" fmla="*/ 1817612 h 1817611"/>
              <a:gd name="connsiteX4" fmla="*/ 0 w 3157744"/>
              <a:gd name="connsiteY4" fmla="*/ 908806 h 181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7744" h="1817611" fill="none" extrusionOk="0">
                <a:moveTo>
                  <a:pt x="0" y="908806"/>
                </a:moveTo>
                <a:cubicBezTo>
                  <a:pt x="-115689" y="359489"/>
                  <a:pt x="645747" y="110475"/>
                  <a:pt x="1578872" y="0"/>
                </a:cubicBezTo>
                <a:cubicBezTo>
                  <a:pt x="2548119" y="111681"/>
                  <a:pt x="3234569" y="485422"/>
                  <a:pt x="3157744" y="908806"/>
                </a:cubicBezTo>
                <a:cubicBezTo>
                  <a:pt x="2972275" y="1353890"/>
                  <a:pt x="2581584" y="1968581"/>
                  <a:pt x="1578872" y="1817612"/>
                </a:cubicBezTo>
                <a:cubicBezTo>
                  <a:pt x="664711" y="1874633"/>
                  <a:pt x="-15870" y="1396169"/>
                  <a:pt x="0" y="908806"/>
                </a:cubicBezTo>
                <a:close/>
              </a:path>
              <a:path w="3157744" h="1817611" stroke="0" extrusionOk="0">
                <a:moveTo>
                  <a:pt x="0" y="908806"/>
                </a:moveTo>
                <a:cubicBezTo>
                  <a:pt x="39705" y="348447"/>
                  <a:pt x="792642" y="134418"/>
                  <a:pt x="1578872" y="0"/>
                </a:cubicBezTo>
                <a:cubicBezTo>
                  <a:pt x="2410297" y="-112905"/>
                  <a:pt x="3237061" y="454330"/>
                  <a:pt x="3157744" y="908806"/>
                </a:cubicBezTo>
                <a:cubicBezTo>
                  <a:pt x="3151789" y="1345748"/>
                  <a:pt x="2252648" y="1906888"/>
                  <a:pt x="1578872" y="1817612"/>
                </a:cubicBezTo>
                <a:cubicBezTo>
                  <a:pt x="678653" y="1682163"/>
                  <a:pt x="21757" y="1442100"/>
                  <a:pt x="0" y="908806"/>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i="1" dirty="0">
                <a:latin typeface="+mj-lt"/>
              </a:rPr>
              <a:t>How does Gill use broken and reassembled text to reflect ideas of migration and memory?</a:t>
            </a:r>
          </a:p>
        </p:txBody>
      </p:sp>
    </p:spTree>
    <p:extLst>
      <p:ext uri="{BB962C8B-B14F-4D97-AF65-F5344CB8AC3E}">
        <p14:creationId xmlns:p14="http://schemas.microsoft.com/office/powerpoint/2010/main" val="339757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20AC55-2B89-F675-069A-588DE0E31E96}"/>
              </a:ext>
            </a:extLst>
          </p:cNvPr>
          <p:cNvPicPr>
            <a:picLocks noChangeAspect="1"/>
          </p:cNvPicPr>
          <p:nvPr/>
        </p:nvPicPr>
        <p:blipFill>
          <a:blip r:embed="rId2"/>
          <a:stretch>
            <a:fillRect/>
          </a:stretch>
        </p:blipFill>
        <p:spPr>
          <a:xfrm>
            <a:off x="130628" y="0"/>
            <a:ext cx="5096586" cy="781159"/>
          </a:xfrm>
          <a:prstGeom prst="rect">
            <a:avLst/>
          </a:prstGeom>
        </p:spPr>
      </p:pic>
      <p:pic>
        <p:nvPicPr>
          <p:cNvPr id="4" name="Picture 3">
            <a:extLst>
              <a:ext uri="{FF2B5EF4-FFF2-40B4-BE49-F238E27FC236}">
                <a16:creationId xmlns:a16="http://schemas.microsoft.com/office/drawing/2014/main" id="{CEDBB3DC-E2EA-CF2D-D9EC-0DED133A90C0}"/>
              </a:ext>
            </a:extLst>
          </p:cNvPr>
          <p:cNvPicPr>
            <a:picLocks noChangeAspect="1"/>
          </p:cNvPicPr>
          <p:nvPr/>
        </p:nvPicPr>
        <p:blipFill>
          <a:blip r:embed="rId3"/>
          <a:stretch>
            <a:fillRect/>
          </a:stretch>
        </p:blipFill>
        <p:spPr>
          <a:xfrm>
            <a:off x="5227214" y="38105"/>
            <a:ext cx="2543530" cy="704948"/>
          </a:xfrm>
          <a:prstGeom prst="rect">
            <a:avLst/>
          </a:prstGeom>
        </p:spPr>
      </p:pic>
      <p:sp>
        <p:nvSpPr>
          <p:cNvPr id="5" name="TextBox 4">
            <a:extLst>
              <a:ext uri="{FF2B5EF4-FFF2-40B4-BE49-F238E27FC236}">
                <a16:creationId xmlns:a16="http://schemas.microsoft.com/office/drawing/2014/main" id="{F3DE8B21-6CB1-0847-31A3-FA301B633219}"/>
              </a:ext>
            </a:extLst>
          </p:cNvPr>
          <p:cNvSpPr txBox="1"/>
          <p:nvPr/>
        </p:nvSpPr>
        <p:spPr>
          <a:xfrm>
            <a:off x="160282" y="1011187"/>
            <a:ext cx="2906485" cy="5517475"/>
          </a:xfrm>
          <a:prstGeom prst="roundRect">
            <a:avLst/>
          </a:prstGeom>
          <a:solidFill>
            <a:schemeClr val="bg1"/>
          </a:solidFill>
          <a:ln w="12700">
            <a:solidFill>
              <a:schemeClr val="tx1"/>
            </a:solidFill>
          </a:ln>
        </p:spPr>
        <p:txBody>
          <a:bodyPr wrap="square" rtlCol="0">
            <a:spAutoFit/>
          </a:bodyPr>
          <a:lstStyle/>
          <a:p>
            <a:pPr>
              <a:buNone/>
            </a:pPr>
            <a:r>
              <a:rPr lang="en-US" sz="1600" dirty="0">
                <a:latin typeface="+mj-lt"/>
              </a:rPr>
              <a:t>Jenna Lee is a contemporary Larrakia, Wardaman and </a:t>
            </a:r>
            <a:r>
              <a:rPr lang="en-US" sz="1600" dirty="0" err="1">
                <a:latin typeface="+mj-lt"/>
              </a:rPr>
              <a:t>KarraJarri</a:t>
            </a:r>
            <a:r>
              <a:rPr lang="en-US" sz="1600" dirty="0">
                <a:latin typeface="+mj-lt"/>
              </a:rPr>
              <a:t> artist who explores language, identity, and memory through paper, </a:t>
            </a:r>
            <a:r>
              <a:rPr lang="en-US" sz="1600" dirty="0" err="1">
                <a:latin typeface="+mj-lt"/>
              </a:rPr>
              <a:t>fibre</a:t>
            </a:r>
            <a:r>
              <a:rPr lang="en-US" sz="1600" dirty="0">
                <a:latin typeface="+mj-lt"/>
              </a:rPr>
              <a:t>, and found text. Her practice reclaims colonial and archival materials—like government reports or dictionaries—and transforms them into soft, fragile, and powerful works of art.</a:t>
            </a:r>
          </a:p>
          <a:p>
            <a:endParaRPr lang="en-US" sz="1600" dirty="0">
              <a:latin typeface="+mj-lt"/>
            </a:endParaRPr>
          </a:p>
          <a:p>
            <a:r>
              <a:rPr lang="en-US" sz="1600" dirty="0">
                <a:latin typeface="+mj-lt"/>
              </a:rPr>
              <a:t>She often pulps text into new forms, uses thread to weave memory, and incorporates repetition and Indigenous design principles. Her art becomes a visual language of cultural resilience and reclamation.</a:t>
            </a:r>
          </a:p>
        </p:txBody>
      </p:sp>
      <p:sp>
        <p:nvSpPr>
          <p:cNvPr id="6" name="TextBox 5">
            <a:extLst>
              <a:ext uri="{FF2B5EF4-FFF2-40B4-BE49-F238E27FC236}">
                <a16:creationId xmlns:a16="http://schemas.microsoft.com/office/drawing/2014/main" id="{7AC81539-B531-C187-86FC-6F8788C7B1F8}"/>
              </a:ext>
            </a:extLst>
          </p:cNvPr>
          <p:cNvSpPr txBox="1"/>
          <p:nvPr/>
        </p:nvSpPr>
        <p:spPr>
          <a:xfrm>
            <a:off x="4634668" y="5066541"/>
            <a:ext cx="7397050" cy="1600438"/>
          </a:xfrm>
          <a:prstGeom prst="roundRect">
            <a:avLst/>
          </a:prstGeom>
          <a:solidFill>
            <a:srgbClr val="99CCFF"/>
          </a:solidFill>
          <a:ln w="12700">
            <a:solidFill>
              <a:schemeClr val="tx1"/>
            </a:solidFill>
          </a:ln>
        </p:spPr>
        <p:txBody>
          <a:bodyPr wrap="square" rtlCol="0">
            <a:spAutoFit/>
          </a:bodyPr>
          <a:lstStyle/>
          <a:p>
            <a:r>
              <a:rPr lang="en-US" b="1" dirty="0"/>
              <a:t>Key Themes in Lee's Work:</a:t>
            </a:r>
          </a:p>
          <a:p>
            <a:pPr marL="285750" indent="-285750">
              <a:buFont typeface="Courier New" panose="02070309020205020404" pitchFamily="49" charset="0"/>
              <a:buChar char="o"/>
            </a:pPr>
            <a:r>
              <a:rPr lang="en-US" sz="1400" dirty="0">
                <a:latin typeface="+mj-lt"/>
              </a:rPr>
              <a:t>Reclamation of erased language and cultural memory</a:t>
            </a:r>
          </a:p>
          <a:p>
            <a:pPr marL="285750" indent="-285750">
              <a:buFont typeface="Courier New" panose="02070309020205020404" pitchFamily="49" charset="0"/>
              <a:buChar char="o"/>
            </a:pPr>
            <a:r>
              <a:rPr lang="en-US" sz="1400" dirty="0">
                <a:latin typeface="+mj-lt"/>
              </a:rPr>
              <a:t>Transformation of colonial text into Indigenous knowledge</a:t>
            </a:r>
          </a:p>
          <a:p>
            <a:pPr marL="285750" indent="-285750">
              <a:buFont typeface="Courier New" panose="02070309020205020404" pitchFamily="49" charset="0"/>
              <a:buChar char="o"/>
            </a:pPr>
            <a:r>
              <a:rPr lang="en-US" sz="1400" dirty="0">
                <a:latin typeface="+mj-lt"/>
              </a:rPr>
              <a:t>Fragility and strength through natural and recycled materials</a:t>
            </a:r>
          </a:p>
          <a:p>
            <a:pPr marL="285750" indent="-285750">
              <a:buFont typeface="Courier New" panose="02070309020205020404" pitchFamily="49" charset="0"/>
              <a:buChar char="o"/>
            </a:pPr>
            <a:r>
              <a:rPr lang="en-US" sz="1400" dirty="0">
                <a:latin typeface="+mj-lt"/>
              </a:rPr>
              <a:t>Use of repetition and handmade techniques to code stories</a:t>
            </a:r>
          </a:p>
          <a:p>
            <a:pPr marL="285750" indent="-285750">
              <a:buFont typeface="Courier New" panose="02070309020205020404" pitchFamily="49" charset="0"/>
              <a:buChar char="o"/>
            </a:pPr>
            <a:r>
              <a:rPr lang="en-US" sz="1400" dirty="0">
                <a:latin typeface="+mj-lt"/>
              </a:rPr>
              <a:t>Exploration of cultural duality and resistance through form</a:t>
            </a:r>
          </a:p>
        </p:txBody>
      </p:sp>
      <p:pic>
        <p:nvPicPr>
          <p:cNvPr id="5122" name="Picture 2">
            <a:extLst>
              <a:ext uri="{FF2B5EF4-FFF2-40B4-BE49-F238E27FC236}">
                <a16:creationId xmlns:a16="http://schemas.microsoft.com/office/drawing/2014/main" id="{6E2D7654-F55C-1E84-3B08-C1E574E297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81" t="21905" r="3069" b="9047"/>
          <a:stretch/>
        </p:blipFill>
        <p:spPr bwMode="auto">
          <a:xfrm>
            <a:off x="3577667" y="1229791"/>
            <a:ext cx="6692644" cy="328960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rize-winning art celebrates the resilience of Firs... | National  Indigenous Times">
            <a:extLst>
              <a:ext uri="{FF2B5EF4-FFF2-40B4-BE49-F238E27FC236}">
                <a16:creationId xmlns:a16="http://schemas.microsoft.com/office/drawing/2014/main" id="{849B157B-0366-59C2-97DE-8AA5BB0A81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65758" y="131393"/>
            <a:ext cx="1965960" cy="2743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D1AB441-9E52-1B58-E775-A0708C0A9645}"/>
              </a:ext>
            </a:extLst>
          </p:cNvPr>
          <p:cNvSpPr txBox="1"/>
          <p:nvPr/>
        </p:nvSpPr>
        <p:spPr>
          <a:xfrm>
            <a:off x="3066767" y="4519395"/>
            <a:ext cx="7784788" cy="283154"/>
          </a:xfrm>
          <a:prstGeom prst="rect">
            <a:avLst/>
          </a:prstGeom>
          <a:noFill/>
        </p:spPr>
        <p:txBody>
          <a:bodyPr wrap="square">
            <a:spAutoFit/>
          </a:bodyPr>
          <a:lstStyle/>
          <a:p>
            <a:pPr lvl="0" algn="ctr">
              <a:lnSpc>
                <a:spcPct val="107000"/>
              </a:lnSpc>
              <a:spcAft>
                <a:spcPts val="800"/>
              </a:spcAft>
              <a:buSzPts val="1000"/>
              <a:tabLst>
                <a:tab pos="457200" algn="l"/>
              </a:tabLst>
            </a:pPr>
            <a:r>
              <a:rPr lang="en-AU" sz="1200" b="1" dirty="0">
                <a:latin typeface="+mj-lt"/>
              </a:rPr>
              <a:t>JENNA LEE </a:t>
            </a:r>
            <a:r>
              <a:rPr lang="en-AU" sz="1200" i="1" dirty="0">
                <a:latin typeface="+mj-lt"/>
              </a:rPr>
              <a:t>un/bound passage, 2019</a:t>
            </a:r>
            <a:r>
              <a:rPr lang="en-AU" sz="1200" dirty="0">
                <a:latin typeface="+mj-lt"/>
              </a:rPr>
              <a:t>, hand-dyed and folded paper installation from pages of ‘The Voyages of Captain Cook’</a:t>
            </a:r>
            <a:endParaRPr lang="en-AU" sz="1200" kern="0" dirty="0">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9679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94A61E-F1CB-2863-6D94-0D045D2C8EEA}"/>
              </a:ext>
            </a:extLst>
          </p:cNvPr>
          <p:cNvSpPr txBox="1"/>
          <p:nvPr/>
        </p:nvSpPr>
        <p:spPr>
          <a:xfrm>
            <a:off x="2071166" y="5115753"/>
            <a:ext cx="4614455" cy="1566386"/>
          </a:xfrm>
          <a:prstGeom prst="round2DiagRect">
            <a:avLst/>
          </a:prstGeom>
          <a:noFill/>
          <a:ln w="12700">
            <a:solidFill>
              <a:schemeClr val="tx1"/>
            </a:solidFill>
            <a:prstDash val="dash"/>
          </a:ln>
        </p:spPr>
        <p:txBody>
          <a:bodyPr wrap="square" rtlCol="0">
            <a:spAutoFit/>
          </a:bodyPr>
          <a:lstStyle/>
          <a:p>
            <a:pPr>
              <a:buNone/>
            </a:pPr>
            <a:r>
              <a:rPr lang="en-AU" sz="1600" b="1" kern="0" dirty="0">
                <a:effectLst/>
                <a:latin typeface="+mj-lt"/>
                <a:ea typeface="Times New Roman" panose="02020603050405020304" pitchFamily="18" charset="0"/>
                <a:cs typeface="Times New Roman" panose="02020603050405020304" pitchFamily="18" charset="0"/>
              </a:rPr>
              <a:t>Formal Context: </a:t>
            </a:r>
            <a:r>
              <a:rPr lang="en-AU" sz="1600" kern="0" dirty="0">
                <a:effectLst/>
                <a:latin typeface="+mj-lt"/>
                <a:ea typeface="Times New Roman" panose="02020603050405020304" pitchFamily="18" charset="0"/>
                <a:cs typeface="Times New Roman" panose="02020603050405020304" pitchFamily="18" charset="0"/>
              </a:rPr>
              <a:t>L</a:t>
            </a:r>
            <a:r>
              <a:rPr lang="en-US" sz="1400" dirty="0">
                <a:latin typeface="+mj-lt"/>
              </a:rPr>
              <a:t>ee’s art is defined by her use of paper, </a:t>
            </a:r>
            <a:r>
              <a:rPr lang="en-US" sz="1400" dirty="0" err="1">
                <a:latin typeface="+mj-lt"/>
              </a:rPr>
              <a:t>fibre</a:t>
            </a:r>
            <a:r>
              <a:rPr lang="en-US" sz="1400" dirty="0">
                <a:latin typeface="+mj-lt"/>
              </a:rPr>
              <a:t>, repetition, and delicate scale. She removes or </a:t>
            </a:r>
            <a:r>
              <a:rPr lang="en-US" sz="1400" dirty="0" err="1">
                <a:latin typeface="+mj-lt"/>
              </a:rPr>
              <a:t>recontextualises</a:t>
            </a:r>
            <a:r>
              <a:rPr lang="en-US" sz="1400" dirty="0">
                <a:latin typeface="+mj-lt"/>
              </a:rPr>
              <a:t> text, using neutral tones and materials like string or pulp to reflect fragility, resilience, and care. Her compositions are minimal yet symbolic—layered with personal and cultural meaning.</a:t>
            </a:r>
          </a:p>
        </p:txBody>
      </p:sp>
      <p:sp>
        <p:nvSpPr>
          <p:cNvPr id="5" name="TextBox 4">
            <a:extLst>
              <a:ext uri="{FF2B5EF4-FFF2-40B4-BE49-F238E27FC236}">
                <a16:creationId xmlns:a16="http://schemas.microsoft.com/office/drawing/2014/main" id="{3CC76132-D877-8515-E045-0B7681755B10}"/>
              </a:ext>
            </a:extLst>
          </p:cNvPr>
          <p:cNvSpPr txBox="1"/>
          <p:nvPr/>
        </p:nvSpPr>
        <p:spPr>
          <a:xfrm>
            <a:off x="6842759" y="5079795"/>
            <a:ext cx="5118462" cy="1566386"/>
          </a:xfrm>
          <a:prstGeom prst="round2DiagRect">
            <a:avLst/>
          </a:prstGeom>
          <a:noFill/>
          <a:ln w="12700">
            <a:solidFill>
              <a:schemeClr val="tx1"/>
            </a:solidFill>
            <a:prstDash val="dash"/>
          </a:ln>
        </p:spPr>
        <p:txBody>
          <a:bodyPr wrap="square" rtlCol="0">
            <a:spAutoFit/>
          </a:bodyPr>
          <a:lstStyle/>
          <a:p>
            <a:r>
              <a:rPr lang="en-AU" sz="1600" b="1" kern="0" dirty="0">
                <a:latin typeface="+mj-lt"/>
                <a:ea typeface="Times New Roman" panose="02020603050405020304" pitchFamily="18" charset="0"/>
                <a:cs typeface="Times New Roman" panose="02020603050405020304" pitchFamily="18" charset="0"/>
              </a:rPr>
              <a:t>Cultural </a:t>
            </a:r>
            <a:r>
              <a:rPr lang="en-AU" sz="1600" b="1" kern="0" dirty="0">
                <a:effectLst/>
                <a:latin typeface="+mj-lt"/>
                <a:ea typeface="Times New Roman" panose="02020603050405020304" pitchFamily="18" charset="0"/>
                <a:cs typeface="Times New Roman" panose="02020603050405020304" pitchFamily="18" charset="0"/>
              </a:rPr>
              <a:t>Context: </a:t>
            </a:r>
            <a:r>
              <a:rPr lang="en-US" sz="1400" dirty="0">
                <a:latin typeface="+mj-lt"/>
              </a:rPr>
              <a:t>Lee’s practice is grounded in her identity as a Larrakia woman and her experience of cultural duality. She reclaims government texts and repurposes institutional materials, challenging the systems that sought to erase First Nations knowledge. Her work repositions language as a vessel for memory and sovereignty.</a:t>
            </a:r>
          </a:p>
        </p:txBody>
      </p:sp>
      <p:cxnSp>
        <p:nvCxnSpPr>
          <p:cNvPr id="6" name="Straight Arrow Connector 5">
            <a:extLst>
              <a:ext uri="{FF2B5EF4-FFF2-40B4-BE49-F238E27FC236}">
                <a16:creationId xmlns:a16="http://schemas.microsoft.com/office/drawing/2014/main" id="{566D3F3B-0D9E-6A1F-B927-7154B28D0BB1}"/>
              </a:ext>
            </a:extLst>
          </p:cNvPr>
          <p:cNvCxnSpPr>
            <a:cxnSpLocks/>
          </p:cNvCxnSpPr>
          <p:nvPr/>
        </p:nvCxnSpPr>
        <p:spPr>
          <a:xfrm>
            <a:off x="8385974" y="4611017"/>
            <a:ext cx="544108" cy="54493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B2622B55-87B1-4FAE-7156-5788B601DCDF}"/>
              </a:ext>
            </a:extLst>
          </p:cNvPr>
          <p:cNvCxnSpPr>
            <a:cxnSpLocks/>
          </p:cNvCxnSpPr>
          <p:nvPr/>
        </p:nvCxnSpPr>
        <p:spPr>
          <a:xfrm flipH="1">
            <a:off x="3987827" y="4549127"/>
            <a:ext cx="545774" cy="60682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5AA29486-6407-3D8F-4370-28A7FC6BF6D3}"/>
              </a:ext>
            </a:extLst>
          </p:cNvPr>
          <p:cNvSpPr txBox="1"/>
          <p:nvPr/>
        </p:nvSpPr>
        <p:spPr>
          <a:xfrm>
            <a:off x="199803" y="204643"/>
            <a:ext cx="3069224" cy="4078545"/>
          </a:xfrm>
          <a:prstGeom prst="round2DiagRect">
            <a:avLst/>
          </a:prstGeom>
          <a:solidFill>
            <a:srgbClr val="FFFFCC"/>
          </a:solidFill>
          <a:ln w="12700">
            <a:solidFill>
              <a:schemeClr val="tx1"/>
            </a:solidFill>
            <a:prstDash val="dash"/>
          </a:ln>
        </p:spPr>
        <p:txBody>
          <a:bodyPr wrap="square" rtlCol="0">
            <a:spAutoFit/>
          </a:bodyPr>
          <a:lstStyle/>
          <a:p>
            <a:pPr>
              <a:buNone/>
            </a:pPr>
            <a:r>
              <a:rPr lang="en-US" sz="1600" b="1" dirty="0">
                <a:latin typeface="+mj-lt"/>
              </a:rPr>
              <a:t>Inquiry Process:</a:t>
            </a:r>
          </a:p>
          <a:p>
            <a:r>
              <a:rPr lang="en-US" sz="1400" i="1" dirty="0"/>
              <a:t>Developing:</a:t>
            </a:r>
            <a:r>
              <a:rPr lang="en-US" sz="1400" dirty="0"/>
              <a:t> Begins with colonial or inherited texts and transforms them through cultural lens</a:t>
            </a:r>
          </a:p>
          <a:p>
            <a:endParaRPr lang="en-US" sz="1400" i="1" dirty="0"/>
          </a:p>
          <a:p>
            <a:r>
              <a:rPr lang="en-US" sz="1400" i="1" dirty="0"/>
              <a:t>Researching:</a:t>
            </a:r>
            <a:r>
              <a:rPr lang="en-US" sz="1400" dirty="0"/>
              <a:t> Draws from family archive and First Nations language reclamation</a:t>
            </a:r>
          </a:p>
          <a:p>
            <a:endParaRPr lang="en-US" sz="1400" i="1" dirty="0"/>
          </a:p>
          <a:p>
            <a:r>
              <a:rPr lang="en-US" sz="1400" i="1" dirty="0"/>
              <a:t>Reflecting:</a:t>
            </a:r>
            <a:r>
              <a:rPr lang="en-US" sz="1400" dirty="0"/>
              <a:t> Interweaves symbolism and fragility into personal and cultural storytelling</a:t>
            </a:r>
          </a:p>
          <a:p>
            <a:endParaRPr lang="en-US" sz="1400" i="1" dirty="0"/>
          </a:p>
          <a:p>
            <a:r>
              <a:rPr lang="en-US" sz="1400" i="1" dirty="0"/>
              <a:t>Resolving:</a:t>
            </a:r>
            <a:r>
              <a:rPr lang="en-US" sz="1400" dirty="0"/>
              <a:t> Completes poetic, layered works that speak through absence, material, and transformation</a:t>
            </a:r>
          </a:p>
        </p:txBody>
      </p:sp>
      <p:pic>
        <p:nvPicPr>
          <p:cNvPr id="7170" name="Picture 2" descr="Jenna Lee - doedoet: to tie up">
            <a:extLst>
              <a:ext uri="{FF2B5EF4-FFF2-40B4-BE49-F238E27FC236}">
                <a16:creationId xmlns:a16="http://schemas.microsoft.com/office/drawing/2014/main" id="{A587C92D-76F0-FEA4-F758-A8344DDA6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1621" y="911396"/>
            <a:ext cx="3595691" cy="30097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Jenna Lee's exquisite art deconstructs colonial objects — Art Guide  Australia">
            <a:extLst>
              <a:ext uri="{FF2B5EF4-FFF2-40B4-BE49-F238E27FC236}">
                <a16:creationId xmlns:a16="http://schemas.microsoft.com/office/drawing/2014/main" id="{179FCA01-D7C1-F471-B6AA-09A9151DB9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125" r="19873"/>
          <a:stretch/>
        </p:blipFill>
        <p:spPr bwMode="auto">
          <a:xfrm>
            <a:off x="7538702" y="293154"/>
            <a:ext cx="3573732" cy="43178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2">
            <a:extLst>
              <a:ext uri="{FF2B5EF4-FFF2-40B4-BE49-F238E27FC236}">
                <a16:creationId xmlns:a16="http://schemas.microsoft.com/office/drawing/2014/main" id="{5E6C12A2-B9F5-6321-2AEC-FB092FDD70AC}"/>
              </a:ext>
            </a:extLst>
          </p:cNvPr>
          <p:cNvSpPr txBox="1"/>
          <p:nvPr/>
        </p:nvSpPr>
        <p:spPr>
          <a:xfrm rot="737414">
            <a:off x="9448142" y="81764"/>
            <a:ext cx="2621286" cy="1433883"/>
          </a:xfrm>
          <a:custGeom>
            <a:avLst/>
            <a:gdLst>
              <a:gd name="connsiteX0" fmla="*/ 0 w 2621286"/>
              <a:gd name="connsiteY0" fmla="*/ 716942 h 1433883"/>
              <a:gd name="connsiteX1" fmla="*/ 1310643 w 2621286"/>
              <a:gd name="connsiteY1" fmla="*/ 0 h 1433883"/>
              <a:gd name="connsiteX2" fmla="*/ 2621286 w 2621286"/>
              <a:gd name="connsiteY2" fmla="*/ 716942 h 1433883"/>
              <a:gd name="connsiteX3" fmla="*/ 1310643 w 2621286"/>
              <a:gd name="connsiteY3" fmla="*/ 1433884 h 1433883"/>
              <a:gd name="connsiteX4" fmla="*/ 0 w 2621286"/>
              <a:gd name="connsiteY4" fmla="*/ 716942 h 1433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1286" h="1433883" fill="none" extrusionOk="0">
                <a:moveTo>
                  <a:pt x="0" y="716942"/>
                </a:moveTo>
                <a:cubicBezTo>
                  <a:pt x="-155800" y="257156"/>
                  <a:pt x="556788" y="54222"/>
                  <a:pt x="1310643" y="0"/>
                </a:cubicBezTo>
                <a:cubicBezTo>
                  <a:pt x="2110689" y="87496"/>
                  <a:pt x="2662324" y="362938"/>
                  <a:pt x="2621286" y="716942"/>
                </a:cubicBezTo>
                <a:cubicBezTo>
                  <a:pt x="2540134" y="1088029"/>
                  <a:pt x="2108306" y="1519130"/>
                  <a:pt x="1310643" y="1433884"/>
                </a:cubicBezTo>
                <a:cubicBezTo>
                  <a:pt x="548108" y="1486189"/>
                  <a:pt x="-43408" y="1073082"/>
                  <a:pt x="0" y="716942"/>
                </a:cubicBezTo>
                <a:close/>
              </a:path>
              <a:path w="2621286" h="1433883" stroke="0" extrusionOk="0">
                <a:moveTo>
                  <a:pt x="0" y="716942"/>
                </a:moveTo>
                <a:cubicBezTo>
                  <a:pt x="77742" y="206562"/>
                  <a:pt x="674011" y="136705"/>
                  <a:pt x="1310643" y="0"/>
                </a:cubicBezTo>
                <a:cubicBezTo>
                  <a:pt x="2000715" y="-94016"/>
                  <a:pt x="2717489" y="378530"/>
                  <a:pt x="2621286" y="716942"/>
                </a:cubicBezTo>
                <a:cubicBezTo>
                  <a:pt x="2608005" y="967973"/>
                  <a:pt x="1858991" y="1512931"/>
                  <a:pt x="1310643" y="1433884"/>
                </a:cubicBezTo>
                <a:cubicBezTo>
                  <a:pt x="570476" y="1355589"/>
                  <a:pt x="33013" y="1160503"/>
                  <a:pt x="0" y="716942"/>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latin typeface="+mj-lt"/>
              </a:rPr>
              <a:t>How does Jenna Lee symbolically rework found text and </a:t>
            </a:r>
            <a:r>
              <a:rPr lang="en-US" sz="1400" b="1" dirty="0" err="1">
                <a:latin typeface="+mj-lt"/>
              </a:rPr>
              <a:t>fibre</a:t>
            </a:r>
            <a:r>
              <a:rPr lang="en-US" sz="1400" b="1" dirty="0">
                <a:latin typeface="+mj-lt"/>
              </a:rPr>
              <a:t> to reclaim cultural identity and story?</a:t>
            </a:r>
          </a:p>
          <a:p>
            <a:pPr algn="ctr"/>
            <a:endParaRPr lang="en-AU" sz="2000" b="1" i="1" dirty="0">
              <a:latin typeface="+mj-lt"/>
            </a:endParaRPr>
          </a:p>
        </p:txBody>
      </p:sp>
    </p:spTree>
    <p:extLst>
      <p:ext uri="{BB962C8B-B14F-4D97-AF65-F5344CB8AC3E}">
        <p14:creationId xmlns:p14="http://schemas.microsoft.com/office/powerpoint/2010/main" val="1229141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883</Words>
  <Application>Microsoft Office PowerPoint</Application>
  <PresentationFormat>Widescreen</PresentationFormat>
  <Paragraphs>93</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Jacqueline Ockwell</dc:creator>
  <cp:lastModifiedBy>Jacqueline Ockwell</cp:lastModifiedBy>
  <cp:revision>1</cp:revision>
  <dcterms:created xsi:type="dcterms:W3CDTF">2025-04-24T23:18:49Z</dcterms:created>
  <dcterms:modified xsi:type="dcterms:W3CDTF">2025-04-25T02:10:48Z</dcterms:modified>
</cp:coreProperties>
</file>
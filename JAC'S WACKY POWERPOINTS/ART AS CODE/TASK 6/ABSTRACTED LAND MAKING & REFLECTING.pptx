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BCAF-8F52-D8DC-EA72-CAC60713D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D19BC-2E8F-EFDA-47F9-64F7B4BFC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69535-0525-75CB-3588-664166D6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716DF-1B08-813B-CDCD-E894880A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99A26-D461-2E80-2CEA-EA7F8C55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737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2C64-DBD9-42F9-AEE1-2D2F1847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505C2-8942-1199-C60A-0A4274FDF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DE380-3CEA-F864-D4BF-951364474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B20AA-2ECB-43FA-8C50-42B8E17B1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5331D-A2E5-BE04-CC89-B19422BF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539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D8B4C-661F-364D-2C65-62848150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F0B85-1EB1-8F67-4AF7-4BEBFF756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77307-82DF-38FB-1DDD-DEB72B3F2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3DB3B-EAED-6F78-1BC6-C79E37D1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EE40A-F481-6A4B-A387-29172045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31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C4DA-2889-7301-5A79-CCAB22FB1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CD392-1C03-2FE1-C505-999688909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1F087-338E-DFA8-8F25-6498FA395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97B81-4C78-9537-54EE-2DB54D000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831D4-A611-5CCE-3DC4-CDDC2F6C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E178F-FFF2-B151-E591-DAE22F5F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215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40C4-38E7-065A-0241-015627710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07AA5-5ED7-FA17-F9A4-B30051F4F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87B36-58EC-E7A0-02AC-AD35A9AD6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040419-3BD8-492C-A22F-4DF70B461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B96-2D1B-5754-05EE-B17746309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A25022-95AC-AF26-B87A-A30BDFFF6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8ACB4-7627-BC6E-92B5-9221DD2A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368EC3-D70A-F6EC-E3C2-B2689AA3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512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7696-359C-95A8-9BA8-910428FE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32DC62-0117-CC92-51D0-49203EDB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454040-18A5-A7C8-05F4-7E9CD13F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1791E-FB96-9339-D2B8-C49CD664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0461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01DBE0-8342-3EF3-1108-FA12DAD0E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BEA45-192D-E76F-978C-67FFA06A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E5AF0-A27E-8469-FD49-817FE1AF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649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CB02-47CC-D8A7-8649-A78C79DE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049B4-B0EB-8D01-15E6-880BB051D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F911C-41E7-52BF-B5B7-8BC24CC80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F4EF7-ED8F-435E-1F1F-46E256A5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3EF25-704A-A0DF-899A-45B51664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2F63A-062B-84B6-4365-D6524534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653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D413-273E-D3D8-8FD0-80A8C737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3EB292-9F39-C992-3DC9-5219A29B8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33B5B-643F-7208-63A5-1F0D0FE89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AC314-A876-588F-833C-2F22E42D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B06B0-0963-6E1D-CCDE-3678B227A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B06B6-EAEA-569E-90B0-966D0B371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896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DB23-2326-616F-8329-C22EBD21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909A3-FD4E-CCC3-6412-3FC21E3C3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0D5DC-BC5F-5190-112E-8FBDF497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2D9F0-0792-DDCD-7F42-CABDE489F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DEA62-1780-B2C2-F5E6-58E9DCFE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53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EF9970-1579-375D-5FDF-44F5A61FB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BC3BA-AE9F-F12B-1E81-49D9EF4A7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25F7-E195-B79C-5A62-59E6B7A2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B67CA-9237-40DE-2AC8-3CEC0216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A941A-F26C-73FE-A888-28C28BD2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548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943C69-1474-2084-220F-F99F644C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A4382-6F75-10CD-4210-D639341AA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8CDFD-D72A-C90C-5222-CE6E5D8A1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411DE-4259-43FA-94AB-856C77BE29D5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5DFA4-B126-6567-94CA-72649487E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74740-A5DB-93B7-3199-693AE1481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E0048-A12E-4D1D-BE42-3F16E7F224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755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2A42FB-6C7D-EA1F-DF28-701211B24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705" y="1478366"/>
            <a:ext cx="5820587" cy="733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55F52A-6151-8996-98E9-959A73280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546" y="0"/>
            <a:ext cx="8106906" cy="695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D47088-D599-9C05-03D6-C2351DB6D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365" y="770485"/>
            <a:ext cx="2267266" cy="600159"/>
          </a:xfrm>
          <a:prstGeom prst="rect">
            <a:avLst/>
          </a:prstGeom>
        </p:spPr>
      </p:pic>
      <p:pic>
        <p:nvPicPr>
          <p:cNvPr id="8" name="Picture 7" descr="Sally Gabori: Land of All | NGV">
            <a:extLst>
              <a:ext uri="{FF2B5EF4-FFF2-40B4-BE49-F238E27FC236}">
                <a16:creationId xmlns:a16="http://schemas.microsoft.com/office/drawing/2014/main" id="{46DF0BBE-97E7-84DC-1D0A-6D466B726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11838"/>
            <a:ext cx="12200691" cy="39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940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E441A6-39C5-99F2-18FD-077A6795C496}"/>
              </a:ext>
            </a:extLst>
          </p:cNvPr>
          <p:cNvSpPr txBox="1"/>
          <p:nvPr/>
        </p:nvSpPr>
        <p:spPr>
          <a:xfrm>
            <a:off x="276633" y="228123"/>
            <a:ext cx="11638734" cy="6401753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/>
              <a:t>Reflection Activity – Abstracted Land </a:t>
            </a:r>
          </a:p>
          <a:p>
            <a:pPr>
              <a:buFont typeface="+mj-lt"/>
              <a:buAutoNum type="arabicPeriod"/>
            </a:pPr>
            <a:r>
              <a:rPr lang="en-US" sz="1400" b="1" dirty="0">
                <a:latin typeface="+mj-lt"/>
              </a:rPr>
              <a:t>How does Sally </a:t>
            </a:r>
            <a:r>
              <a:rPr lang="en-US" sz="1400" b="1" dirty="0" err="1">
                <a:latin typeface="+mj-lt"/>
              </a:rPr>
              <a:t>Gabori</a:t>
            </a:r>
            <a:r>
              <a:rPr lang="en-US" sz="1400" b="1" dirty="0">
                <a:latin typeface="+mj-lt"/>
              </a:rPr>
              <a:t> use abstraction, </a:t>
            </a:r>
            <a:r>
              <a:rPr lang="en-US" sz="1400" b="1" dirty="0" err="1">
                <a:latin typeface="+mj-lt"/>
              </a:rPr>
              <a:t>colour</a:t>
            </a:r>
            <a:r>
              <a:rPr lang="en-US" sz="1400" b="1" dirty="0">
                <a:latin typeface="+mj-lt"/>
              </a:rPr>
              <a:t>, and scale to communicate her spiritual connection to Country?</a:t>
            </a: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latin typeface="+mj-lt"/>
              </a:rPr>
              <a:t>How does Tamika Grant-</a:t>
            </a:r>
            <a:r>
              <a:rPr lang="en-US" sz="1400" b="1" dirty="0" err="1">
                <a:latin typeface="+mj-lt"/>
              </a:rPr>
              <a:t>Iramu</a:t>
            </a:r>
            <a:r>
              <a:rPr lang="en-US" sz="1400" b="1" dirty="0">
                <a:latin typeface="+mj-lt"/>
              </a:rPr>
              <a:t> embed stories of place and identity into her printmaking through texture and motif?</a:t>
            </a: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latin typeface="+mj-lt"/>
              </a:rPr>
              <a:t>In what ways does Jacqueline Scotcher translate movement and sensory experience into abstract landscape?</a:t>
            </a: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latin typeface="+mj-lt"/>
              </a:rPr>
              <a:t>How do these three artists use different formal strategies—layering, repetition, </a:t>
            </a:r>
            <a:r>
              <a:rPr lang="en-US" sz="1400" b="1" dirty="0" err="1">
                <a:latin typeface="+mj-lt"/>
              </a:rPr>
              <a:t>colour</a:t>
            </a:r>
            <a:r>
              <a:rPr lang="en-US" sz="1400" b="1" dirty="0">
                <a:latin typeface="+mj-lt"/>
              </a:rPr>
              <a:t>, and shape—to code their connection to place?</a:t>
            </a:r>
          </a:p>
          <a:p>
            <a:endParaRPr lang="en-US" sz="1400" b="1" dirty="0">
              <a:latin typeface="+mj-lt"/>
            </a:endParaRPr>
          </a:p>
          <a:p>
            <a:endParaRPr lang="en-US" sz="1600" b="1" dirty="0"/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769293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7113CF-EC87-DA7D-D446-29FB6CC3B531}"/>
              </a:ext>
            </a:extLst>
          </p:cNvPr>
          <p:cNvSpPr txBox="1"/>
          <p:nvPr/>
        </p:nvSpPr>
        <p:spPr>
          <a:xfrm>
            <a:off x="225431" y="121103"/>
            <a:ext cx="5948663" cy="665897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ACTIVITY – PART A </a:t>
            </a:r>
          </a:p>
          <a:p>
            <a:r>
              <a:rPr lang="en-AU" sz="14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US" sz="1400" dirty="0">
                <a:latin typeface="+mj-lt"/>
              </a:rPr>
              <a:t>Create an abstracted painting that represents a familiar or meaningful environment from an aerial, topographical, or symbolic perspective.</a:t>
            </a:r>
          </a:p>
          <a:p>
            <a:pPr>
              <a:buNone/>
            </a:pPr>
            <a:endParaRPr lang="en-US" sz="1400" b="1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Objective: </a:t>
            </a:r>
            <a:r>
              <a:rPr lang="en-US" sz="1400" dirty="0">
                <a:latin typeface="+mj-lt"/>
              </a:rPr>
              <a:t>To explore how </a:t>
            </a:r>
            <a:r>
              <a:rPr lang="en-US" sz="1400" dirty="0" err="1">
                <a:latin typeface="+mj-lt"/>
              </a:rPr>
              <a:t>colour</a:t>
            </a:r>
            <a:r>
              <a:rPr lang="en-US" sz="1400" dirty="0">
                <a:latin typeface="+mj-lt"/>
              </a:rPr>
              <a:t> (element) and pattern (principle) can visually communicate a connection to landscape.</a:t>
            </a:r>
          </a:p>
          <a:p>
            <a:pPr>
              <a:buNone/>
            </a:pPr>
            <a:endParaRPr lang="en-US" sz="1400" b="1" dirty="0">
              <a:latin typeface="+mj-lt"/>
            </a:endParaRPr>
          </a:p>
          <a:p>
            <a:pPr>
              <a:buNone/>
            </a:pPr>
            <a:r>
              <a:rPr lang="en-US" sz="1400" b="1" dirty="0">
                <a:latin typeface="+mj-lt"/>
              </a:rPr>
              <a:t>Instructions: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+mj-lt"/>
              </a:rPr>
              <a:t>Investigate a natural or urban landscape that interests you—this could be local, cultural, or discovered through satellite photography.</a:t>
            </a:r>
          </a:p>
          <a:p>
            <a:pPr>
              <a:buFont typeface="+mj-lt"/>
              <a:buAutoNum type="arabicPeriod"/>
            </a:pPr>
            <a:endParaRPr lang="en-US" sz="14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400" dirty="0">
                <a:latin typeface="+mj-lt"/>
              </a:rPr>
              <a:t>Consider shapes, symbols, or signs that express boundaries, memories, movement, or relationships to place.</a:t>
            </a:r>
          </a:p>
          <a:p>
            <a:pPr>
              <a:buFont typeface="+mj-lt"/>
              <a:buAutoNum type="arabicPeriod"/>
            </a:pPr>
            <a:endParaRPr lang="en-US" sz="14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400" dirty="0">
                <a:latin typeface="+mj-lt"/>
              </a:rPr>
              <a:t>Use a limited </a:t>
            </a:r>
            <a:r>
              <a:rPr lang="en-US" sz="1400" dirty="0" err="1">
                <a:latin typeface="+mj-lt"/>
              </a:rPr>
              <a:t>colour</a:t>
            </a:r>
            <a:r>
              <a:rPr lang="en-US" sz="1400" dirty="0">
                <a:latin typeface="+mj-lt"/>
              </a:rPr>
              <a:t> palette to communicate mood, memory, season, or cultural identity.</a:t>
            </a:r>
          </a:p>
          <a:p>
            <a:pPr>
              <a:buFont typeface="+mj-lt"/>
              <a:buAutoNum type="arabicPeriod"/>
            </a:pPr>
            <a:endParaRPr lang="en-US" sz="14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400" dirty="0">
                <a:latin typeface="+mj-lt"/>
              </a:rPr>
              <a:t>Explore changing perspectives—bird’s-eye view, map-like arrangements, or elevation.</a:t>
            </a:r>
          </a:p>
          <a:p>
            <a:pPr>
              <a:buFont typeface="+mj-lt"/>
              <a:buAutoNum type="arabicPeriod"/>
            </a:pPr>
            <a:endParaRPr lang="en-US" sz="14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400" dirty="0">
                <a:latin typeface="+mj-lt"/>
              </a:rPr>
              <a:t>Apply unconventional techniques like layering, smearing, gouging, using sticks or hands to express movement and personal engagement.</a:t>
            </a:r>
          </a:p>
          <a:p>
            <a:pPr>
              <a:buFont typeface="+mj-lt"/>
              <a:buAutoNum type="arabicPeriod"/>
            </a:pPr>
            <a:endParaRPr lang="en-US" sz="1400" dirty="0">
              <a:latin typeface="+mj-lt"/>
            </a:endParaRPr>
          </a:p>
          <a:p>
            <a:r>
              <a:rPr lang="en-AU" sz="1400" b="1" dirty="0">
                <a:latin typeface="+mj-lt"/>
              </a:rPr>
              <a:t>Materials:</a:t>
            </a:r>
            <a:r>
              <a:rPr lang="en-AU" sz="1400" dirty="0">
                <a:latin typeface="+mj-lt"/>
              </a:rPr>
              <a:t> Acrylic, gouache, watercolour, collage, or mixed media with natural textures (e.g. sand, rubbings, bark)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9FED7-96DE-F9A0-AE9A-66CC54D9584D}"/>
              </a:ext>
            </a:extLst>
          </p:cNvPr>
          <p:cNvSpPr txBox="1"/>
          <p:nvPr/>
        </p:nvSpPr>
        <p:spPr>
          <a:xfrm>
            <a:off x="6352449" y="5306055"/>
            <a:ext cx="2795978" cy="115010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Formal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AU" sz="1600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400" dirty="0" err="1"/>
              <a:t>onsider</a:t>
            </a:r>
            <a:r>
              <a:rPr lang="en-US" sz="1400" dirty="0"/>
              <a:t> how aerial perspective, mark repetition, and spatial balance shape rhythm in the painting.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42B22-B1E1-D401-E5E3-2ED1CC401346}"/>
              </a:ext>
            </a:extLst>
          </p:cNvPr>
          <p:cNvSpPr txBox="1"/>
          <p:nvPr/>
        </p:nvSpPr>
        <p:spPr>
          <a:xfrm>
            <a:off x="9326782" y="5270561"/>
            <a:ext cx="2639786" cy="140513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Cultural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1400" dirty="0"/>
              <a:t>Reflect on how landscapes carry identity, memory, and ancestral connection across cultures.</a:t>
            </a:r>
          </a:p>
        </p:txBody>
      </p:sp>
      <p:pic>
        <p:nvPicPr>
          <p:cNvPr id="1026" name="Picture 2" descr="This may contain: an abstract painting with blue and white squares">
            <a:extLst>
              <a:ext uri="{FF2B5EF4-FFF2-40B4-BE49-F238E27FC236}">
                <a16:creationId xmlns:a16="http://schemas.microsoft.com/office/drawing/2014/main" id="{6AE934C1-4977-0AAA-5BE6-64AF723D4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19050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This may contain: an abstract painting with green and blue colors">
            <a:extLst>
              <a:ext uri="{FF2B5EF4-FFF2-40B4-BE49-F238E27FC236}">
                <a16:creationId xmlns:a16="http://schemas.microsoft.com/office/drawing/2014/main" id="{1CB9D6A0-5DCC-105A-5D6C-F028BED5F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3171" y="121102"/>
            <a:ext cx="2850697" cy="285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305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12ADD-E9C6-C8A9-6295-E1033A0F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5"/>
            <a:ext cx="9323614" cy="580864"/>
          </a:xfrm>
          <a:prstGeom prst="rect">
            <a:avLst/>
          </a:prstGeom>
        </p:spPr>
      </p:pic>
      <p:sp>
        <p:nvSpPr>
          <p:cNvPr id="5" name="Google Shape;114;p17">
            <a:extLst>
              <a:ext uri="{FF2B5EF4-FFF2-40B4-BE49-F238E27FC236}">
                <a16:creationId xmlns:a16="http://schemas.microsoft.com/office/drawing/2014/main" id="{7D2FD7BB-97F1-95C3-AF95-41F4F4BF87EA}"/>
              </a:ext>
            </a:extLst>
          </p:cNvPr>
          <p:cNvSpPr/>
          <p:nvPr/>
        </p:nvSpPr>
        <p:spPr>
          <a:xfrm>
            <a:off x="597589" y="1224642"/>
            <a:ext cx="4888811" cy="440871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Insert clear image of artwork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Crop the image to frame the work (nothing in the background)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495C8-FE8E-83E2-032F-0DA07C0337BF}"/>
              </a:ext>
            </a:extLst>
          </p:cNvPr>
          <p:cNvSpPr txBox="1"/>
          <p:nvPr/>
        </p:nvSpPr>
        <p:spPr>
          <a:xfrm>
            <a:off x="6153521" y="696838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Researching: </a:t>
            </a:r>
            <a:r>
              <a:rPr lang="en-US" sz="1400" dirty="0"/>
              <a:t>How did you react to stimulus?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25750-AAF8-3A5C-3F81-65982FAC83D9}"/>
              </a:ext>
            </a:extLst>
          </p:cNvPr>
          <p:cNvSpPr txBox="1"/>
          <p:nvPr/>
        </p:nvSpPr>
        <p:spPr>
          <a:xfrm>
            <a:off x="6153519" y="1943961"/>
            <a:ext cx="5498411" cy="57888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Developing: </a:t>
            </a:r>
            <a:r>
              <a:rPr lang="en-US" sz="1400" dirty="0"/>
              <a:t>How did you generate solutions to visual problems? Insert a photograph/s detail of the artwork below</a:t>
            </a:r>
            <a:endParaRPr lang="en-US" sz="1400" b="1" dirty="0"/>
          </a:p>
        </p:txBody>
      </p:sp>
      <p:sp>
        <p:nvSpPr>
          <p:cNvPr id="8" name="Google Shape;117;p17">
            <a:extLst>
              <a:ext uri="{FF2B5EF4-FFF2-40B4-BE49-F238E27FC236}">
                <a16:creationId xmlns:a16="http://schemas.microsoft.com/office/drawing/2014/main" id="{1A9FD799-B9A1-AA12-2069-C198E8968797}"/>
              </a:ext>
            </a:extLst>
          </p:cNvPr>
          <p:cNvSpPr/>
          <p:nvPr/>
        </p:nvSpPr>
        <p:spPr>
          <a:xfrm>
            <a:off x="7048502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;p17">
            <a:extLst>
              <a:ext uri="{FF2B5EF4-FFF2-40B4-BE49-F238E27FC236}">
                <a16:creationId xmlns:a16="http://schemas.microsoft.com/office/drawing/2014/main" id="{40E7B6F6-2733-C349-D73E-148878CBE3A7}"/>
              </a:ext>
            </a:extLst>
          </p:cNvPr>
          <p:cNvSpPr/>
          <p:nvPr/>
        </p:nvSpPr>
        <p:spPr>
          <a:xfrm>
            <a:off x="9323614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8E30A-6B71-D0D7-7BCA-AAF99987BFEE}"/>
              </a:ext>
            </a:extLst>
          </p:cNvPr>
          <p:cNvSpPr txBox="1"/>
          <p:nvPr/>
        </p:nvSpPr>
        <p:spPr>
          <a:xfrm>
            <a:off x="6153519" y="4016510"/>
            <a:ext cx="5498411" cy="129397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Reflecting: </a:t>
            </a:r>
            <a:r>
              <a:rPr lang="en-US" sz="1400" dirty="0"/>
              <a:t>How did you consider ideas and information, media techniques and processes?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CD907-AA3A-F0B2-C514-F49CCAC64DF7}"/>
              </a:ext>
            </a:extLst>
          </p:cNvPr>
          <p:cNvSpPr txBox="1"/>
          <p:nvPr/>
        </p:nvSpPr>
        <p:spPr>
          <a:xfrm>
            <a:off x="6153518" y="5514175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Evaluate: </a:t>
            </a:r>
            <a:r>
              <a:rPr lang="en-US" sz="1400" dirty="0"/>
              <a:t>How successful was the experiment? Why? 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9BF326-1781-2C72-C7E5-9C3BEC43E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58" y="103148"/>
            <a:ext cx="1743237" cy="46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7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F0E26-1103-17AB-14E6-A3F6AC531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3B5230-568D-E597-3A6F-7DCA10192180}"/>
              </a:ext>
            </a:extLst>
          </p:cNvPr>
          <p:cNvSpPr txBox="1"/>
          <p:nvPr/>
        </p:nvSpPr>
        <p:spPr>
          <a:xfrm>
            <a:off x="372389" y="493884"/>
            <a:ext cx="4738454" cy="587023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ACTIVITY – PART B</a:t>
            </a:r>
          </a:p>
          <a:p>
            <a:pPr>
              <a:buNone/>
            </a:pP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US" sz="1600" dirty="0">
                <a:latin typeface="+mj-lt"/>
              </a:rPr>
              <a:t>Design a printmaking motif that symbolically reflects a meaningful landscape or environmental connection.</a:t>
            </a: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>Objective:</a:t>
            </a:r>
            <a:r>
              <a:rPr lang="en-US" sz="1600" dirty="0">
                <a:latin typeface="+mj-lt"/>
              </a:rPr>
              <a:t> To communicate landscape through simplified natural forms, repetition, and rhythm.</a:t>
            </a: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>Instructions:</a:t>
            </a:r>
            <a:endParaRPr lang="en-US" sz="16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+mj-lt"/>
              </a:rPr>
              <a:t>Identify a significant feature in your chosen place (e.g. river bend, tree root, mountain outline, path).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+mj-lt"/>
              </a:rPr>
              <a:t>Reduce it into a simple motif or symbol.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+mj-lt"/>
              </a:rPr>
              <a:t>Carve the design into a foam or </a:t>
            </a:r>
            <a:r>
              <a:rPr lang="en-US" sz="1600" dirty="0" err="1">
                <a:latin typeface="+mj-lt"/>
              </a:rPr>
              <a:t>lino</a:t>
            </a:r>
            <a:r>
              <a:rPr lang="en-US" sz="1600" dirty="0">
                <a:latin typeface="+mj-lt"/>
              </a:rPr>
              <a:t> plate.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+mj-lt"/>
              </a:rPr>
              <a:t>Create prints using layering, repetition, or mirrored patterns.</a:t>
            </a:r>
          </a:p>
          <a:p>
            <a:pPr>
              <a:buNone/>
            </a:pPr>
            <a:endParaRPr lang="en-US" sz="1600" b="1" i="1" dirty="0">
              <a:latin typeface="+mj-lt"/>
            </a:endParaRPr>
          </a:p>
          <a:p>
            <a:pPr>
              <a:buNone/>
            </a:pPr>
            <a:endParaRPr lang="en-US" sz="1600" b="1" i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52ED41-B5A3-B458-F24A-12306F08FD80}"/>
              </a:ext>
            </a:extLst>
          </p:cNvPr>
          <p:cNvSpPr txBox="1"/>
          <p:nvPr/>
        </p:nvSpPr>
        <p:spPr>
          <a:xfrm>
            <a:off x="6096000" y="5312868"/>
            <a:ext cx="2795978" cy="115010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Formal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1400" dirty="0"/>
              <a:t>Explore how repetition, symmetry, and direction affect rhythm and flow in design.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834C1-1F45-D940-A5BA-3ED032CF54C4}"/>
              </a:ext>
            </a:extLst>
          </p:cNvPr>
          <p:cNvSpPr txBox="1"/>
          <p:nvPr/>
        </p:nvSpPr>
        <p:spPr>
          <a:xfrm>
            <a:off x="9326782" y="5270561"/>
            <a:ext cx="2639786" cy="140513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Cultural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1400" dirty="0"/>
              <a:t>Reflect on how your motif relates to personal or cultural identity, and how nature carries story or memory.</a:t>
            </a:r>
          </a:p>
        </p:txBody>
      </p:sp>
      <p:pic>
        <p:nvPicPr>
          <p:cNvPr id="5122" name="Picture 2" descr="This may contain: a black and white drawing of some logs">
            <a:extLst>
              <a:ext uri="{FF2B5EF4-FFF2-40B4-BE49-F238E27FC236}">
                <a16:creationId xmlns:a16="http://schemas.microsoft.com/office/drawing/2014/main" id="{7600B045-9BB0-1BEB-59BF-7AC960F997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t="9230" r="5207" b="8968"/>
          <a:stretch/>
        </p:blipFill>
        <p:spPr bwMode="auto">
          <a:xfrm>
            <a:off x="5714384" y="979714"/>
            <a:ext cx="2893367" cy="382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This may contain: a blue and white print with leaves on it's back side sitting on a wooden surface">
            <a:extLst>
              <a:ext uri="{FF2B5EF4-FFF2-40B4-BE49-F238E27FC236}">
                <a16:creationId xmlns:a16="http://schemas.microsoft.com/office/drawing/2014/main" id="{DC8F970F-3721-BB00-71DE-C61EF2C46F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9" t="7201" r="11587" b="5760"/>
          <a:stretch/>
        </p:blipFill>
        <p:spPr bwMode="auto">
          <a:xfrm>
            <a:off x="9211292" y="892693"/>
            <a:ext cx="2755276" cy="3997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33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DBC00-0F39-848C-5CFD-14434DB5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F4E18-A098-79FF-D5B6-0DA597F10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5"/>
            <a:ext cx="9323614" cy="580864"/>
          </a:xfrm>
          <a:prstGeom prst="rect">
            <a:avLst/>
          </a:prstGeom>
        </p:spPr>
      </p:pic>
      <p:sp>
        <p:nvSpPr>
          <p:cNvPr id="5" name="Google Shape;114;p17">
            <a:extLst>
              <a:ext uri="{FF2B5EF4-FFF2-40B4-BE49-F238E27FC236}">
                <a16:creationId xmlns:a16="http://schemas.microsoft.com/office/drawing/2014/main" id="{38DD6B7A-37D9-7FF6-BC63-6A038EDECDB9}"/>
              </a:ext>
            </a:extLst>
          </p:cNvPr>
          <p:cNvSpPr/>
          <p:nvPr/>
        </p:nvSpPr>
        <p:spPr>
          <a:xfrm>
            <a:off x="597589" y="1224642"/>
            <a:ext cx="4888811" cy="440871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Insert clear image of artwork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Crop the image to frame the work (nothing in the background)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0275F-6D3B-1AC2-D461-41ADE86A4C8A}"/>
              </a:ext>
            </a:extLst>
          </p:cNvPr>
          <p:cNvSpPr txBox="1"/>
          <p:nvPr/>
        </p:nvSpPr>
        <p:spPr>
          <a:xfrm>
            <a:off x="6153521" y="696838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Researching: </a:t>
            </a:r>
            <a:r>
              <a:rPr lang="en-US" sz="1400" dirty="0"/>
              <a:t>How did you react to stimulus?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2A8FD-C393-3422-E8AD-FEA058E93C17}"/>
              </a:ext>
            </a:extLst>
          </p:cNvPr>
          <p:cNvSpPr txBox="1"/>
          <p:nvPr/>
        </p:nvSpPr>
        <p:spPr>
          <a:xfrm>
            <a:off x="6153519" y="1943961"/>
            <a:ext cx="5498411" cy="57888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Developing: </a:t>
            </a:r>
            <a:r>
              <a:rPr lang="en-US" sz="1400" dirty="0"/>
              <a:t>How did you generate solutions to visual problems? Insert a photograph/s detail of the artwork below</a:t>
            </a:r>
            <a:endParaRPr lang="en-US" sz="1400" b="1" dirty="0"/>
          </a:p>
        </p:txBody>
      </p:sp>
      <p:sp>
        <p:nvSpPr>
          <p:cNvPr id="8" name="Google Shape;117;p17">
            <a:extLst>
              <a:ext uri="{FF2B5EF4-FFF2-40B4-BE49-F238E27FC236}">
                <a16:creationId xmlns:a16="http://schemas.microsoft.com/office/drawing/2014/main" id="{497D5604-4133-5F81-417A-38500ED4D80A}"/>
              </a:ext>
            </a:extLst>
          </p:cNvPr>
          <p:cNvSpPr/>
          <p:nvPr/>
        </p:nvSpPr>
        <p:spPr>
          <a:xfrm>
            <a:off x="7048502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;p17">
            <a:extLst>
              <a:ext uri="{FF2B5EF4-FFF2-40B4-BE49-F238E27FC236}">
                <a16:creationId xmlns:a16="http://schemas.microsoft.com/office/drawing/2014/main" id="{C19FDC2B-256C-74D2-3B1B-293B32B62E55}"/>
              </a:ext>
            </a:extLst>
          </p:cNvPr>
          <p:cNvSpPr/>
          <p:nvPr/>
        </p:nvSpPr>
        <p:spPr>
          <a:xfrm>
            <a:off x="9323614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B968AE-9FDD-A2E5-40BD-A49EC2B73DAD}"/>
              </a:ext>
            </a:extLst>
          </p:cNvPr>
          <p:cNvSpPr txBox="1"/>
          <p:nvPr/>
        </p:nvSpPr>
        <p:spPr>
          <a:xfrm>
            <a:off x="6153519" y="4016510"/>
            <a:ext cx="5498411" cy="129397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Reflecting: </a:t>
            </a:r>
            <a:r>
              <a:rPr lang="en-US" sz="1400" dirty="0"/>
              <a:t>How did you consider ideas and information, media techniques and processes?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D76D0D-A4CF-AB27-9128-343B5BF9E40D}"/>
              </a:ext>
            </a:extLst>
          </p:cNvPr>
          <p:cNvSpPr txBox="1"/>
          <p:nvPr/>
        </p:nvSpPr>
        <p:spPr>
          <a:xfrm>
            <a:off x="6153518" y="5514175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Evaluate: </a:t>
            </a:r>
            <a:r>
              <a:rPr lang="en-US" sz="1400" dirty="0"/>
              <a:t>How successful was the experiment? Why? 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899A39-EFE0-571A-4CCE-3940DC57C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58" y="103148"/>
            <a:ext cx="1743237" cy="46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25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574</Words>
  <Application>Microsoft Office PowerPoint</Application>
  <PresentationFormat>Widescreen</PresentationFormat>
  <Paragraphs>76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lastModifiedBy>Jacqueline Ockwell</cp:lastModifiedBy>
  <cp:revision>1</cp:revision>
  <dcterms:created xsi:type="dcterms:W3CDTF">2025-04-25T07:38:47Z</dcterms:created>
  <dcterms:modified xsi:type="dcterms:W3CDTF">2025-04-25T08:03:21Z</dcterms:modified>
</cp:coreProperties>
</file>
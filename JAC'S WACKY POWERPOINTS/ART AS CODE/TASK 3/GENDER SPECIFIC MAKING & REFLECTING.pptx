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2B089-46BB-A4F2-B4C1-E0E049475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4DCCC1-128C-457E-3B37-F1ADF1A88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884FF-A298-CF38-72BE-82F1AE9FB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A558-EFA1-4FF0-B0AE-CD673C29D0BA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73CCF-67F0-1B23-D84A-300CC5364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705CD-522D-FA47-D395-EBC05B149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7BA2-A4C8-4FA6-A912-85B00939B8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473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2E73-661A-1E93-2B2D-1C8D6C5EB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CB87F-D30C-B3D9-C22A-8B6311B81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137B3-0EAC-B491-3935-3C79D4D7C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A558-EFA1-4FF0-B0AE-CD673C29D0BA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9A37C-A1CC-3309-DE2B-1D11623C7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AC2EE-C31C-D29C-6406-595A0DF95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7BA2-A4C8-4FA6-A912-85B00939B8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2619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D5F87-4528-0A50-CE70-8A40FD359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984DD-1B0A-A413-76EB-A6DD36C90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2CAD7-9464-F2C1-2ECC-9ADF65513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A558-EFA1-4FF0-B0AE-CD673C29D0BA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302DA-340F-83CD-F769-4022DA9CE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665A-3877-2343-207C-96F2234B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7BA2-A4C8-4FA6-A912-85B00939B8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548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743FC-0CDE-6EFB-26F7-1DEB57085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32D7F-ECF5-5AFE-8B24-BC32221DB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6795F-54F2-07BF-0CBC-2CE5CDCFC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E60E5-0A26-6DBD-EF8D-4F4635974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A558-EFA1-4FF0-B0AE-CD673C29D0BA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42D87-C084-0AEA-D4A5-F62418851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07850-2BCC-39A1-BD99-8E2BE5869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7BA2-A4C8-4FA6-A912-85B00939B8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8638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D8C29-E084-8A92-657C-807C91CA1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E00F1-FA6B-B7B9-7659-B2B8498E2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4C197-8785-73E6-3ED7-5B3FCE9F2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538810-1415-2CCB-C7F9-8A4BC7A83B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C95C96-2772-B106-8394-AFA13D2EA3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B966D2-E850-079F-1DFA-8F5DBF9C2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A558-EFA1-4FF0-B0AE-CD673C29D0BA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6D0481-F9F1-1611-5649-C0425FE74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D4AD1F-EB8D-1C44-ED6B-584A7CC5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7BA2-A4C8-4FA6-A912-85B00939B8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7917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6B225-FD0C-5D9A-4761-C7FF532F4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F70496-FB35-0D01-6977-39CF92AA5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A558-EFA1-4FF0-B0AE-CD673C29D0BA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4176D-8FE3-96FA-E6C1-E7CF6A91D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77A1E-838A-A0E9-26C3-829BA5292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7BA2-A4C8-4FA6-A912-85B00939B8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357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EC9C3C-434E-D790-309A-08FAED07B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A558-EFA1-4FF0-B0AE-CD673C29D0BA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50D59F-1704-461A-B5D5-E36B5CA76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AF00B-39A4-7E75-AD86-97D29432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7BA2-A4C8-4FA6-A912-85B00939B8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196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5077-DAC3-5375-167D-ACE0FC360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E9306-F02D-3B7B-15D5-4BB0EB6B3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BC94D-9C4E-3647-0415-F6C04F003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C55A9-D3FB-EF94-E3FE-7AAC1BACF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A558-EFA1-4FF0-B0AE-CD673C29D0BA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1A87E-74E9-5BE7-BA5E-49590E91E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EBD69-383A-392E-583F-47655D24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7BA2-A4C8-4FA6-A912-85B00939B8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993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CDDED-B80C-845C-274D-FE177D949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2CEC6D-8A33-6630-3D85-F8CC347FC6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BF5593-08BF-A37A-6C61-178B58C6C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5D8E3-8A02-3F92-34C0-9980239C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A558-EFA1-4FF0-B0AE-CD673C29D0BA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A87F5-B65F-DC66-21ED-72236C65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88C07-3E2F-D280-3918-BFFCB7A0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7BA2-A4C8-4FA6-A912-85B00939B8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494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464E-74FC-D581-1C6E-47D7ACFE0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3DFBF-B35E-70CD-5F2B-0EC124ABE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0D32B-8A66-110E-5292-490159D12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A558-EFA1-4FF0-B0AE-CD673C29D0BA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80B6B-6953-3F67-12B7-DC32239F1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C6DFB-23E0-ECCB-2B9D-C77DB9F18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7BA2-A4C8-4FA6-A912-85B00939B8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5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25B225-72AC-253B-97F7-6E19EDBD1D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C3B46E-5B9C-62A8-8218-1C6CB6CB0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2B33D-27A8-4DBE-A0F0-1CCC2881C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A558-EFA1-4FF0-B0AE-CD673C29D0BA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46E6C-B683-A179-34CF-13F0D95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ABDD8-9210-D0BB-4267-293D5DBC3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7BA2-A4C8-4FA6-A912-85B00939B8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9132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BD27F6-3156-30BC-2B1B-C1B3D03C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D99EF-AD62-9A43-97EF-A09916909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9CB9C-BFFA-C82C-C36C-066F6A04A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AA558-EFA1-4FF0-B0AE-CD673C29D0BA}" type="datetimeFigureOut">
              <a:rPr lang="en-AU" smtClean="0"/>
              <a:t>25/04/2025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3EE7B-5B8D-4E61-3C36-6E3A4BB71E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7DCD-35D5-BC9E-0A7C-EAF10ACE2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FF7BA2-A4C8-4FA6-A912-85B00939B8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860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7529AB-21D8-398D-DCA0-E98851ECE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277" y="1453137"/>
            <a:ext cx="5410955" cy="7621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3F6782-90AB-7771-F4FB-648B40EFA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547" y="62293"/>
            <a:ext cx="8106906" cy="695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B6FE3B-D946-85F3-4EB1-F98E727A7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517" y="757715"/>
            <a:ext cx="2162477" cy="781159"/>
          </a:xfrm>
          <a:prstGeom prst="rect">
            <a:avLst/>
          </a:prstGeom>
        </p:spPr>
      </p:pic>
      <p:pic>
        <p:nvPicPr>
          <p:cNvPr id="7" name="Picture 4" descr="Barbara Kruger Interview on Race, Stereotypes, Public Art and Interviews  (1991) – AMERICAN SUBURB X">
            <a:extLst>
              <a:ext uri="{FF2B5EF4-FFF2-40B4-BE49-F238E27FC236}">
                <a16:creationId xmlns:a16="http://schemas.microsoft.com/office/drawing/2014/main" id="{FA98E9B9-AFD5-B72C-E717-8CDC52101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6915" y="2508068"/>
            <a:ext cx="7358169" cy="3883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9692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F856C8-B9CE-E6C5-9010-C5A3FC9BC9DD}"/>
              </a:ext>
            </a:extLst>
          </p:cNvPr>
          <p:cNvSpPr txBox="1"/>
          <p:nvPr/>
        </p:nvSpPr>
        <p:spPr>
          <a:xfrm>
            <a:off x="276633" y="195466"/>
            <a:ext cx="11638734" cy="715089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Choose either pink or blue. Research its visual history and create a short summary of how its meaning has changed across time, media, or cultures.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276DB3-0133-F0E4-02E1-732B17AEE81E}"/>
              </a:ext>
            </a:extLst>
          </p:cNvPr>
          <p:cNvSpPr txBox="1"/>
          <p:nvPr/>
        </p:nvSpPr>
        <p:spPr>
          <a:xfrm>
            <a:off x="276633" y="1302717"/>
            <a:ext cx="11638734" cy="5110181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b="1" i="1" dirty="0">
                <a:solidFill>
                  <a:srgbClr val="FF66CC"/>
                </a:solidFill>
              </a:rPr>
              <a:t>PINK</a:t>
            </a:r>
            <a:r>
              <a:rPr lang="en-US" sz="1600" b="1" i="1" dirty="0"/>
              <a:t> OR </a:t>
            </a:r>
            <a:r>
              <a:rPr lang="en-US" sz="16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BLUE</a:t>
            </a:r>
            <a:r>
              <a:rPr lang="en-US" sz="1600" b="1" i="1" dirty="0"/>
              <a:t> RESPONSE: 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b="1" i="1" dirty="0"/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/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/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/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/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/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/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/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/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/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/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/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/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55975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03543A-C623-D3BE-E65D-7D9C91AD72F3}"/>
              </a:ext>
            </a:extLst>
          </p:cNvPr>
          <p:cNvSpPr txBox="1"/>
          <p:nvPr/>
        </p:nvSpPr>
        <p:spPr>
          <a:xfrm>
            <a:off x="290746" y="309140"/>
            <a:ext cx="5375268" cy="6239719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0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PRACTICAL ACTIVITY </a:t>
            </a:r>
          </a:p>
          <a:p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Task: </a:t>
            </a:r>
            <a:r>
              <a:rPr lang="en-US" sz="1600" dirty="0">
                <a:latin typeface="+mj-lt"/>
              </a:rPr>
              <a:t>Create an abstracted artwork that explores gender-specific symbolism and </a:t>
            </a:r>
            <a:r>
              <a:rPr lang="en-US" sz="1600" dirty="0" err="1">
                <a:latin typeface="+mj-lt"/>
              </a:rPr>
              <a:t>colour</a:t>
            </a:r>
            <a:r>
              <a:rPr lang="en-US" sz="1600" dirty="0">
                <a:latin typeface="+mj-lt"/>
              </a:rPr>
              <a:t>.</a:t>
            </a:r>
          </a:p>
          <a:p>
            <a:pPr>
              <a:buNone/>
            </a:pPr>
            <a:endParaRPr lang="en-AU" sz="1600" kern="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b="1" kern="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Objective: </a:t>
            </a:r>
            <a:r>
              <a:rPr lang="en-US" sz="1600" dirty="0">
                <a:latin typeface="+mj-lt"/>
              </a:rPr>
              <a:t>To investigate how gender roles, identity, and cultural norms can be expressed or subverted through </a:t>
            </a:r>
            <a:r>
              <a:rPr lang="en-US" sz="1600" dirty="0" err="1">
                <a:latin typeface="+mj-lt"/>
              </a:rPr>
              <a:t>colour</a:t>
            </a:r>
            <a:r>
              <a:rPr lang="en-US" sz="1600" dirty="0">
                <a:latin typeface="+mj-lt"/>
              </a:rPr>
              <a:t>, symbol, and composition.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b="1" i="1" dirty="0"/>
              <a:t>What </a:t>
            </a:r>
            <a:r>
              <a:rPr lang="en-US" sz="1600" b="1" i="1" dirty="0" err="1"/>
              <a:t>colour</a:t>
            </a:r>
            <a:r>
              <a:rPr lang="en-US" sz="1600" b="1" i="1" dirty="0"/>
              <a:t> or object best represents your experience or response to gender expectations?</a:t>
            </a:r>
            <a:endParaRPr lang="en-US" sz="1600" dirty="0">
              <a:latin typeface="+mj-lt"/>
            </a:endParaRPr>
          </a:p>
          <a:p>
            <a:pPr>
              <a:buNone/>
            </a:pPr>
            <a:endParaRPr lang="en-US" sz="1600" b="1" dirty="0">
              <a:latin typeface="+mj-lt"/>
            </a:endParaRPr>
          </a:p>
          <a:p>
            <a:pPr>
              <a:buNone/>
            </a:pPr>
            <a:r>
              <a:rPr lang="en-US" sz="1600" b="1" dirty="0">
                <a:latin typeface="+mj-lt"/>
              </a:rPr>
              <a:t>Instructions:</a:t>
            </a:r>
            <a:endParaRPr lang="en-US" sz="1600" dirty="0">
              <a:latin typeface="+mj-lt"/>
            </a:endParaRPr>
          </a:p>
          <a:p>
            <a:pPr lvl="1">
              <a:buFont typeface="+mj-lt"/>
              <a:buAutoNum type="arabicPeriod"/>
            </a:pPr>
            <a:r>
              <a:rPr lang="en-US" sz="1600" dirty="0">
                <a:latin typeface="+mj-lt"/>
              </a:rPr>
              <a:t>Select a gender-related idea, stereotype, or experience you want to explore.</a:t>
            </a:r>
          </a:p>
          <a:p>
            <a:pPr lvl="1">
              <a:buFont typeface="+mj-lt"/>
              <a:buAutoNum type="arabicPeriod"/>
            </a:pPr>
            <a:r>
              <a:rPr lang="en-US" sz="1600" dirty="0">
                <a:latin typeface="+mj-lt"/>
              </a:rPr>
              <a:t>Choose </a:t>
            </a:r>
            <a:r>
              <a:rPr lang="en-US" sz="1600" dirty="0" err="1">
                <a:latin typeface="+mj-lt"/>
              </a:rPr>
              <a:t>colours</a:t>
            </a:r>
            <a:r>
              <a:rPr lang="en-US" sz="1600" dirty="0">
                <a:latin typeface="+mj-lt"/>
              </a:rPr>
              <a:t> associated with gender identity or symbolism.</a:t>
            </a:r>
          </a:p>
          <a:p>
            <a:pPr lvl="1">
              <a:buFont typeface="+mj-lt"/>
              <a:buAutoNum type="arabicPeriod"/>
            </a:pPr>
            <a:r>
              <a:rPr lang="en-US" sz="1600" dirty="0">
                <a:latin typeface="+mj-lt"/>
              </a:rPr>
              <a:t>Include abstracted or reimagined symbols (toys, objects, fabrics, patterns).</a:t>
            </a:r>
          </a:p>
          <a:p>
            <a:pPr lvl="1">
              <a:buFont typeface="+mj-lt"/>
              <a:buAutoNum type="arabicPeriod"/>
            </a:pPr>
            <a:r>
              <a:rPr lang="en-US" sz="1600" dirty="0">
                <a:latin typeface="+mj-lt"/>
              </a:rPr>
              <a:t>Use 2D, 3D or time-based media to resolve a visually coded response.</a:t>
            </a:r>
          </a:p>
          <a:p>
            <a:pPr lvl="1">
              <a:buFont typeface="+mj-lt"/>
              <a:buAutoNum type="arabicPeriod"/>
            </a:pPr>
            <a:r>
              <a:rPr lang="en-US" sz="1600" dirty="0">
                <a:latin typeface="+mj-lt"/>
              </a:rPr>
              <a:t>Avoid literal representation. Focus on </a:t>
            </a:r>
            <a:r>
              <a:rPr lang="en-US" sz="1600" dirty="0" err="1">
                <a:latin typeface="+mj-lt"/>
              </a:rPr>
              <a:t>colour</a:t>
            </a:r>
            <a:r>
              <a:rPr lang="en-US" sz="1600" dirty="0">
                <a:latin typeface="+mj-lt"/>
              </a:rPr>
              <a:t>, symbols, repetition, layering, and abstraction.</a:t>
            </a:r>
            <a:endParaRPr lang="en-US" sz="1600" b="1" kern="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94D04-DC2A-5068-7F05-6D32430AF353}"/>
              </a:ext>
            </a:extLst>
          </p:cNvPr>
          <p:cNvSpPr txBox="1"/>
          <p:nvPr/>
        </p:nvSpPr>
        <p:spPr>
          <a:xfrm>
            <a:off x="6053193" y="5398757"/>
            <a:ext cx="2795978" cy="115010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b="1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Formal </a:t>
            </a: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Context: </a:t>
            </a:r>
            <a:r>
              <a:rPr lang="en-US" sz="1400" dirty="0"/>
              <a:t>How does repetition, shape, texture, or spatial design construct a visual language?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0F74A0-BC64-0DB2-722C-462F84349C0B}"/>
              </a:ext>
            </a:extLst>
          </p:cNvPr>
          <p:cNvSpPr txBox="1"/>
          <p:nvPr/>
        </p:nvSpPr>
        <p:spPr>
          <a:xfrm>
            <a:off x="9261468" y="5398757"/>
            <a:ext cx="2639786" cy="115010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600" b="1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Cultural </a:t>
            </a:r>
            <a:r>
              <a:rPr lang="en-AU" sz="16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Context: </a:t>
            </a:r>
            <a:r>
              <a:rPr lang="en-US" sz="1400" dirty="0"/>
              <a:t>How does your work connect to social constructs of gender across time or in your own life?</a:t>
            </a:r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ED5E9B65-B242-4A9C-9186-F23CB8B049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9" t="2380" r="3691" b="11191"/>
          <a:stretch/>
        </p:blipFill>
        <p:spPr bwMode="auto">
          <a:xfrm>
            <a:off x="7116981" y="309140"/>
            <a:ext cx="3464380" cy="4855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6806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F12ADD-E9C6-C8A9-6295-E1033A0FA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75"/>
            <a:ext cx="9323614" cy="580864"/>
          </a:xfrm>
          <a:prstGeom prst="rect">
            <a:avLst/>
          </a:prstGeom>
        </p:spPr>
      </p:pic>
      <p:sp>
        <p:nvSpPr>
          <p:cNvPr id="5" name="Google Shape;114;p17">
            <a:extLst>
              <a:ext uri="{FF2B5EF4-FFF2-40B4-BE49-F238E27FC236}">
                <a16:creationId xmlns:a16="http://schemas.microsoft.com/office/drawing/2014/main" id="{7D2FD7BB-97F1-95C3-AF95-41F4F4BF87EA}"/>
              </a:ext>
            </a:extLst>
          </p:cNvPr>
          <p:cNvSpPr/>
          <p:nvPr/>
        </p:nvSpPr>
        <p:spPr>
          <a:xfrm>
            <a:off x="597589" y="1224642"/>
            <a:ext cx="4888811" cy="440871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+mj-lt"/>
                <a:ea typeface="Lato"/>
                <a:cs typeface="Lato"/>
                <a:sym typeface="Lato"/>
              </a:rPr>
              <a:t>Insert clear image of artwork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latin typeface="+mj-lt"/>
                <a:ea typeface="Lato"/>
                <a:cs typeface="Lato"/>
                <a:sym typeface="Lato"/>
              </a:rPr>
              <a:t>Crop the image to frame the work (nothing in the background)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D495C8-FE8E-83E2-032F-0DA07C0337BF}"/>
              </a:ext>
            </a:extLst>
          </p:cNvPr>
          <p:cNvSpPr txBox="1"/>
          <p:nvPr/>
        </p:nvSpPr>
        <p:spPr>
          <a:xfrm>
            <a:off x="6153521" y="696838"/>
            <a:ext cx="5498411" cy="105560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Researching: </a:t>
            </a:r>
            <a:r>
              <a:rPr lang="en-US" sz="1400" dirty="0"/>
              <a:t>How did you react to stimulus?</a:t>
            </a:r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25750-AAF8-3A5C-3F81-65982FAC83D9}"/>
              </a:ext>
            </a:extLst>
          </p:cNvPr>
          <p:cNvSpPr txBox="1"/>
          <p:nvPr/>
        </p:nvSpPr>
        <p:spPr>
          <a:xfrm>
            <a:off x="6153519" y="1943961"/>
            <a:ext cx="5498411" cy="57888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Developing: </a:t>
            </a:r>
            <a:r>
              <a:rPr lang="en-US" sz="1400" dirty="0"/>
              <a:t>How did you generate solutions to visual problems? Insert a photograph/s detail of the artwork below</a:t>
            </a:r>
            <a:endParaRPr lang="en-US" sz="1400" b="1" dirty="0"/>
          </a:p>
        </p:txBody>
      </p:sp>
      <p:sp>
        <p:nvSpPr>
          <p:cNvPr id="8" name="Google Shape;117;p17">
            <a:extLst>
              <a:ext uri="{FF2B5EF4-FFF2-40B4-BE49-F238E27FC236}">
                <a16:creationId xmlns:a16="http://schemas.microsoft.com/office/drawing/2014/main" id="{1A9FD799-B9A1-AA12-2069-C198E8968797}"/>
              </a:ext>
            </a:extLst>
          </p:cNvPr>
          <p:cNvSpPr/>
          <p:nvPr/>
        </p:nvSpPr>
        <p:spPr>
          <a:xfrm>
            <a:off x="7048502" y="2676716"/>
            <a:ext cx="1645529" cy="113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17;p17">
            <a:extLst>
              <a:ext uri="{FF2B5EF4-FFF2-40B4-BE49-F238E27FC236}">
                <a16:creationId xmlns:a16="http://schemas.microsoft.com/office/drawing/2014/main" id="{40E7B6F6-2733-C349-D73E-148878CBE3A7}"/>
              </a:ext>
            </a:extLst>
          </p:cNvPr>
          <p:cNvSpPr/>
          <p:nvPr/>
        </p:nvSpPr>
        <p:spPr>
          <a:xfrm>
            <a:off x="9323614" y="2676716"/>
            <a:ext cx="1645529" cy="113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D8E30A-6B71-D0D7-7BCA-AAF99987BFEE}"/>
              </a:ext>
            </a:extLst>
          </p:cNvPr>
          <p:cNvSpPr txBox="1"/>
          <p:nvPr/>
        </p:nvSpPr>
        <p:spPr>
          <a:xfrm>
            <a:off x="6153519" y="4016510"/>
            <a:ext cx="5498411" cy="1293971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Reflecting: </a:t>
            </a:r>
            <a:r>
              <a:rPr lang="en-US" sz="1400" dirty="0"/>
              <a:t>How did you consider ideas and information, media techniques and processes?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5CD907-AA3A-F0B2-C514-F49CCAC64DF7}"/>
              </a:ext>
            </a:extLst>
          </p:cNvPr>
          <p:cNvSpPr txBox="1"/>
          <p:nvPr/>
        </p:nvSpPr>
        <p:spPr>
          <a:xfrm>
            <a:off x="6153518" y="5514175"/>
            <a:ext cx="5498411" cy="105560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Evaluate: </a:t>
            </a:r>
            <a:r>
              <a:rPr lang="en-US" sz="1400" dirty="0"/>
              <a:t>How successful was the experiment? Why? </a:t>
            </a:r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88260D-95BA-636B-FA1B-DEA0F9899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146" y="86611"/>
            <a:ext cx="1449001" cy="52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079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272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The Southport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Jacqueline Ockwell</dc:creator>
  <cp:lastModifiedBy>Jacqueline Ockwell</cp:lastModifiedBy>
  <cp:revision>1</cp:revision>
  <dcterms:created xsi:type="dcterms:W3CDTF">2025-04-25T04:03:46Z</dcterms:created>
  <dcterms:modified xsi:type="dcterms:W3CDTF">2025-04-25T04:22:09Z</dcterms:modified>
</cp:coreProperties>
</file>
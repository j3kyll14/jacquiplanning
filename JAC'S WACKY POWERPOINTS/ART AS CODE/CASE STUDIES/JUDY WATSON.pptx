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2" r:id="rId7"/>
    <p:sldId id="261" r:id="rId8"/>
    <p:sldId id="264"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8A39"/>
    <a:srgbClr val="4F67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1" autoAdjust="0"/>
    <p:restoredTop sz="94660"/>
  </p:normalViewPr>
  <p:slideViewPr>
    <p:cSldViewPr snapToGrid="0">
      <p:cViewPr varScale="1">
        <p:scale>
          <a:sx n="105" d="100"/>
          <a:sy n="105" d="100"/>
        </p:scale>
        <p:origin x="54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8CCFA-279D-FCA7-A18A-723406089F2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550A58C5-8AC3-4538-A1D5-B286370418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D630991C-8F62-6746-79C2-2B5AEB9DF4E8}"/>
              </a:ext>
            </a:extLst>
          </p:cNvPr>
          <p:cNvSpPr>
            <a:spLocks noGrp="1"/>
          </p:cNvSpPr>
          <p:nvPr>
            <p:ph type="dt" sz="half" idx="10"/>
          </p:nvPr>
        </p:nvSpPr>
        <p:spPr/>
        <p:txBody>
          <a:bodyPr/>
          <a:lstStyle/>
          <a:p>
            <a:fld id="{37BBF2A1-0303-404F-83BE-26025102A8DF}" type="datetimeFigureOut">
              <a:rPr lang="en-AU" smtClean="0"/>
              <a:t>21/04/2024</a:t>
            </a:fld>
            <a:endParaRPr lang="en-AU"/>
          </a:p>
        </p:txBody>
      </p:sp>
      <p:sp>
        <p:nvSpPr>
          <p:cNvPr id="5" name="Footer Placeholder 4">
            <a:extLst>
              <a:ext uri="{FF2B5EF4-FFF2-40B4-BE49-F238E27FC236}">
                <a16:creationId xmlns:a16="http://schemas.microsoft.com/office/drawing/2014/main" id="{C8BF9207-5D85-6356-9211-5ED10872063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278B465-F2BD-1FEB-CFE1-0F5DEB6920E8}"/>
              </a:ext>
            </a:extLst>
          </p:cNvPr>
          <p:cNvSpPr>
            <a:spLocks noGrp="1"/>
          </p:cNvSpPr>
          <p:nvPr>
            <p:ph type="sldNum" sz="quarter" idx="12"/>
          </p:nvPr>
        </p:nvSpPr>
        <p:spPr/>
        <p:txBody>
          <a:bodyPr/>
          <a:lstStyle/>
          <a:p>
            <a:fld id="{0B2459A6-40C9-4F5F-BF4D-C3B9242DF216}" type="slidenum">
              <a:rPr lang="en-AU" smtClean="0"/>
              <a:t>‹#›</a:t>
            </a:fld>
            <a:endParaRPr lang="en-AU"/>
          </a:p>
        </p:txBody>
      </p:sp>
    </p:spTree>
    <p:extLst>
      <p:ext uri="{BB962C8B-B14F-4D97-AF65-F5344CB8AC3E}">
        <p14:creationId xmlns:p14="http://schemas.microsoft.com/office/powerpoint/2010/main" val="1503578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FE550-DD7A-D544-6E99-6DE423384287}"/>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0FA0E1F2-E407-941E-27B4-CA18280AA13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A3702218-934E-9FA3-0D81-604FC0A4C95E}"/>
              </a:ext>
            </a:extLst>
          </p:cNvPr>
          <p:cNvSpPr>
            <a:spLocks noGrp="1"/>
          </p:cNvSpPr>
          <p:nvPr>
            <p:ph type="dt" sz="half" idx="10"/>
          </p:nvPr>
        </p:nvSpPr>
        <p:spPr/>
        <p:txBody>
          <a:bodyPr/>
          <a:lstStyle/>
          <a:p>
            <a:fld id="{37BBF2A1-0303-404F-83BE-26025102A8DF}" type="datetimeFigureOut">
              <a:rPr lang="en-AU" smtClean="0"/>
              <a:t>21/04/2024</a:t>
            </a:fld>
            <a:endParaRPr lang="en-AU"/>
          </a:p>
        </p:txBody>
      </p:sp>
      <p:sp>
        <p:nvSpPr>
          <p:cNvPr id="5" name="Footer Placeholder 4">
            <a:extLst>
              <a:ext uri="{FF2B5EF4-FFF2-40B4-BE49-F238E27FC236}">
                <a16:creationId xmlns:a16="http://schemas.microsoft.com/office/drawing/2014/main" id="{B96A249C-EFB1-7AE1-1D59-4B7676A7182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24B0F41-5657-E556-4E31-34DD7F594CE1}"/>
              </a:ext>
            </a:extLst>
          </p:cNvPr>
          <p:cNvSpPr>
            <a:spLocks noGrp="1"/>
          </p:cNvSpPr>
          <p:nvPr>
            <p:ph type="sldNum" sz="quarter" idx="12"/>
          </p:nvPr>
        </p:nvSpPr>
        <p:spPr/>
        <p:txBody>
          <a:bodyPr/>
          <a:lstStyle/>
          <a:p>
            <a:fld id="{0B2459A6-40C9-4F5F-BF4D-C3B9242DF216}" type="slidenum">
              <a:rPr lang="en-AU" smtClean="0"/>
              <a:t>‹#›</a:t>
            </a:fld>
            <a:endParaRPr lang="en-AU"/>
          </a:p>
        </p:txBody>
      </p:sp>
    </p:spTree>
    <p:extLst>
      <p:ext uri="{BB962C8B-B14F-4D97-AF65-F5344CB8AC3E}">
        <p14:creationId xmlns:p14="http://schemas.microsoft.com/office/powerpoint/2010/main" val="646405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AF251-E168-67B2-90A3-DC1ACC272DB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812C495C-416E-7C94-E76D-091A717753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EB9E0DD-8E77-B9A2-8E02-89466D88A822}"/>
              </a:ext>
            </a:extLst>
          </p:cNvPr>
          <p:cNvSpPr>
            <a:spLocks noGrp="1"/>
          </p:cNvSpPr>
          <p:nvPr>
            <p:ph type="dt" sz="half" idx="10"/>
          </p:nvPr>
        </p:nvSpPr>
        <p:spPr/>
        <p:txBody>
          <a:bodyPr/>
          <a:lstStyle/>
          <a:p>
            <a:fld id="{37BBF2A1-0303-404F-83BE-26025102A8DF}" type="datetimeFigureOut">
              <a:rPr lang="en-AU" smtClean="0"/>
              <a:t>21/04/2024</a:t>
            </a:fld>
            <a:endParaRPr lang="en-AU"/>
          </a:p>
        </p:txBody>
      </p:sp>
      <p:sp>
        <p:nvSpPr>
          <p:cNvPr id="5" name="Footer Placeholder 4">
            <a:extLst>
              <a:ext uri="{FF2B5EF4-FFF2-40B4-BE49-F238E27FC236}">
                <a16:creationId xmlns:a16="http://schemas.microsoft.com/office/drawing/2014/main" id="{769B72A0-076D-8013-155E-85F31ECE6D8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BC88641-94B9-9DE3-FD12-696F047AC444}"/>
              </a:ext>
            </a:extLst>
          </p:cNvPr>
          <p:cNvSpPr>
            <a:spLocks noGrp="1"/>
          </p:cNvSpPr>
          <p:nvPr>
            <p:ph type="sldNum" sz="quarter" idx="12"/>
          </p:nvPr>
        </p:nvSpPr>
        <p:spPr/>
        <p:txBody>
          <a:bodyPr/>
          <a:lstStyle/>
          <a:p>
            <a:fld id="{0B2459A6-40C9-4F5F-BF4D-C3B9242DF216}" type="slidenum">
              <a:rPr lang="en-AU" smtClean="0"/>
              <a:t>‹#›</a:t>
            </a:fld>
            <a:endParaRPr lang="en-AU"/>
          </a:p>
        </p:txBody>
      </p:sp>
    </p:spTree>
    <p:extLst>
      <p:ext uri="{BB962C8B-B14F-4D97-AF65-F5344CB8AC3E}">
        <p14:creationId xmlns:p14="http://schemas.microsoft.com/office/powerpoint/2010/main" val="1883204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26AB2-99C7-1957-887A-88BF1B433C46}"/>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2D60A74B-6F7B-48C3-0B5D-FEAAAE702C8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FEDB1C45-B6CB-4558-110D-8E56640E938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068DC6DA-9CD4-B47C-9C3F-1258CDF18468}"/>
              </a:ext>
            </a:extLst>
          </p:cNvPr>
          <p:cNvSpPr>
            <a:spLocks noGrp="1"/>
          </p:cNvSpPr>
          <p:nvPr>
            <p:ph type="dt" sz="half" idx="10"/>
          </p:nvPr>
        </p:nvSpPr>
        <p:spPr/>
        <p:txBody>
          <a:bodyPr/>
          <a:lstStyle/>
          <a:p>
            <a:fld id="{37BBF2A1-0303-404F-83BE-26025102A8DF}" type="datetimeFigureOut">
              <a:rPr lang="en-AU" smtClean="0"/>
              <a:t>21/04/2024</a:t>
            </a:fld>
            <a:endParaRPr lang="en-AU"/>
          </a:p>
        </p:txBody>
      </p:sp>
      <p:sp>
        <p:nvSpPr>
          <p:cNvPr id="6" name="Footer Placeholder 5">
            <a:extLst>
              <a:ext uri="{FF2B5EF4-FFF2-40B4-BE49-F238E27FC236}">
                <a16:creationId xmlns:a16="http://schemas.microsoft.com/office/drawing/2014/main" id="{8BD4E902-FEE0-9BA2-9E0C-6D9BDC13D8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5B8056A-634C-4C1B-A787-148EE0300AE5}"/>
              </a:ext>
            </a:extLst>
          </p:cNvPr>
          <p:cNvSpPr>
            <a:spLocks noGrp="1"/>
          </p:cNvSpPr>
          <p:nvPr>
            <p:ph type="sldNum" sz="quarter" idx="12"/>
          </p:nvPr>
        </p:nvSpPr>
        <p:spPr/>
        <p:txBody>
          <a:bodyPr/>
          <a:lstStyle/>
          <a:p>
            <a:fld id="{0B2459A6-40C9-4F5F-BF4D-C3B9242DF216}" type="slidenum">
              <a:rPr lang="en-AU" smtClean="0"/>
              <a:t>‹#›</a:t>
            </a:fld>
            <a:endParaRPr lang="en-AU"/>
          </a:p>
        </p:txBody>
      </p:sp>
    </p:spTree>
    <p:extLst>
      <p:ext uri="{BB962C8B-B14F-4D97-AF65-F5344CB8AC3E}">
        <p14:creationId xmlns:p14="http://schemas.microsoft.com/office/powerpoint/2010/main" val="2355218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8ABF5-7B36-7CBC-986F-8680E7ACEC27}"/>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9F7F313C-3AD0-4A34-DD7B-26E0E3EA6F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E11D3AD-7D0A-EA88-A6FE-BDC2D186AAA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ECC84997-FD5E-F50F-EBC9-725A4BE125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F4FF575-4B22-4093-6A01-488A23BFC12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2E65B450-7A56-9CC9-D40B-D22E3749565E}"/>
              </a:ext>
            </a:extLst>
          </p:cNvPr>
          <p:cNvSpPr>
            <a:spLocks noGrp="1"/>
          </p:cNvSpPr>
          <p:nvPr>
            <p:ph type="dt" sz="half" idx="10"/>
          </p:nvPr>
        </p:nvSpPr>
        <p:spPr/>
        <p:txBody>
          <a:bodyPr/>
          <a:lstStyle/>
          <a:p>
            <a:fld id="{37BBF2A1-0303-404F-83BE-26025102A8DF}" type="datetimeFigureOut">
              <a:rPr lang="en-AU" smtClean="0"/>
              <a:t>21/04/2024</a:t>
            </a:fld>
            <a:endParaRPr lang="en-AU"/>
          </a:p>
        </p:txBody>
      </p:sp>
      <p:sp>
        <p:nvSpPr>
          <p:cNvPr id="8" name="Footer Placeholder 7">
            <a:extLst>
              <a:ext uri="{FF2B5EF4-FFF2-40B4-BE49-F238E27FC236}">
                <a16:creationId xmlns:a16="http://schemas.microsoft.com/office/drawing/2014/main" id="{3D3BFBBE-1B8E-4CFD-6C69-24977493A8E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B0454E9A-4FED-8204-A535-0F3DA6754628}"/>
              </a:ext>
            </a:extLst>
          </p:cNvPr>
          <p:cNvSpPr>
            <a:spLocks noGrp="1"/>
          </p:cNvSpPr>
          <p:nvPr>
            <p:ph type="sldNum" sz="quarter" idx="12"/>
          </p:nvPr>
        </p:nvSpPr>
        <p:spPr/>
        <p:txBody>
          <a:bodyPr/>
          <a:lstStyle/>
          <a:p>
            <a:fld id="{0B2459A6-40C9-4F5F-BF4D-C3B9242DF216}" type="slidenum">
              <a:rPr lang="en-AU" smtClean="0"/>
              <a:t>‹#›</a:t>
            </a:fld>
            <a:endParaRPr lang="en-AU"/>
          </a:p>
        </p:txBody>
      </p:sp>
    </p:spTree>
    <p:extLst>
      <p:ext uri="{BB962C8B-B14F-4D97-AF65-F5344CB8AC3E}">
        <p14:creationId xmlns:p14="http://schemas.microsoft.com/office/powerpoint/2010/main" val="794084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070D0-D1F1-8AFE-8DE7-21AE1F3C1036}"/>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E2F8F956-AEC2-4F1A-F918-95E627B7F393}"/>
              </a:ext>
            </a:extLst>
          </p:cNvPr>
          <p:cNvSpPr>
            <a:spLocks noGrp="1"/>
          </p:cNvSpPr>
          <p:nvPr>
            <p:ph type="dt" sz="half" idx="10"/>
          </p:nvPr>
        </p:nvSpPr>
        <p:spPr/>
        <p:txBody>
          <a:bodyPr/>
          <a:lstStyle/>
          <a:p>
            <a:fld id="{37BBF2A1-0303-404F-83BE-26025102A8DF}" type="datetimeFigureOut">
              <a:rPr lang="en-AU" smtClean="0"/>
              <a:t>21/04/2024</a:t>
            </a:fld>
            <a:endParaRPr lang="en-AU"/>
          </a:p>
        </p:txBody>
      </p:sp>
      <p:sp>
        <p:nvSpPr>
          <p:cNvPr id="4" name="Footer Placeholder 3">
            <a:extLst>
              <a:ext uri="{FF2B5EF4-FFF2-40B4-BE49-F238E27FC236}">
                <a16:creationId xmlns:a16="http://schemas.microsoft.com/office/drawing/2014/main" id="{3BAC51D2-F05D-736B-3337-ADB19BDBB47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72087D6-71C2-2A9E-2561-508173815828}"/>
              </a:ext>
            </a:extLst>
          </p:cNvPr>
          <p:cNvSpPr>
            <a:spLocks noGrp="1"/>
          </p:cNvSpPr>
          <p:nvPr>
            <p:ph type="sldNum" sz="quarter" idx="12"/>
          </p:nvPr>
        </p:nvSpPr>
        <p:spPr/>
        <p:txBody>
          <a:bodyPr/>
          <a:lstStyle/>
          <a:p>
            <a:fld id="{0B2459A6-40C9-4F5F-BF4D-C3B9242DF216}" type="slidenum">
              <a:rPr lang="en-AU" smtClean="0"/>
              <a:t>‹#›</a:t>
            </a:fld>
            <a:endParaRPr lang="en-AU"/>
          </a:p>
        </p:txBody>
      </p:sp>
    </p:spTree>
    <p:extLst>
      <p:ext uri="{BB962C8B-B14F-4D97-AF65-F5344CB8AC3E}">
        <p14:creationId xmlns:p14="http://schemas.microsoft.com/office/powerpoint/2010/main" val="1152684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B3CF3C-E167-5E27-CABD-A763866DF0EF}"/>
              </a:ext>
            </a:extLst>
          </p:cNvPr>
          <p:cNvSpPr>
            <a:spLocks noGrp="1"/>
          </p:cNvSpPr>
          <p:nvPr>
            <p:ph type="dt" sz="half" idx="10"/>
          </p:nvPr>
        </p:nvSpPr>
        <p:spPr/>
        <p:txBody>
          <a:bodyPr/>
          <a:lstStyle/>
          <a:p>
            <a:fld id="{37BBF2A1-0303-404F-83BE-26025102A8DF}" type="datetimeFigureOut">
              <a:rPr lang="en-AU" smtClean="0"/>
              <a:t>21/04/2024</a:t>
            </a:fld>
            <a:endParaRPr lang="en-AU"/>
          </a:p>
        </p:txBody>
      </p:sp>
      <p:sp>
        <p:nvSpPr>
          <p:cNvPr id="3" name="Footer Placeholder 2">
            <a:extLst>
              <a:ext uri="{FF2B5EF4-FFF2-40B4-BE49-F238E27FC236}">
                <a16:creationId xmlns:a16="http://schemas.microsoft.com/office/drawing/2014/main" id="{582C96D5-01C6-535B-F2D2-A8828F68C7CB}"/>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F5C11FC4-E96D-85CB-012A-C29E23DC61D5}"/>
              </a:ext>
            </a:extLst>
          </p:cNvPr>
          <p:cNvSpPr>
            <a:spLocks noGrp="1"/>
          </p:cNvSpPr>
          <p:nvPr>
            <p:ph type="sldNum" sz="quarter" idx="12"/>
          </p:nvPr>
        </p:nvSpPr>
        <p:spPr/>
        <p:txBody>
          <a:bodyPr/>
          <a:lstStyle/>
          <a:p>
            <a:fld id="{0B2459A6-40C9-4F5F-BF4D-C3B9242DF216}" type="slidenum">
              <a:rPr lang="en-AU" smtClean="0"/>
              <a:t>‹#›</a:t>
            </a:fld>
            <a:endParaRPr lang="en-AU"/>
          </a:p>
        </p:txBody>
      </p:sp>
    </p:spTree>
    <p:extLst>
      <p:ext uri="{BB962C8B-B14F-4D97-AF65-F5344CB8AC3E}">
        <p14:creationId xmlns:p14="http://schemas.microsoft.com/office/powerpoint/2010/main" val="2790709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7D7F8-CCBB-5F54-885A-D1D25DBF958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E0114B96-DE85-C9A5-9649-D363CF763C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F191F91B-725D-B9FE-D7C2-07AF3C999F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E35B52B-74A3-E218-0D9F-F884AE5041CE}"/>
              </a:ext>
            </a:extLst>
          </p:cNvPr>
          <p:cNvSpPr>
            <a:spLocks noGrp="1"/>
          </p:cNvSpPr>
          <p:nvPr>
            <p:ph type="dt" sz="half" idx="10"/>
          </p:nvPr>
        </p:nvSpPr>
        <p:spPr/>
        <p:txBody>
          <a:bodyPr/>
          <a:lstStyle/>
          <a:p>
            <a:fld id="{37BBF2A1-0303-404F-83BE-26025102A8DF}" type="datetimeFigureOut">
              <a:rPr lang="en-AU" smtClean="0"/>
              <a:t>21/04/2024</a:t>
            </a:fld>
            <a:endParaRPr lang="en-AU"/>
          </a:p>
        </p:txBody>
      </p:sp>
      <p:sp>
        <p:nvSpPr>
          <p:cNvPr id="6" name="Footer Placeholder 5">
            <a:extLst>
              <a:ext uri="{FF2B5EF4-FFF2-40B4-BE49-F238E27FC236}">
                <a16:creationId xmlns:a16="http://schemas.microsoft.com/office/drawing/2014/main" id="{65AE8AE1-8A57-EE16-6195-D5511CDE4A7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0976158-FCFE-A28B-3D9D-D29ED3C560B9}"/>
              </a:ext>
            </a:extLst>
          </p:cNvPr>
          <p:cNvSpPr>
            <a:spLocks noGrp="1"/>
          </p:cNvSpPr>
          <p:nvPr>
            <p:ph type="sldNum" sz="quarter" idx="12"/>
          </p:nvPr>
        </p:nvSpPr>
        <p:spPr/>
        <p:txBody>
          <a:bodyPr/>
          <a:lstStyle/>
          <a:p>
            <a:fld id="{0B2459A6-40C9-4F5F-BF4D-C3B9242DF216}" type="slidenum">
              <a:rPr lang="en-AU" smtClean="0"/>
              <a:t>‹#›</a:t>
            </a:fld>
            <a:endParaRPr lang="en-AU"/>
          </a:p>
        </p:txBody>
      </p:sp>
    </p:spTree>
    <p:extLst>
      <p:ext uri="{BB962C8B-B14F-4D97-AF65-F5344CB8AC3E}">
        <p14:creationId xmlns:p14="http://schemas.microsoft.com/office/powerpoint/2010/main" val="1577153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029CA-EA80-5026-C668-7D77B0BC6A6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4EB393EF-4BB6-0567-B869-71189564EE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69CC6BE-6F2F-6355-5EF0-31403BC9BD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6B7306D-77C2-BAB5-9057-B7F1C89D89B0}"/>
              </a:ext>
            </a:extLst>
          </p:cNvPr>
          <p:cNvSpPr>
            <a:spLocks noGrp="1"/>
          </p:cNvSpPr>
          <p:nvPr>
            <p:ph type="dt" sz="half" idx="10"/>
          </p:nvPr>
        </p:nvSpPr>
        <p:spPr/>
        <p:txBody>
          <a:bodyPr/>
          <a:lstStyle/>
          <a:p>
            <a:fld id="{37BBF2A1-0303-404F-83BE-26025102A8DF}" type="datetimeFigureOut">
              <a:rPr lang="en-AU" smtClean="0"/>
              <a:t>21/04/2024</a:t>
            </a:fld>
            <a:endParaRPr lang="en-AU"/>
          </a:p>
        </p:txBody>
      </p:sp>
      <p:sp>
        <p:nvSpPr>
          <p:cNvPr id="6" name="Footer Placeholder 5">
            <a:extLst>
              <a:ext uri="{FF2B5EF4-FFF2-40B4-BE49-F238E27FC236}">
                <a16:creationId xmlns:a16="http://schemas.microsoft.com/office/drawing/2014/main" id="{DA11C7E6-73FE-59F6-3293-4E42895E356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EFDF795-7C5E-85EB-CA13-AA91BD374374}"/>
              </a:ext>
            </a:extLst>
          </p:cNvPr>
          <p:cNvSpPr>
            <a:spLocks noGrp="1"/>
          </p:cNvSpPr>
          <p:nvPr>
            <p:ph type="sldNum" sz="quarter" idx="12"/>
          </p:nvPr>
        </p:nvSpPr>
        <p:spPr/>
        <p:txBody>
          <a:bodyPr/>
          <a:lstStyle/>
          <a:p>
            <a:fld id="{0B2459A6-40C9-4F5F-BF4D-C3B9242DF216}" type="slidenum">
              <a:rPr lang="en-AU" smtClean="0"/>
              <a:t>‹#›</a:t>
            </a:fld>
            <a:endParaRPr lang="en-AU"/>
          </a:p>
        </p:txBody>
      </p:sp>
    </p:spTree>
    <p:extLst>
      <p:ext uri="{BB962C8B-B14F-4D97-AF65-F5344CB8AC3E}">
        <p14:creationId xmlns:p14="http://schemas.microsoft.com/office/powerpoint/2010/main" val="578941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184CE-5357-2CBC-2DF9-650320C9E4DC}"/>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FA4280C3-B531-2476-B537-6D894E48A38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147E55A8-B5FD-5DA9-7DD9-E6B599190E12}"/>
              </a:ext>
            </a:extLst>
          </p:cNvPr>
          <p:cNvSpPr>
            <a:spLocks noGrp="1"/>
          </p:cNvSpPr>
          <p:nvPr>
            <p:ph type="dt" sz="half" idx="10"/>
          </p:nvPr>
        </p:nvSpPr>
        <p:spPr/>
        <p:txBody>
          <a:bodyPr/>
          <a:lstStyle/>
          <a:p>
            <a:fld id="{37BBF2A1-0303-404F-83BE-26025102A8DF}" type="datetimeFigureOut">
              <a:rPr lang="en-AU" smtClean="0"/>
              <a:t>21/04/2024</a:t>
            </a:fld>
            <a:endParaRPr lang="en-AU"/>
          </a:p>
        </p:txBody>
      </p:sp>
      <p:sp>
        <p:nvSpPr>
          <p:cNvPr id="5" name="Footer Placeholder 4">
            <a:extLst>
              <a:ext uri="{FF2B5EF4-FFF2-40B4-BE49-F238E27FC236}">
                <a16:creationId xmlns:a16="http://schemas.microsoft.com/office/drawing/2014/main" id="{ADBF6A2F-44D3-0C05-9136-2872CBDC14F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E530909-A347-AD7F-63DF-702850F4EE7B}"/>
              </a:ext>
            </a:extLst>
          </p:cNvPr>
          <p:cNvSpPr>
            <a:spLocks noGrp="1"/>
          </p:cNvSpPr>
          <p:nvPr>
            <p:ph type="sldNum" sz="quarter" idx="12"/>
          </p:nvPr>
        </p:nvSpPr>
        <p:spPr/>
        <p:txBody>
          <a:bodyPr/>
          <a:lstStyle/>
          <a:p>
            <a:fld id="{0B2459A6-40C9-4F5F-BF4D-C3B9242DF216}" type="slidenum">
              <a:rPr lang="en-AU" smtClean="0"/>
              <a:t>‹#›</a:t>
            </a:fld>
            <a:endParaRPr lang="en-AU"/>
          </a:p>
        </p:txBody>
      </p:sp>
    </p:spTree>
    <p:extLst>
      <p:ext uri="{BB962C8B-B14F-4D97-AF65-F5344CB8AC3E}">
        <p14:creationId xmlns:p14="http://schemas.microsoft.com/office/powerpoint/2010/main" val="3834085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446F93-924F-6D1A-AF70-CB2EF24DE1D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4C56E82E-D84D-CE8F-3149-CB0440213EC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3705BFB8-DC56-0D55-90B2-5D9D44F91AF0}"/>
              </a:ext>
            </a:extLst>
          </p:cNvPr>
          <p:cNvSpPr>
            <a:spLocks noGrp="1"/>
          </p:cNvSpPr>
          <p:nvPr>
            <p:ph type="dt" sz="half" idx="10"/>
          </p:nvPr>
        </p:nvSpPr>
        <p:spPr/>
        <p:txBody>
          <a:bodyPr/>
          <a:lstStyle/>
          <a:p>
            <a:fld id="{37BBF2A1-0303-404F-83BE-26025102A8DF}" type="datetimeFigureOut">
              <a:rPr lang="en-AU" smtClean="0"/>
              <a:t>21/04/2024</a:t>
            </a:fld>
            <a:endParaRPr lang="en-AU"/>
          </a:p>
        </p:txBody>
      </p:sp>
      <p:sp>
        <p:nvSpPr>
          <p:cNvPr id="5" name="Footer Placeholder 4">
            <a:extLst>
              <a:ext uri="{FF2B5EF4-FFF2-40B4-BE49-F238E27FC236}">
                <a16:creationId xmlns:a16="http://schemas.microsoft.com/office/drawing/2014/main" id="{9540CBB1-960B-9F01-884D-877F6AAF6C8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7F6E565-CED1-0156-9AF3-B74DC4C1DDB6}"/>
              </a:ext>
            </a:extLst>
          </p:cNvPr>
          <p:cNvSpPr>
            <a:spLocks noGrp="1"/>
          </p:cNvSpPr>
          <p:nvPr>
            <p:ph type="sldNum" sz="quarter" idx="12"/>
          </p:nvPr>
        </p:nvSpPr>
        <p:spPr/>
        <p:txBody>
          <a:bodyPr/>
          <a:lstStyle/>
          <a:p>
            <a:fld id="{0B2459A6-40C9-4F5F-BF4D-C3B9242DF216}" type="slidenum">
              <a:rPr lang="en-AU" smtClean="0"/>
              <a:t>‹#›</a:t>
            </a:fld>
            <a:endParaRPr lang="en-AU"/>
          </a:p>
        </p:txBody>
      </p:sp>
    </p:spTree>
    <p:extLst>
      <p:ext uri="{BB962C8B-B14F-4D97-AF65-F5344CB8AC3E}">
        <p14:creationId xmlns:p14="http://schemas.microsoft.com/office/powerpoint/2010/main" val="3347623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70169D-E39C-F4ED-0169-D396F9EC88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640E0787-DECA-4EEF-8A6B-48BA7A7A54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DF5DB9EF-151C-1315-7CFA-78144B712D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BBF2A1-0303-404F-83BE-26025102A8DF}" type="datetimeFigureOut">
              <a:rPr lang="en-AU" smtClean="0"/>
              <a:t>21/04/2024</a:t>
            </a:fld>
            <a:endParaRPr lang="en-AU"/>
          </a:p>
        </p:txBody>
      </p:sp>
      <p:sp>
        <p:nvSpPr>
          <p:cNvPr id="5" name="Footer Placeholder 4">
            <a:extLst>
              <a:ext uri="{FF2B5EF4-FFF2-40B4-BE49-F238E27FC236}">
                <a16:creationId xmlns:a16="http://schemas.microsoft.com/office/drawing/2014/main" id="{687646FF-F9DD-889C-5ABC-042078BD45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7EB9A1F2-3151-338E-4AD3-3A922A2936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2459A6-40C9-4F5F-BF4D-C3B9242DF216}" type="slidenum">
              <a:rPr lang="en-AU" smtClean="0"/>
              <a:t>‹#›</a:t>
            </a:fld>
            <a:endParaRPr lang="en-AU"/>
          </a:p>
        </p:txBody>
      </p:sp>
    </p:spTree>
    <p:extLst>
      <p:ext uri="{BB962C8B-B14F-4D97-AF65-F5344CB8AC3E}">
        <p14:creationId xmlns:p14="http://schemas.microsoft.com/office/powerpoint/2010/main" val="1210373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video" Target="https://www.youtube.com/embed/3xHzF_b0JVU?feature=oembed"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924F6B-6F0E-6BF9-B5F7-CC82AEA0A609}"/>
              </a:ext>
            </a:extLst>
          </p:cNvPr>
          <p:cNvSpPr txBox="1"/>
          <p:nvPr/>
        </p:nvSpPr>
        <p:spPr>
          <a:xfrm>
            <a:off x="0" y="0"/>
            <a:ext cx="9614319" cy="1323439"/>
          </a:xfrm>
          <a:prstGeom prst="rect">
            <a:avLst/>
          </a:prstGeom>
          <a:noFill/>
        </p:spPr>
        <p:txBody>
          <a:bodyPr wrap="square" rtlCol="0">
            <a:spAutoFit/>
          </a:bodyPr>
          <a:lstStyle/>
          <a:p>
            <a:r>
              <a:rPr lang="en-US" sz="8000" dirty="0">
                <a:solidFill>
                  <a:srgbClr val="4F6797"/>
                </a:solidFill>
                <a:latin typeface="Arial" panose="020B0604020202020204" pitchFamily="34" charset="0"/>
                <a:cs typeface="Arial" panose="020B0604020202020204" pitchFamily="34" charset="0"/>
              </a:rPr>
              <a:t>CASE STUDY </a:t>
            </a:r>
            <a:endParaRPr lang="en-AU" sz="8000" dirty="0">
              <a:solidFill>
                <a:srgbClr val="4F6797"/>
              </a:solidFill>
              <a:latin typeface="Arial" panose="020B0604020202020204" pitchFamily="34" charset="0"/>
              <a:cs typeface="Arial" panose="020B0604020202020204" pitchFamily="34" charset="0"/>
            </a:endParaRPr>
          </a:p>
        </p:txBody>
      </p:sp>
      <p:pic>
        <p:nvPicPr>
          <p:cNvPr id="1026" name="Picture 2" descr="Q&amp;A: Judy Watson - Museum of Brisbane | MoB">
            <a:extLst>
              <a:ext uri="{FF2B5EF4-FFF2-40B4-BE49-F238E27FC236}">
                <a16:creationId xmlns:a16="http://schemas.microsoft.com/office/drawing/2014/main" id="{F41DBBE2-0C38-5E6D-7583-E41ABEFC62F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642" b="28771"/>
          <a:stretch/>
        </p:blipFill>
        <p:spPr bwMode="auto">
          <a:xfrm>
            <a:off x="0" y="1165794"/>
            <a:ext cx="12192000" cy="45167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101DA49-586A-9D55-25FD-8D6F235F0AC7}"/>
              </a:ext>
            </a:extLst>
          </p:cNvPr>
          <p:cNvSpPr txBox="1"/>
          <p:nvPr/>
        </p:nvSpPr>
        <p:spPr>
          <a:xfrm>
            <a:off x="3031067" y="5775650"/>
            <a:ext cx="9160933" cy="1200329"/>
          </a:xfrm>
          <a:prstGeom prst="rect">
            <a:avLst/>
          </a:prstGeom>
          <a:noFill/>
        </p:spPr>
        <p:txBody>
          <a:bodyPr wrap="square" rtlCol="0">
            <a:spAutoFit/>
          </a:bodyPr>
          <a:lstStyle/>
          <a:p>
            <a:pPr algn="r"/>
            <a:r>
              <a:rPr lang="en-US" sz="7200" dirty="0">
                <a:solidFill>
                  <a:srgbClr val="C58A39"/>
                </a:solidFill>
                <a:latin typeface="Arial" panose="020B0604020202020204" pitchFamily="34" charset="0"/>
                <a:cs typeface="Arial" panose="020B0604020202020204" pitchFamily="34" charset="0"/>
              </a:rPr>
              <a:t>JUDY</a:t>
            </a:r>
            <a:r>
              <a:rPr lang="en-US" sz="7200" dirty="0">
                <a:solidFill>
                  <a:srgbClr val="FFC0A5"/>
                </a:solidFill>
                <a:latin typeface="Arial" panose="020B0604020202020204" pitchFamily="34" charset="0"/>
                <a:cs typeface="Arial" panose="020B0604020202020204" pitchFamily="34" charset="0"/>
              </a:rPr>
              <a:t> </a:t>
            </a:r>
            <a:r>
              <a:rPr lang="en-US" sz="7200" dirty="0">
                <a:solidFill>
                  <a:srgbClr val="C58A39"/>
                </a:solidFill>
                <a:latin typeface="Arial" panose="020B0604020202020204" pitchFamily="34" charset="0"/>
                <a:cs typeface="Arial" panose="020B0604020202020204" pitchFamily="34" charset="0"/>
              </a:rPr>
              <a:t>WATSON</a:t>
            </a:r>
            <a:r>
              <a:rPr lang="en-US" sz="7200" dirty="0">
                <a:solidFill>
                  <a:srgbClr val="FFC0A5"/>
                </a:solidFill>
                <a:latin typeface="Arial" panose="020B0604020202020204" pitchFamily="34" charset="0"/>
                <a:cs typeface="Arial" panose="020B0604020202020204" pitchFamily="34" charset="0"/>
              </a:rPr>
              <a:t> </a:t>
            </a:r>
            <a:endParaRPr lang="en-AU" sz="7200" dirty="0">
              <a:solidFill>
                <a:srgbClr val="FFC0A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8057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18F9E1-4D32-D06A-8F4A-554EEAB51991}"/>
              </a:ext>
            </a:extLst>
          </p:cNvPr>
          <p:cNvSpPr txBox="1"/>
          <p:nvPr/>
        </p:nvSpPr>
        <p:spPr>
          <a:xfrm>
            <a:off x="152066" y="97935"/>
            <a:ext cx="4199802" cy="442674"/>
          </a:xfrm>
          <a:prstGeom prst="roundRect">
            <a:avLst/>
          </a:prstGeom>
          <a:solidFill>
            <a:srgbClr val="C58A39"/>
          </a:solidFill>
          <a:ln w="12700">
            <a:solidFill>
              <a:schemeClr val="tx1"/>
            </a:solidFill>
          </a:ln>
        </p:spPr>
        <p:txBody>
          <a:bodyPr wrap="square" rtlCol="0">
            <a:spAutoFit/>
          </a:bodyPr>
          <a:lstStyle/>
          <a:p>
            <a:r>
              <a:rPr lang="en-US" sz="2000" b="1" i="1" dirty="0"/>
              <a:t>Artist Interview with Judy Watson</a:t>
            </a:r>
            <a:endParaRPr lang="en-AU" sz="2000" b="1" i="1" dirty="0"/>
          </a:p>
        </p:txBody>
      </p:sp>
      <p:pic>
        <p:nvPicPr>
          <p:cNvPr id="3" name="Online Media 2" title="Artist Judy Watson">
            <a:hlinkClick r:id="" action="ppaction://media"/>
            <a:extLst>
              <a:ext uri="{FF2B5EF4-FFF2-40B4-BE49-F238E27FC236}">
                <a16:creationId xmlns:a16="http://schemas.microsoft.com/office/drawing/2014/main" id="{60F0157D-12BB-B808-DC1D-372E0D6F62B2}"/>
              </a:ext>
            </a:extLst>
          </p:cNvPr>
          <p:cNvPicPr>
            <a:picLocks noRot="1" noChangeAspect="1"/>
          </p:cNvPicPr>
          <p:nvPr>
            <a:videoFile r:link="rId1"/>
          </p:nvPr>
        </p:nvPicPr>
        <p:blipFill>
          <a:blip r:embed="rId3"/>
          <a:stretch>
            <a:fillRect/>
          </a:stretch>
        </p:blipFill>
        <p:spPr>
          <a:xfrm>
            <a:off x="795088" y="770021"/>
            <a:ext cx="10601824" cy="5990044"/>
          </a:xfrm>
          <a:prstGeom prst="rect">
            <a:avLst/>
          </a:prstGeom>
        </p:spPr>
      </p:pic>
    </p:spTree>
    <p:extLst>
      <p:ext uri="{BB962C8B-B14F-4D97-AF65-F5344CB8AC3E}">
        <p14:creationId xmlns:p14="http://schemas.microsoft.com/office/powerpoint/2010/main" val="3068713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5688AA-EC6D-08D2-FD3E-F69D1A318551}"/>
              </a:ext>
            </a:extLst>
          </p:cNvPr>
          <p:cNvPicPr>
            <a:picLocks noChangeAspect="1"/>
          </p:cNvPicPr>
          <p:nvPr/>
        </p:nvPicPr>
        <p:blipFill>
          <a:blip r:embed="rId2"/>
          <a:stretch>
            <a:fillRect/>
          </a:stretch>
        </p:blipFill>
        <p:spPr>
          <a:xfrm>
            <a:off x="5435603" y="152400"/>
            <a:ext cx="3234267" cy="3017889"/>
          </a:xfrm>
          <a:prstGeom prst="ellipse">
            <a:avLst/>
          </a:prstGeom>
        </p:spPr>
      </p:pic>
      <p:sp>
        <p:nvSpPr>
          <p:cNvPr id="5" name="Oval 4">
            <a:extLst>
              <a:ext uri="{FF2B5EF4-FFF2-40B4-BE49-F238E27FC236}">
                <a16:creationId xmlns:a16="http://schemas.microsoft.com/office/drawing/2014/main" id="{03D4E0BB-7A89-3A93-568D-14FDB477AA73}"/>
              </a:ext>
            </a:extLst>
          </p:cNvPr>
          <p:cNvSpPr/>
          <p:nvPr/>
        </p:nvSpPr>
        <p:spPr>
          <a:xfrm>
            <a:off x="6449085" y="2286000"/>
            <a:ext cx="5420864" cy="4419600"/>
          </a:xfrm>
          <a:prstGeom prst="ellipse">
            <a:avLst/>
          </a:prstGeom>
          <a:solidFill>
            <a:srgbClr val="4F6797"/>
          </a:solidFill>
          <a:ln>
            <a:solidFill>
              <a:srgbClr val="4F67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i="1" dirty="0"/>
              <a:t>My work is an affirmation of my identity, ancestral links and connection to Country. Being with family and talking to my Grandmother has been a primary inspiration. I absorbed her memories, gained an insight into her life and the way she saw the land, was shown bush foods and sites. This is my major research as an Indigenous visual artist. The strength of these experiences sustains me and is the touchstone for my work. </a:t>
            </a:r>
            <a:r>
              <a:rPr lang="en-US" sz="1600" dirty="0"/>
              <a:t>– Judy Watson</a:t>
            </a:r>
            <a:endParaRPr lang="en-AU" sz="1600" dirty="0"/>
          </a:p>
        </p:txBody>
      </p:sp>
      <p:sp>
        <p:nvSpPr>
          <p:cNvPr id="6" name="TextBox 5">
            <a:extLst>
              <a:ext uri="{FF2B5EF4-FFF2-40B4-BE49-F238E27FC236}">
                <a16:creationId xmlns:a16="http://schemas.microsoft.com/office/drawing/2014/main" id="{57572EB8-B32F-315A-E850-A96E43D8B47F}"/>
              </a:ext>
            </a:extLst>
          </p:cNvPr>
          <p:cNvSpPr txBox="1"/>
          <p:nvPr/>
        </p:nvSpPr>
        <p:spPr>
          <a:xfrm>
            <a:off x="440586" y="494437"/>
            <a:ext cx="4749479" cy="3303032"/>
          </a:xfrm>
          <a:prstGeom prst="roundRect">
            <a:avLst/>
          </a:prstGeom>
          <a:solidFill>
            <a:srgbClr val="C58A39"/>
          </a:solidFill>
          <a:ln w="12700">
            <a:solidFill>
              <a:schemeClr val="tx1"/>
            </a:solidFill>
          </a:ln>
        </p:spPr>
        <p:txBody>
          <a:bodyPr wrap="square" rtlCol="0">
            <a:spAutoFit/>
          </a:bodyPr>
          <a:lstStyle/>
          <a:p>
            <a:pPr algn="l"/>
            <a:r>
              <a:rPr lang="en-US" sz="2800" b="1" dirty="0">
                <a:solidFill>
                  <a:schemeClr val="bg1"/>
                </a:solidFill>
                <a:latin typeface="+mj-lt"/>
              </a:rPr>
              <a:t>JUDY WATSON</a:t>
            </a:r>
          </a:p>
          <a:p>
            <a:pPr algn="l"/>
            <a:endParaRPr lang="en-US" sz="2000" b="1" dirty="0">
              <a:solidFill>
                <a:schemeClr val="bg1"/>
              </a:solidFill>
              <a:latin typeface="+mj-lt"/>
            </a:endParaRPr>
          </a:p>
          <a:p>
            <a:pPr algn="l"/>
            <a:r>
              <a:rPr lang="en-US" sz="2000" b="0" i="0" dirty="0">
                <a:solidFill>
                  <a:schemeClr val="bg1"/>
                </a:solidFill>
                <a:effectLst/>
                <a:latin typeface="+mj-lt"/>
              </a:rPr>
              <a:t>Judy Watson's artistic practice is deeply rooted in her personal history, heritage, and sense of place. As a woman of mixed Indigenous and non-Indigenous descent, she explores themes of identity, memory, and history, often drawing from her childhood experiences in Queensland.</a:t>
            </a:r>
            <a:endParaRPr lang="en-US" sz="2000" b="1" dirty="0"/>
          </a:p>
        </p:txBody>
      </p:sp>
    </p:spTree>
    <p:extLst>
      <p:ext uri="{BB962C8B-B14F-4D97-AF65-F5344CB8AC3E}">
        <p14:creationId xmlns:p14="http://schemas.microsoft.com/office/powerpoint/2010/main" val="3394309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D7BBD4-7011-94FB-0EC9-C419F436EC04}"/>
              </a:ext>
            </a:extLst>
          </p:cNvPr>
          <p:cNvSpPr txBox="1"/>
          <p:nvPr/>
        </p:nvSpPr>
        <p:spPr>
          <a:xfrm>
            <a:off x="338988" y="274303"/>
            <a:ext cx="5440020" cy="1634490"/>
          </a:xfrm>
          <a:prstGeom prst="roundRect">
            <a:avLst/>
          </a:prstGeom>
          <a:solidFill>
            <a:srgbClr val="C58A39"/>
          </a:solidFill>
          <a:ln w="12700">
            <a:solidFill>
              <a:schemeClr val="tx1"/>
            </a:solidFill>
          </a:ln>
        </p:spPr>
        <p:txBody>
          <a:bodyPr wrap="square" rtlCol="0">
            <a:spAutoFit/>
          </a:bodyPr>
          <a:lstStyle/>
          <a:p>
            <a:r>
              <a:rPr lang="en-US" b="0" i="0" dirty="0">
                <a:solidFill>
                  <a:schemeClr val="bg1"/>
                </a:solidFill>
                <a:effectLst/>
                <a:latin typeface="+mj-lt"/>
              </a:rPr>
              <a:t>Watson's work is characterized by a strong connection to water, which she sees as a conduit for energy and creativity. She incorporates Indigenous symbols and objects into her art, reflecting her upbringing and connection to her heritage.</a:t>
            </a:r>
          </a:p>
        </p:txBody>
      </p:sp>
      <p:pic>
        <p:nvPicPr>
          <p:cNvPr id="8" name="Picture 7">
            <a:extLst>
              <a:ext uri="{FF2B5EF4-FFF2-40B4-BE49-F238E27FC236}">
                <a16:creationId xmlns:a16="http://schemas.microsoft.com/office/drawing/2014/main" id="{9AA482B3-2200-6B23-AA6B-550941994475}"/>
              </a:ext>
            </a:extLst>
          </p:cNvPr>
          <p:cNvPicPr>
            <a:picLocks noChangeAspect="1"/>
          </p:cNvPicPr>
          <p:nvPr/>
        </p:nvPicPr>
        <p:blipFill>
          <a:blip r:embed="rId2"/>
          <a:stretch>
            <a:fillRect/>
          </a:stretch>
        </p:blipFill>
        <p:spPr>
          <a:xfrm>
            <a:off x="6111213" y="291859"/>
            <a:ext cx="3709649" cy="5905154"/>
          </a:xfrm>
          <a:prstGeom prst="rect">
            <a:avLst/>
          </a:prstGeom>
        </p:spPr>
      </p:pic>
      <p:pic>
        <p:nvPicPr>
          <p:cNvPr id="10" name="Picture 9">
            <a:extLst>
              <a:ext uri="{FF2B5EF4-FFF2-40B4-BE49-F238E27FC236}">
                <a16:creationId xmlns:a16="http://schemas.microsoft.com/office/drawing/2014/main" id="{2A1B2F9B-A7E7-4713-D8CB-8F34E04029BB}"/>
              </a:ext>
            </a:extLst>
          </p:cNvPr>
          <p:cNvPicPr>
            <a:picLocks noChangeAspect="1"/>
          </p:cNvPicPr>
          <p:nvPr/>
        </p:nvPicPr>
        <p:blipFill rotWithShape="1">
          <a:blip r:embed="rId3"/>
          <a:srcRect l="3134" t="3596" r="12775"/>
          <a:stretch/>
        </p:blipFill>
        <p:spPr>
          <a:xfrm>
            <a:off x="9949473" y="1803178"/>
            <a:ext cx="2003617" cy="1423702"/>
          </a:xfrm>
          <a:prstGeom prst="rect">
            <a:avLst/>
          </a:prstGeom>
        </p:spPr>
      </p:pic>
      <p:pic>
        <p:nvPicPr>
          <p:cNvPr id="12" name="Picture 11">
            <a:extLst>
              <a:ext uri="{FF2B5EF4-FFF2-40B4-BE49-F238E27FC236}">
                <a16:creationId xmlns:a16="http://schemas.microsoft.com/office/drawing/2014/main" id="{EBE3F694-4E42-741B-1506-86CFC9D8F066}"/>
              </a:ext>
            </a:extLst>
          </p:cNvPr>
          <p:cNvPicPr>
            <a:picLocks noChangeAspect="1"/>
          </p:cNvPicPr>
          <p:nvPr/>
        </p:nvPicPr>
        <p:blipFill>
          <a:blip r:embed="rId4"/>
          <a:stretch>
            <a:fillRect/>
          </a:stretch>
        </p:blipFill>
        <p:spPr>
          <a:xfrm>
            <a:off x="9949473" y="3429000"/>
            <a:ext cx="1990823" cy="1628209"/>
          </a:xfrm>
          <a:prstGeom prst="rect">
            <a:avLst/>
          </a:prstGeom>
        </p:spPr>
      </p:pic>
      <p:sp>
        <p:nvSpPr>
          <p:cNvPr id="13" name="TextBox 12">
            <a:extLst>
              <a:ext uri="{FF2B5EF4-FFF2-40B4-BE49-F238E27FC236}">
                <a16:creationId xmlns:a16="http://schemas.microsoft.com/office/drawing/2014/main" id="{49200F4D-654F-A763-AE49-3E665F3BA39C}"/>
              </a:ext>
            </a:extLst>
          </p:cNvPr>
          <p:cNvSpPr txBox="1"/>
          <p:nvPr/>
        </p:nvSpPr>
        <p:spPr>
          <a:xfrm>
            <a:off x="6095997" y="6333345"/>
            <a:ext cx="3709649" cy="307777"/>
          </a:xfrm>
          <a:prstGeom prst="rect">
            <a:avLst/>
          </a:prstGeom>
          <a:noFill/>
        </p:spPr>
        <p:txBody>
          <a:bodyPr wrap="square" rtlCol="0">
            <a:spAutoFit/>
          </a:bodyPr>
          <a:lstStyle/>
          <a:p>
            <a:pPr algn="r"/>
            <a:r>
              <a:rPr lang="en-US" sz="1400" dirty="0"/>
              <a:t>Judy Watson, </a:t>
            </a:r>
            <a:r>
              <a:rPr lang="en-US" sz="1400" i="1" dirty="0"/>
              <a:t>Waterspout, </a:t>
            </a:r>
            <a:r>
              <a:rPr lang="en-US" sz="1400" dirty="0"/>
              <a:t>1996</a:t>
            </a:r>
            <a:endParaRPr lang="en-AU" sz="1400" dirty="0"/>
          </a:p>
        </p:txBody>
      </p:sp>
      <p:sp>
        <p:nvSpPr>
          <p:cNvPr id="14" name="TextBox 13">
            <a:extLst>
              <a:ext uri="{FF2B5EF4-FFF2-40B4-BE49-F238E27FC236}">
                <a16:creationId xmlns:a16="http://schemas.microsoft.com/office/drawing/2014/main" id="{DF8B7458-3F40-A43C-7201-6E780D1C8097}"/>
              </a:ext>
            </a:extLst>
          </p:cNvPr>
          <p:cNvSpPr txBox="1"/>
          <p:nvPr/>
        </p:nvSpPr>
        <p:spPr>
          <a:xfrm>
            <a:off x="248227" y="2212944"/>
            <a:ext cx="5621542" cy="3984069"/>
          </a:xfrm>
          <a:prstGeom prst="roundRect">
            <a:avLst/>
          </a:prstGeom>
          <a:solidFill>
            <a:schemeClr val="bg1"/>
          </a:solidFill>
          <a:ln w="12700">
            <a:solidFill>
              <a:schemeClr val="tx1"/>
            </a:solidFill>
          </a:ln>
        </p:spPr>
        <p:txBody>
          <a:bodyPr wrap="square" rtlCol="0">
            <a:spAutoFit/>
          </a:bodyPr>
          <a:lstStyle/>
          <a:p>
            <a:r>
              <a:rPr lang="en-US" sz="1200" dirty="0"/>
              <a:t>While living in France, Watson had a significant dream about the bailer and conch shells. As Watson recalls</a:t>
            </a:r>
            <a:r>
              <a:rPr lang="en-US" sz="1200" b="1" i="1" dirty="0"/>
              <a:t>: I dreamt that I saw a waterspout (where the water is swept up in the air) from the beach. This one was like a clear glass rectangle. All of a sudden it turned, tearing up the beach towards us. We scattered as it tore right through the brick walls of the house I was living in. In its wake, it left two large white shells, a bailer and a conch, in a deep trench in the sand. It felt like these shells had been sucked up from the bottom of the ocean. They are symbolic, images of resistance and survival. </a:t>
            </a:r>
            <a:r>
              <a:rPr lang="en-US" sz="1200" dirty="0"/>
              <a:t>– JUDY WATSON </a:t>
            </a:r>
          </a:p>
          <a:p>
            <a:endParaRPr lang="en-US" sz="1200" dirty="0"/>
          </a:p>
          <a:p>
            <a:r>
              <a:rPr lang="en-US" sz="1200" dirty="0"/>
              <a:t>The dream was a source of inspiration. Within </a:t>
            </a:r>
            <a:r>
              <a:rPr lang="en-US" sz="1200" b="1" i="1" dirty="0"/>
              <a:t>waterspout</a:t>
            </a:r>
            <a:r>
              <a:rPr lang="en-US" sz="1200" dirty="0"/>
              <a:t>, the shapes of </a:t>
            </a:r>
            <a:r>
              <a:rPr lang="en-US" sz="1200" b="1" dirty="0"/>
              <a:t>whelk</a:t>
            </a:r>
            <a:r>
              <a:rPr lang="en-US" sz="1200" dirty="0"/>
              <a:t> and </a:t>
            </a:r>
            <a:r>
              <a:rPr lang="en-US" sz="1200" b="1" dirty="0"/>
              <a:t>bailer shells </a:t>
            </a:r>
            <a:r>
              <a:rPr lang="en-US" sz="1200" dirty="0"/>
              <a:t>are central and steadfast among the swirling torrent of the violent waterspout. Deeply personal metaphors appear throughout Watson’s work. They echo the joys and traumas of her ancestors and powerfully resonate with other Indigenous peoples. Thus, her personal metaphors are also metonymy. The </a:t>
            </a:r>
            <a:r>
              <a:rPr lang="en-US" sz="1200" b="1" dirty="0"/>
              <a:t>conch and whelk shells are a metaphor for the male</a:t>
            </a:r>
            <a:r>
              <a:rPr lang="en-US" sz="1200" dirty="0"/>
              <a:t>, traditionally used by men as a warning, a signal for survival and to gather together. Men would blow into a conch or whelk shell and the sound could be heard over great distances.</a:t>
            </a:r>
            <a:endParaRPr lang="en-US" sz="1200" b="0" i="0" dirty="0">
              <a:solidFill>
                <a:schemeClr val="bg1"/>
              </a:solidFill>
              <a:effectLst/>
              <a:latin typeface="+mj-lt"/>
            </a:endParaRPr>
          </a:p>
        </p:txBody>
      </p:sp>
    </p:spTree>
    <p:extLst>
      <p:ext uri="{BB962C8B-B14F-4D97-AF65-F5344CB8AC3E}">
        <p14:creationId xmlns:p14="http://schemas.microsoft.com/office/powerpoint/2010/main" val="4234615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75E500-9960-A676-08B4-433CD1FC4680}"/>
              </a:ext>
            </a:extLst>
          </p:cNvPr>
          <p:cNvSpPr txBox="1"/>
          <p:nvPr/>
        </p:nvSpPr>
        <p:spPr>
          <a:xfrm>
            <a:off x="376347" y="428961"/>
            <a:ext cx="6549030" cy="1634490"/>
          </a:xfrm>
          <a:prstGeom prst="roundRect">
            <a:avLst/>
          </a:prstGeom>
          <a:solidFill>
            <a:srgbClr val="C58A39"/>
          </a:solidFill>
          <a:ln w="12700">
            <a:solidFill>
              <a:schemeClr val="tx1"/>
            </a:solidFill>
          </a:ln>
        </p:spPr>
        <p:txBody>
          <a:bodyPr wrap="square" rtlCol="0">
            <a:spAutoFit/>
          </a:bodyPr>
          <a:lstStyle/>
          <a:p>
            <a:pPr algn="l"/>
            <a:r>
              <a:rPr lang="en-US" b="0" i="0" dirty="0">
                <a:solidFill>
                  <a:schemeClr val="bg1"/>
                </a:solidFill>
                <a:effectLst/>
                <a:latin typeface="+mj-lt"/>
              </a:rPr>
              <a:t>Through her art, Watson also addresses political and historical issues, particularly the impact of colonization on Indigenous peoples. Her Watson's art is not only a means of personal expression but also a platform for commentary on broader social issues.</a:t>
            </a:r>
            <a:endParaRPr lang="en-US" b="1" dirty="0">
              <a:solidFill>
                <a:schemeClr val="bg1"/>
              </a:solidFill>
              <a:latin typeface="+mj-lt"/>
            </a:endParaRPr>
          </a:p>
        </p:txBody>
      </p:sp>
      <p:pic>
        <p:nvPicPr>
          <p:cNvPr id="4" name="Picture 3">
            <a:extLst>
              <a:ext uri="{FF2B5EF4-FFF2-40B4-BE49-F238E27FC236}">
                <a16:creationId xmlns:a16="http://schemas.microsoft.com/office/drawing/2014/main" id="{AE8E0BE9-6E02-4826-11F3-1AA5E7DF3D18}"/>
              </a:ext>
            </a:extLst>
          </p:cNvPr>
          <p:cNvPicPr>
            <a:picLocks noChangeAspect="1"/>
          </p:cNvPicPr>
          <p:nvPr/>
        </p:nvPicPr>
        <p:blipFill>
          <a:blip r:embed="rId2"/>
          <a:stretch>
            <a:fillRect/>
          </a:stretch>
        </p:blipFill>
        <p:spPr>
          <a:xfrm>
            <a:off x="7984637" y="57176"/>
            <a:ext cx="4106779" cy="6279617"/>
          </a:xfrm>
          <a:prstGeom prst="rect">
            <a:avLst/>
          </a:prstGeom>
        </p:spPr>
      </p:pic>
      <p:sp>
        <p:nvSpPr>
          <p:cNvPr id="5" name="TextBox 4">
            <a:extLst>
              <a:ext uri="{FF2B5EF4-FFF2-40B4-BE49-F238E27FC236}">
                <a16:creationId xmlns:a16="http://schemas.microsoft.com/office/drawing/2014/main" id="{5A75295F-5B5C-FF32-66B5-EA50D0DADDBF}"/>
              </a:ext>
            </a:extLst>
          </p:cNvPr>
          <p:cNvSpPr txBox="1"/>
          <p:nvPr/>
        </p:nvSpPr>
        <p:spPr>
          <a:xfrm>
            <a:off x="8381767" y="6429039"/>
            <a:ext cx="3709649" cy="307777"/>
          </a:xfrm>
          <a:prstGeom prst="rect">
            <a:avLst/>
          </a:prstGeom>
          <a:noFill/>
        </p:spPr>
        <p:txBody>
          <a:bodyPr wrap="square" rtlCol="0">
            <a:spAutoFit/>
          </a:bodyPr>
          <a:lstStyle/>
          <a:p>
            <a:pPr algn="r"/>
            <a:r>
              <a:rPr lang="en-US" sz="1400" dirty="0"/>
              <a:t>Judy Watson, </a:t>
            </a:r>
            <a:r>
              <a:rPr lang="en-US" sz="1400" i="1" dirty="0"/>
              <a:t>a history of violenc</a:t>
            </a:r>
            <a:r>
              <a:rPr lang="en-US" sz="1400" dirty="0"/>
              <a:t>e</a:t>
            </a:r>
            <a:r>
              <a:rPr lang="en-US" sz="1400" i="1" dirty="0"/>
              <a:t>, 2010</a:t>
            </a:r>
            <a:endParaRPr lang="en-AU" sz="1400" dirty="0"/>
          </a:p>
        </p:txBody>
      </p:sp>
      <p:sp>
        <p:nvSpPr>
          <p:cNvPr id="6" name="TextBox 5">
            <a:extLst>
              <a:ext uri="{FF2B5EF4-FFF2-40B4-BE49-F238E27FC236}">
                <a16:creationId xmlns:a16="http://schemas.microsoft.com/office/drawing/2014/main" id="{A9FF4865-964F-F7F0-F93D-C78904CFAB4F}"/>
              </a:ext>
            </a:extLst>
          </p:cNvPr>
          <p:cNvSpPr txBox="1"/>
          <p:nvPr/>
        </p:nvSpPr>
        <p:spPr>
          <a:xfrm>
            <a:off x="1092122" y="2717385"/>
            <a:ext cx="6362885" cy="3711654"/>
          </a:xfrm>
          <a:prstGeom prst="roundRect">
            <a:avLst/>
          </a:prstGeom>
          <a:solidFill>
            <a:schemeClr val="bg1"/>
          </a:solidFill>
          <a:ln w="12700">
            <a:solidFill>
              <a:schemeClr val="tx1"/>
            </a:solidFill>
          </a:ln>
        </p:spPr>
        <p:txBody>
          <a:bodyPr wrap="square" rtlCol="0">
            <a:spAutoFit/>
          </a:bodyPr>
          <a:lstStyle/>
          <a:p>
            <a:r>
              <a:rPr lang="en-US" b="1" dirty="0">
                <a:effectLst/>
                <a:latin typeface="+mj-lt"/>
              </a:rPr>
              <a:t>Judy Watson, </a:t>
            </a:r>
            <a:r>
              <a:rPr lang="en-US" b="1" i="1" dirty="0">
                <a:effectLst/>
                <a:latin typeface="+mj-lt"/>
              </a:rPr>
              <a:t>a history of violence</a:t>
            </a:r>
            <a:r>
              <a:rPr lang="en-US" b="1" i="1" dirty="0">
                <a:latin typeface="+mj-lt"/>
              </a:rPr>
              <a:t>, 2010</a:t>
            </a:r>
            <a:endParaRPr lang="en-US" b="1" i="1" dirty="0">
              <a:effectLst/>
              <a:latin typeface="+mj-lt"/>
            </a:endParaRPr>
          </a:p>
          <a:p>
            <a:endParaRPr lang="en-US" sz="1200" b="1" i="1" dirty="0">
              <a:latin typeface="+mj-lt"/>
            </a:endParaRPr>
          </a:p>
          <a:p>
            <a:r>
              <a:rPr lang="en-US" sz="1400" i="1" dirty="0">
                <a:effectLst/>
                <a:latin typeface="+mj-lt"/>
              </a:rPr>
              <a:t>Watson’s work "a history of violence" is a poignant example, depicting the story of her great-great-grandmother who survived a violent attack. </a:t>
            </a:r>
          </a:p>
          <a:p>
            <a:endParaRPr lang="en-US" sz="1400" i="1" dirty="0">
              <a:latin typeface="+mj-lt"/>
            </a:endParaRPr>
          </a:p>
          <a:p>
            <a:r>
              <a:rPr lang="en-US" sz="1400" i="1" dirty="0">
                <a:effectLst/>
                <a:latin typeface="+mj-lt"/>
              </a:rPr>
              <a:t>The painting uses the bailer shell as a metaphor for the female. The central figure in the painting is a young woman, depicted with swirling lines reminiscent of the central spiral of the bailer shell, symbolizing life force. The figure has no arms or legs below the knee, and the texture of the painting creates a textured pattern that gives shape to the figure. There are also six curved thick lines above the figure, three on either side, and can be read as representing rib bones or boomerangs. </a:t>
            </a:r>
          </a:p>
          <a:p>
            <a:endParaRPr lang="en-US" sz="1400" i="1" dirty="0">
              <a:latin typeface="+mj-lt"/>
            </a:endParaRPr>
          </a:p>
          <a:p>
            <a:r>
              <a:rPr lang="en-US" sz="1400" i="1" dirty="0">
                <a:effectLst/>
                <a:latin typeface="+mj-lt"/>
              </a:rPr>
              <a:t>The monochromatic red painting with lighter red stains and white markings represents the impact of colonization on Indigenous peoples in Australia, with the negative space in the chest symbolizing intergenerational trauma. </a:t>
            </a:r>
          </a:p>
        </p:txBody>
      </p:sp>
    </p:spTree>
    <p:extLst>
      <p:ext uri="{BB962C8B-B14F-4D97-AF65-F5344CB8AC3E}">
        <p14:creationId xmlns:p14="http://schemas.microsoft.com/office/powerpoint/2010/main" val="539623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A3A69D-3EC9-BD7B-25D8-82F20794BF94}"/>
              </a:ext>
            </a:extLst>
          </p:cNvPr>
          <p:cNvPicPr>
            <a:picLocks noChangeAspect="1"/>
          </p:cNvPicPr>
          <p:nvPr/>
        </p:nvPicPr>
        <p:blipFill>
          <a:blip r:embed="rId2"/>
          <a:stretch>
            <a:fillRect/>
          </a:stretch>
        </p:blipFill>
        <p:spPr>
          <a:xfrm>
            <a:off x="4979997" y="1011141"/>
            <a:ext cx="6485835" cy="4560674"/>
          </a:xfrm>
          <a:prstGeom prst="rect">
            <a:avLst/>
          </a:prstGeom>
        </p:spPr>
      </p:pic>
      <p:sp>
        <p:nvSpPr>
          <p:cNvPr id="4" name="TextBox 3">
            <a:extLst>
              <a:ext uri="{FF2B5EF4-FFF2-40B4-BE49-F238E27FC236}">
                <a16:creationId xmlns:a16="http://schemas.microsoft.com/office/drawing/2014/main" id="{9E4949A6-2A46-B5BC-0282-A2B15C7849B1}"/>
              </a:ext>
            </a:extLst>
          </p:cNvPr>
          <p:cNvSpPr txBox="1"/>
          <p:nvPr/>
        </p:nvSpPr>
        <p:spPr>
          <a:xfrm>
            <a:off x="7756183" y="5574934"/>
            <a:ext cx="3709649" cy="307777"/>
          </a:xfrm>
          <a:prstGeom prst="rect">
            <a:avLst/>
          </a:prstGeom>
          <a:noFill/>
        </p:spPr>
        <p:txBody>
          <a:bodyPr wrap="square" rtlCol="0">
            <a:spAutoFit/>
          </a:bodyPr>
          <a:lstStyle/>
          <a:p>
            <a:pPr algn="r"/>
            <a:r>
              <a:rPr lang="en-US" sz="1400" dirty="0"/>
              <a:t>Judy Watson, </a:t>
            </a:r>
            <a:r>
              <a:rPr lang="en-US" sz="1400" i="1" dirty="0"/>
              <a:t>the names of places, 2017</a:t>
            </a:r>
            <a:endParaRPr lang="en-AU" sz="1400" dirty="0"/>
          </a:p>
        </p:txBody>
      </p:sp>
      <p:sp>
        <p:nvSpPr>
          <p:cNvPr id="5" name="TextBox 4">
            <a:extLst>
              <a:ext uri="{FF2B5EF4-FFF2-40B4-BE49-F238E27FC236}">
                <a16:creationId xmlns:a16="http://schemas.microsoft.com/office/drawing/2014/main" id="{A02E78CF-16E2-C69E-E1CF-B780112BCD90}"/>
              </a:ext>
            </a:extLst>
          </p:cNvPr>
          <p:cNvSpPr txBox="1"/>
          <p:nvPr/>
        </p:nvSpPr>
        <p:spPr>
          <a:xfrm>
            <a:off x="589008" y="1080576"/>
            <a:ext cx="4065288" cy="4421803"/>
          </a:xfrm>
          <a:prstGeom prst="roundRect">
            <a:avLst/>
          </a:prstGeom>
          <a:solidFill>
            <a:schemeClr val="bg1"/>
          </a:solidFill>
          <a:ln w="12700">
            <a:solidFill>
              <a:schemeClr val="tx1"/>
            </a:solidFill>
          </a:ln>
        </p:spPr>
        <p:txBody>
          <a:bodyPr wrap="square" rtlCol="0">
            <a:spAutoFit/>
          </a:bodyPr>
          <a:lstStyle/>
          <a:p>
            <a:r>
              <a:rPr lang="en-US" b="1" dirty="0">
                <a:effectLst/>
                <a:latin typeface="+mj-lt"/>
              </a:rPr>
              <a:t>Judy Watson, </a:t>
            </a:r>
            <a:r>
              <a:rPr lang="en-US" b="1" i="1" dirty="0">
                <a:effectLst/>
                <a:latin typeface="+mj-lt"/>
              </a:rPr>
              <a:t>the names of places</a:t>
            </a:r>
            <a:r>
              <a:rPr lang="en-US" b="1" i="1" dirty="0">
                <a:latin typeface="+mj-lt"/>
              </a:rPr>
              <a:t>, </a:t>
            </a:r>
            <a:r>
              <a:rPr lang="en-US" b="1" dirty="0">
                <a:latin typeface="+mj-lt"/>
              </a:rPr>
              <a:t>2017</a:t>
            </a:r>
            <a:endParaRPr lang="en-US" b="1" dirty="0">
              <a:effectLst/>
              <a:latin typeface="+mj-lt"/>
            </a:endParaRPr>
          </a:p>
          <a:p>
            <a:endParaRPr lang="en-US" sz="1200" b="1" i="1" dirty="0">
              <a:latin typeface="+mj-lt"/>
            </a:endParaRPr>
          </a:p>
          <a:p>
            <a:endParaRPr lang="en-US" sz="1200" b="1" i="1" dirty="0">
              <a:latin typeface="+mj-lt"/>
            </a:endParaRPr>
          </a:p>
          <a:p>
            <a:r>
              <a:rPr lang="en-US" sz="1400" b="0" i="1" dirty="0">
                <a:solidFill>
                  <a:srgbClr val="0D0D0D"/>
                </a:solidFill>
                <a:effectLst/>
                <a:latin typeface="+mj-lt"/>
              </a:rPr>
              <a:t>Judy Watson collaborated with others to create </a:t>
            </a:r>
            <a:r>
              <a:rPr lang="en-US" sz="1400" b="1" i="1" dirty="0">
                <a:solidFill>
                  <a:srgbClr val="0D0D0D"/>
                </a:solidFill>
                <a:effectLst/>
                <a:latin typeface="+mj-lt"/>
              </a:rPr>
              <a:t>"the names of places,"</a:t>
            </a:r>
            <a:r>
              <a:rPr lang="en-US" sz="1400" b="0" i="1" dirty="0">
                <a:solidFill>
                  <a:srgbClr val="0D0D0D"/>
                </a:solidFill>
                <a:effectLst/>
                <a:latin typeface="+mj-lt"/>
              </a:rPr>
              <a:t> an interactive web-based project that maps sites throughout Australia where Indigenous people were massacred. </a:t>
            </a:r>
          </a:p>
          <a:p>
            <a:endParaRPr lang="en-US" sz="1400" i="1" dirty="0">
              <a:solidFill>
                <a:srgbClr val="0D0D0D"/>
              </a:solidFill>
              <a:latin typeface="+mj-lt"/>
            </a:endParaRPr>
          </a:p>
          <a:p>
            <a:r>
              <a:rPr lang="en-US" sz="1400" b="0" i="1" dirty="0">
                <a:solidFill>
                  <a:srgbClr val="0D0D0D"/>
                </a:solidFill>
                <a:effectLst/>
                <a:latin typeface="+mj-lt"/>
              </a:rPr>
              <a:t>The project provides details from 19th and 20th-century handwritten documents outlining the circumstances and casualties of these massacres. It invites viewers to contribute information to increase awareness of Indigenous massacres in Australia, highlighting a hidden history and prompting viewer response.</a:t>
            </a:r>
          </a:p>
          <a:p>
            <a:endParaRPr lang="en-US" sz="1400" b="1" i="1" dirty="0">
              <a:latin typeface="+mj-lt"/>
            </a:endParaRPr>
          </a:p>
        </p:txBody>
      </p:sp>
    </p:spTree>
    <p:extLst>
      <p:ext uri="{BB962C8B-B14F-4D97-AF65-F5344CB8AC3E}">
        <p14:creationId xmlns:p14="http://schemas.microsoft.com/office/powerpoint/2010/main" val="3613006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ADFE88-8531-3D32-036B-1842B05445D7}"/>
              </a:ext>
            </a:extLst>
          </p:cNvPr>
          <p:cNvSpPr txBox="1"/>
          <p:nvPr/>
        </p:nvSpPr>
        <p:spPr>
          <a:xfrm>
            <a:off x="372577" y="241791"/>
            <a:ext cx="11446845" cy="1376697"/>
          </a:xfrm>
          <a:prstGeom prst="roundRect">
            <a:avLst/>
          </a:prstGeom>
          <a:solidFill>
            <a:srgbClr val="C58A39"/>
          </a:solidFill>
          <a:ln w="12700">
            <a:solidFill>
              <a:schemeClr val="tx1"/>
            </a:solidFill>
          </a:ln>
        </p:spPr>
        <p:txBody>
          <a:bodyPr wrap="square" rtlCol="0">
            <a:spAutoFit/>
          </a:bodyPr>
          <a:lstStyle/>
          <a:p>
            <a:pPr algn="l"/>
            <a:r>
              <a:rPr lang="en-US" dirty="0">
                <a:solidFill>
                  <a:schemeClr val="bg1"/>
                </a:solidFill>
              </a:rPr>
              <a:t>Influenced by authors like Judith Wright and E.E. Cummings, Watson's work often combines visual and written elements, creating a poetic and reflective quality. She invites viewers to engage with her art on a personal level, encouraging them to consider their own identities and place in the world. Overall, Judy Watson's artistic practice is a rich tapestry of personal narrative, cultural heritage, and social commentary.</a:t>
            </a:r>
          </a:p>
        </p:txBody>
      </p:sp>
      <p:pic>
        <p:nvPicPr>
          <p:cNvPr id="6" name="Picture 5">
            <a:extLst>
              <a:ext uri="{FF2B5EF4-FFF2-40B4-BE49-F238E27FC236}">
                <a16:creationId xmlns:a16="http://schemas.microsoft.com/office/drawing/2014/main" id="{F3AAB556-5582-B4FD-3CE9-99638E946770}"/>
              </a:ext>
            </a:extLst>
          </p:cNvPr>
          <p:cNvPicPr>
            <a:picLocks noChangeAspect="1"/>
          </p:cNvPicPr>
          <p:nvPr/>
        </p:nvPicPr>
        <p:blipFill>
          <a:blip r:embed="rId2"/>
          <a:stretch>
            <a:fillRect/>
          </a:stretch>
        </p:blipFill>
        <p:spPr>
          <a:xfrm>
            <a:off x="786585" y="1821248"/>
            <a:ext cx="2572109" cy="4477375"/>
          </a:xfrm>
          <a:prstGeom prst="rect">
            <a:avLst/>
          </a:prstGeom>
        </p:spPr>
      </p:pic>
      <p:pic>
        <p:nvPicPr>
          <p:cNvPr id="8" name="Picture 7">
            <a:extLst>
              <a:ext uri="{FF2B5EF4-FFF2-40B4-BE49-F238E27FC236}">
                <a16:creationId xmlns:a16="http://schemas.microsoft.com/office/drawing/2014/main" id="{9B0B0C47-605B-7B59-E5EB-755109E69D9B}"/>
              </a:ext>
            </a:extLst>
          </p:cNvPr>
          <p:cNvPicPr>
            <a:picLocks noChangeAspect="1"/>
          </p:cNvPicPr>
          <p:nvPr/>
        </p:nvPicPr>
        <p:blipFill>
          <a:blip r:embed="rId3"/>
          <a:stretch>
            <a:fillRect/>
          </a:stretch>
        </p:blipFill>
        <p:spPr>
          <a:xfrm>
            <a:off x="4478684" y="1741729"/>
            <a:ext cx="3234629" cy="4590318"/>
          </a:xfrm>
          <a:prstGeom prst="rect">
            <a:avLst/>
          </a:prstGeom>
        </p:spPr>
      </p:pic>
      <p:pic>
        <p:nvPicPr>
          <p:cNvPr id="10" name="Picture 9">
            <a:extLst>
              <a:ext uri="{FF2B5EF4-FFF2-40B4-BE49-F238E27FC236}">
                <a16:creationId xmlns:a16="http://schemas.microsoft.com/office/drawing/2014/main" id="{C2A35EB2-6E59-75AB-1848-AE3F46CBD9C0}"/>
              </a:ext>
            </a:extLst>
          </p:cNvPr>
          <p:cNvPicPr>
            <a:picLocks noChangeAspect="1"/>
          </p:cNvPicPr>
          <p:nvPr/>
        </p:nvPicPr>
        <p:blipFill>
          <a:blip r:embed="rId4"/>
          <a:stretch>
            <a:fillRect/>
          </a:stretch>
        </p:blipFill>
        <p:spPr>
          <a:xfrm>
            <a:off x="8692627" y="1821248"/>
            <a:ext cx="3024521" cy="4485691"/>
          </a:xfrm>
          <a:prstGeom prst="rect">
            <a:avLst/>
          </a:prstGeom>
        </p:spPr>
      </p:pic>
      <p:sp>
        <p:nvSpPr>
          <p:cNvPr id="11" name="TextBox 10">
            <a:extLst>
              <a:ext uri="{FF2B5EF4-FFF2-40B4-BE49-F238E27FC236}">
                <a16:creationId xmlns:a16="http://schemas.microsoft.com/office/drawing/2014/main" id="{F03350D3-27E5-FADC-78B7-FD14DE1005B8}"/>
              </a:ext>
            </a:extLst>
          </p:cNvPr>
          <p:cNvSpPr txBox="1"/>
          <p:nvPr/>
        </p:nvSpPr>
        <p:spPr>
          <a:xfrm>
            <a:off x="2111821" y="6298623"/>
            <a:ext cx="1173968" cy="307777"/>
          </a:xfrm>
          <a:prstGeom prst="rect">
            <a:avLst/>
          </a:prstGeom>
          <a:noFill/>
        </p:spPr>
        <p:txBody>
          <a:bodyPr wrap="square" rtlCol="0">
            <a:spAutoFit/>
          </a:bodyPr>
          <a:lstStyle/>
          <a:p>
            <a:pPr algn="r"/>
            <a:r>
              <a:rPr lang="en-US" sz="1400" i="1" dirty="0"/>
              <a:t>spine, 1997</a:t>
            </a:r>
            <a:endParaRPr lang="en-AU" sz="1400" dirty="0"/>
          </a:p>
        </p:txBody>
      </p:sp>
      <p:sp>
        <p:nvSpPr>
          <p:cNvPr id="12" name="TextBox 11">
            <a:extLst>
              <a:ext uri="{FF2B5EF4-FFF2-40B4-BE49-F238E27FC236}">
                <a16:creationId xmlns:a16="http://schemas.microsoft.com/office/drawing/2014/main" id="{5E60E899-02A6-34D0-D79E-5386990C3B31}"/>
              </a:ext>
            </a:extLst>
          </p:cNvPr>
          <p:cNvSpPr txBox="1"/>
          <p:nvPr/>
        </p:nvSpPr>
        <p:spPr>
          <a:xfrm>
            <a:off x="5359941" y="6296795"/>
            <a:ext cx="2202777" cy="307777"/>
          </a:xfrm>
          <a:prstGeom prst="rect">
            <a:avLst/>
          </a:prstGeom>
          <a:noFill/>
        </p:spPr>
        <p:txBody>
          <a:bodyPr wrap="square" rtlCol="0">
            <a:spAutoFit/>
          </a:bodyPr>
          <a:lstStyle/>
          <a:p>
            <a:pPr algn="r"/>
            <a:r>
              <a:rPr lang="en-US" sz="1400" i="1" dirty="0"/>
              <a:t>Listening springs, 1991</a:t>
            </a:r>
            <a:endParaRPr lang="en-AU" sz="1400" dirty="0"/>
          </a:p>
        </p:txBody>
      </p:sp>
      <p:sp>
        <p:nvSpPr>
          <p:cNvPr id="13" name="TextBox 12">
            <a:extLst>
              <a:ext uri="{FF2B5EF4-FFF2-40B4-BE49-F238E27FC236}">
                <a16:creationId xmlns:a16="http://schemas.microsoft.com/office/drawing/2014/main" id="{CBDC31D2-D48F-6E1B-9991-E1AD6B8DFE6C}"/>
              </a:ext>
            </a:extLst>
          </p:cNvPr>
          <p:cNvSpPr txBox="1"/>
          <p:nvPr/>
        </p:nvSpPr>
        <p:spPr>
          <a:xfrm>
            <a:off x="9636870" y="6296794"/>
            <a:ext cx="2080278" cy="307777"/>
          </a:xfrm>
          <a:prstGeom prst="rect">
            <a:avLst/>
          </a:prstGeom>
          <a:noFill/>
        </p:spPr>
        <p:txBody>
          <a:bodyPr wrap="square" rtlCol="0">
            <a:spAutoFit/>
          </a:bodyPr>
          <a:lstStyle/>
          <a:p>
            <a:pPr algn="r"/>
            <a:r>
              <a:rPr lang="en-US" sz="1400" i="1" dirty="0"/>
              <a:t>Low tide walk, 1991</a:t>
            </a:r>
            <a:endParaRPr lang="en-AU" sz="1400" dirty="0"/>
          </a:p>
        </p:txBody>
      </p:sp>
    </p:spTree>
    <p:extLst>
      <p:ext uri="{BB962C8B-B14F-4D97-AF65-F5344CB8AC3E}">
        <p14:creationId xmlns:p14="http://schemas.microsoft.com/office/powerpoint/2010/main" val="178278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982AC7-19C8-06AA-FD69-2A59354C510D}"/>
              </a:ext>
            </a:extLst>
          </p:cNvPr>
          <p:cNvPicPr>
            <a:picLocks noChangeAspect="1"/>
          </p:cNvPicPr>
          <p:nvPr/>
        </p:nvPicPr>
        <p:blipFill>
          <a:blip r:embed="rId2"/>
          <a:stretch>
            <a:fillRect/>
          </a:stretch>
        </p:blipFill>
        <p:spPr>
          <a:xfrm>
            <a:off x="7648454" y="0"/>
            <a:ext cx="4543546" cy="6728610"/>
          </a:xfrm>
          <a:prstGeom prst="rect">
            <a:avLst/>
          </a:prstGeom>
        </p:spPr>
      </p:pic>
      <p:pic>
        <p:nvPicPr>
          <p:cNvPr id="4" name="Picture 3">
            <a:extLst>
              <a:ext uri="{FF2B5EF4-FFF2-40B4-BE49-F238E27FC236}">
                <a16:creationId xmlns:a16="http://schemas.microsoft.com/office/drawing/2014/main" id="{7430E5AB-8293-0D7D-F7E9-350DCE31F434}"/>
              </a:ext>
            </a:extLst>
          </p:cNvPr>
          <p:cNvPicPr>
            <a:picLocks noChangeAspect="1"/>
          </p:cNvPicPr>
          <p:nvPr/>
        </p:nvPicPr>
        <p:blipFill>
          <a:blip r:embed="rId3"/>
          <a:stretch>
            <a:fillRect/>
          </a:stretch>
        </p:blipFill>
        <p:spPr>
          <a:xfrm>
            <a:off x="536189" y="89433"/>
            <a:ext cx="6440683" cy="569412"/>
          </a:xfrm>
          <a:prstGeom prst="rect">
            <a:avLst/>
          </a:prstGeom>
        </p:spPr>
      </p:pic>
      <p:sp>
        <p:nvSpPr>
          <p:cNvPr id="5" name="TextBox 4">
            <a:extLst>
              <a:ext uri="{FF2B5EF4-FFF2-40B4-BE49-F238E27FC236}">
                <a16:creationId xmlns:a16="http://schemas.microsoft.com/office/drawing/2014/main" id="{C6A81C19-7800-C5EB-3812-B7C9243FE6E1}"/>
              </a:ext>
            </a:extLst>
          </p:cNvPr>
          <p:cNvSpPr txBox="1"/>
          <p:nvPr/>
        </p:nvSpPr>
        <p:spPr>
          <a:xfrm>
            <a:off x="956812" y="1164550"/>
            <a:ext cx="5416555" cy="4528899"/>
          </a:xfrm>
          <a:prstGeom prst="roundRect">
            <a:avLst/>
          </a:prstGeom>
          <a:solidFill>
            <a:schemeClr val="bg1"/>
          </a:solidFill>
          <a:ln w="12700">
            <a:solidFill>
              <a:schemeClr val="tx1"/>
            </a:solidFill>
          </a:ln>
        </p:spPr>
        <p:txBody>
          <a:bodyPr wrap="square" rtlCol="0">
            <a:spAutoFit/>
          </a:bodyPr>
          <a:lstStyle/>
          <a:p>
            <a:r>
              <a:rPr lang="en-US" b="0" i="0" dirty="0">
                <a:solidFill>
                  <a:srgbClr val="0D0D0D"/>
                </a:solidFill>
                <a:effectLst/>
                <a:latin typeface="+mj-lt"/>
              </a:rPr>
              <a:t>Review questions:</a:t>
            </a:r>
          </a:p>
          <a:p>
            <a:endParaRPr lang="en-US" dirty="0">
              <a:solidFill>
                <a:srgbClr val="0D0D0D"/>
              </a:solidFill>
              <a:latin typeface="+mj-lt"/>
            </a:endParaRPr>
          </a:p>
          <a:p>
            <a:r>
              <a:rPr lang="en-US" sz="1400" b="0" i="0" dirty="0">
                <a:solidFill>
                  <a:srgbClr val="0D0D0D"/>
                </a:solidFill>
                <a:effectLst/>
                <a:latin typeface="+mj-lt"/>
              </a:rPr>
              <a:t>1. How does Judy Watson's artwork, particularly </a:t>
            </a:r>
            <a:r>
              <a:rPr lang="en-US" sz="1400" b="1" i="0" dirty="0">
                <a:solidFill>
                  <a:srgbClr val="0D0D0D"/>
                </a:solidFill>
                <a:effectLst/>
                <a:latin typeface="+mj-lt"/>
              </a:rPr>
              <a:t>"a history of violence" </a:t>
            </a:r>
            <a:r>
              <a:rPr lang="en-US" sz="1400" b="0" i="0" dirty="0">
                <a:solidFill>
                  <a:srgbClr val="0D0D0D"/>
                </a:solidFill>
                <a:effectLst/>
                <a:latin typeface="+mj-lt"/>
              </a:rPr>
              <a:t>and </a:t>
            </a:r>
            <a:r>
              <a:rPr lang="en-US" sz="1400" b="1" i="0" dirty="0">
                <a:solidFill>
                  <a:srgbClr val="0D0D0D"/>
                </a:solidFill>
                <a:effectLst/>
                <a:latin typeface="+mj-lt"/>
              </a:rPr>
              <a:t>"the names of places," </a:t>
            </a:r>
            <a:r>
              <a:rPr lang="en-US" sz="1400" b="0" i="0" dirty="0">
                <a:solidFill>
                  <a:srgbClr val="0D0D0D"/>
                </a:solidFill>
                <a:effectLst/>
                <a:latin typeface="+mj-lt"/>
              </a:rPr>
              <a:t>challenge and expand your understanding of Australian history and its impact on Indigenous peoples?</a:t>
            </a:r>
            <a:endParaRPr lang="en-US" sz="1400" b="1" dirty="0">
              <a:effectLst/>
              <a:latin typeface="+mj-lt"/>
            </a:endParaRPr>
          </a:p>
          <a:p>
            <a:endParaRPr lang="en-US" sz="1400" dirty="0">
              <a:latin typeface="+mj-lt"/>
            </a:endParaRPr>
          </a:p>
          <a:p>
            <a:endParaRPr lang="en-US" sz="1400" dirty="0">
              <a:latin typeface="+mj-lt"/>
            </a:endParaRPr>
          </a:p>
          <a:p>
            <a:endParaRPr lang="en-US" sz="1400" dirty="0">
              <a:latin typeface="+mj-lt"/>
            </a:endParaRPr>
          </a:p>
          <a:p>
            <a:r>
              <a:rPr lang="en-US" sz="1400" dirty="0">
                <a:latin typeface="+mj-lt"/>
              </a:rPr>
              <a:t>2. Choose an artwork by Judy Watson. </a:t>
            </a:r>
          </a:p>
          <a:p>
            <a:endParaRPr lang="en-US" sz="1400" dirty="0">
              <a:latin typeface="+mj-lt"/>
            </a:endParaRPr>
          </a:p>
          <a:p>
            <a:pPr marL="342900" indent="-342900">
              <a:buFont typeface="+mj-lt"/>
              <a:buAutoNum type="alphaLcParenR"/>
            </a:pPr>
            <a:r>
              <a:rPr lang="en-US" sz="1400" dirty="0" err="1">
                <a:latin typeface="+mj-lt"/>
              </a:rPr>
              <a:t>Analyse</a:t>
            </a:r>
            <a:r>
              <a:rPr lang="en-US" sz="1400" dirty="0">
                <a:latin typeface="+mj-lt"/>
              </a:rPr>
              <a:t> this artwork through the </a:t>
            </a:r>
            <a:r>
              <a:rPr lang="en-US" sz="1400" b="1" dirty="0">
                <a:latin typeface="+mj-lt"/>
              </a:rPr>
              <a:t>formal context </a:t>
            </a:r>
            <a:r>
              <a:rPr lang="en-US" sz="1400" dirty="0">
                <a:latin typeface="+mj-lt"/>
              </a:rPr>
              <a:t>to interpret formal visual art elements and principles</a:t>
            </a:r>
          </a:p>
          <a:p>
            <a:endParaRPr lang="en-US" sz="1400" dirty="0">
              <a:latin typeface="+mj-lt"/>
            </a:endParaRPr>
          </a:p>
          <a:p>
            <a:pPr marL="342900" indent="-342900">
              <a:buFont typeface="+mj-lt"/>
              <a:buAutoNum type="alphaLcParenR"/>
            </a:pPr>
            <a:r>
              <a:rPr lang="en-US" sz="1400" dirty="0" err="1">
                <a:latin typeface="+mj-lt"/>
              </a:rPr>
              <a:t>Analyse</a:t>
            </a:r>
            <a:r>
              <a:rPr lang="en-US" sz="1400" dirty="0">
                <a:latin typeface="+mj-lt"/>
              </a:rPr>
              <a:t> the application of materials and techniques, the stylistic qualities relative to historical periods or iconology, and how these contribute to engagement, communication and meaning. </a:t>
            </a:r>
          </a:p>
        </p:txBody>
      </p:sp>
    </p:spTree>
    <p:extLst>
      <p:ext uri="{BB962C8B-B14F-4D97-AF65-F5344CB8AC3E}">
        <p14:creationId xmlns:p14="http://schemas.microsoft.com/office/powerpoint/2010/main" val="3619272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60EAFD-ADE0-64D8-23C3-2BE063B5928D}"/>
              </a:ext>
            </a:extLst>
          </p:cNvPr>
          <p:cNvSpPr txBox="1"/>
          <p:nvPr/>
        </p:nvSpPr>
        <p:spPr>
          <a:xfrm>
            <a:off x="615696" y="728662"/>
            <a:ext cx="5157216" cy="5400675"/>
          </a:xfrm>
          <a:prstGeom prst="roundRect">
            <a:avLst/>
          </a:prstGeom>
          <a:solidFill>
            <a:schemeClr val="bg1"/>
          </a:solidFill>
          <a:ln w="12700">
            <a:solidFill>
              <a:schemeClr val="tx1"/>
            </a:solidFill>
          </a:ln>
        </p:spPr>
        <p:txBody>
          <a:bodyPr wrap="square" rtlCol="0">
            <a:spAutoFit/>
          </a:bodyPr>
          <a:lstStyle/>
          <a:p>
            <a:r>
              <a:rPr lang="en-US" sz="2000" b="1" dirty="0">
                <a:latin typeface="+mj-lt"/>
              </a:rPr>
              <a:t>ACTIVITY</a:t>
            </a:r>
          </a:p>
          <a:p>
            <a:endParaRPr lang="en-US" sz="1400" dirty="0">
              <a:latin typeface="+mj-lt"/>
            </a:endParaRPr>
          </a:p>
          <a:p>
            <a:r>
              <a:rPr lang="en-US" sz="1400" dirty="0">
                <a:latin typeface="+mj-lt"/>
              </a:rPr>
              <a:t>Think of your own history, including previous generations, if possible. There is likely to be both joy and pain in recollecting past circumstances. What objects, images, figures and elements from your life can you use as metaphors for your own history? Some of the imagery may come from previous generations, some may be objects that you interact with every day. </a:t>
            </a:r>
          </a:p>
          <a:p>
            <a:endParaRPr lang="en-US" sz="1400" dirty="0">
              <a:latin typeface="+mj-lt"/>
            </a:endParaRPr>
          </a:p>
          <a:p>
            <a:pPr marL="342900" indent="-342900">
              <a:buFont typeface="+mj-lt"/>
              <a:buAutoNum type="arabicPeriod"/>
            </a:pPr>
            <a:r>
              <a:rPr lang="en-US" sz="1400" dirty="0">
                <a:latin typeface="+mj-lt"/>
              </a:rPr>
              <a:t>Using a making process such as drawing, photography, painting or printmaking, arrange the objects so they interact with each other. Perhaps some of the objects or images can be imbedded within other objects as Watson has done in a history of violence with the figure and the central spiral of the bailer shell. </a:t>
            </a:r>
          </a:p>
          <a:p>
            <a:endParaRPr lang="en-US" sz="1400" dirty="0">
              <a:latin typeface="+mj-lt"/>
            </a:endParaRPr>
          </a:p>
          <a:p>
            <a:pPr marL="342900" indent="-342900">
              <a:buFont typeface="+mj-lt"/>
              <a:buAutoNum type="arabicPeriod"/>
            </a:pPr>
            <a:r>
              <a:rPr lang="en-US" sz="1400" dirty="0">
                <a:latin typeface="+mj-lt"/>
              </a:rPr>
              <a:t>Experiment by taking one element of an object or image and repeat it so that you create a pattern or texture. </a:t>
            </a:r>
          </a:p>
          <a:p>
            <a:endParaRPr lang="en-US" sz="1400" dirty="0">
              <a:latin typeface="+mj-lt"/>
            </a:endParaRPr>
          </a:p>
          <a:p>
            <a:pPr marL="342900" indent="-342900">
              <a:buFont typeface="+mj-lt"/>
              <a:buAutoNum type="arabicPeriod"/>
            </a:pPr>
            <a:r>
              <a:rPr lang="en-US" sz="1400" dirty="0">
                <a:latin typeface="+mj-lt"/>
              </a:rPr>
              <a:t>How does your own story speak to a larger audience?</a:t>
            </a:r>
          </a:p>
          <a:p>
            <a:endParaRPr lang="en-US" sz="1400" dirty="0">
              <a:latin typeface="+mj-lt"/>
            </a:endParaRPr>
          </a:p>
        </p:txBody>
      </p:sp>
      <p:pic>
        <p:nvPicPr>
          <p:cNvPr id="6146" name="Picture 2" descr="How to Make Money as an Artist in 2021">
            <a:extLst>
              <a:ext uri="{FF2B5EF4-FFF2-40B4-BE49-F238E27FC236}">
                <a16:creationId xmlns:a16="http://schemas.microsoft.com/office/drawing/2014/main" id="{0F5A8861-A393-48F7-35A1-8DDCB9AF66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5080" y="1707778"/>
            <a:ext cx="5157216" cy="3442442"/>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1440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1090</Words>
  <Application>Microsoft Office PowerPoint</Application>
  <PresentationFormat>Widescreen</PresentationFormat>
  <Paragraphs>52</Paragraphs>
  <Slides>9</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Southport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Jacqueline Ockwell</dc:creator>
  <cp:lastModifiedBy>Jacqueline Ockwell</cp:lastModifiedBy>
  <cp:revision>1</cp:revision>
  <dcterms:created xsi:type="dcterms:W3CDTF">2024-04-21T03:23:13Z</dcterms:created>
  <dcterms:modified xsi:type="dcterms:W3CDTF">2024-04-21T04:28:19Z</dcterms:modified>
</cp:coreProperties>
</file>
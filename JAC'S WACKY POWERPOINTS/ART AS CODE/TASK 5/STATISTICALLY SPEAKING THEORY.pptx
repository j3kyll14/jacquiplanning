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673380-3F2B-42A9-B16C-73148F41E6E6}" v="2" dt="2025-04-25T06:25:55.8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9" autoAdjust="0"/>
    <p:restoredTop sz="94660"/>
  </p:normalViewPr>
  <p:slideViewPr>
    <p:cSldViewPr snapToGrid="0">
      <p:cViewPr varScale="1">
        <p:scale>
          <a:sx n="59" d="100"/>
          <a:sy n="59" d="100"/>
        </p:scale>
        <p:origin x="78" y="8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queline Ockwell" userId="79a11ae1-9a6a-4dce-9c68-e7607b2827ec" providerId="ADAL" clId="{CC673380-3F2B-42A9-B16C-73148F41E6E6}"/>
    <pc:docChg chg="modSld">
      <pc:chgData name="Jacqueline Ockwell" userId="79a11ae1-9a6a-4dce-9c68-e7607b2827ec" providerId="ADAL" clId="{CC673380-3F2B-42A9-B16C-73148F41E6E6}" dt="2025-04-25T06:25:55.857" v="1" actId="1076"/>
      <pc:docMkLst>
        <pc:docMk/>
      </pc:docMkLst>
      <pc:sldChg chg="modSp">
        <pc:chgData name="Jacqueline Ockwell" userId="79a11ae1-9a6a-4dce-9c68-e7607b2827ec" providerId="ADAL" clId="{CC673380-3F2B-42A9-B16C-73148F41E6E6}" dt="2025-04-25T06:25:55.857" v="1" actId="1076"/>
        <pc:sldMkLst>
          <pc:docMk/>
          <pc:sldMk cId="1134311488" sldId="256"/>
        </pc:sldMkLst>
        <pc:picChg chg="mod">
          <ac:chgData name="Jacqueline Ockwell" userId="79a11ae1-9a6a-4dce-9c68-e7607b2827ec" providerId="ADAL" clId="{CC673380-3F2B-42A9-B16C-73148F41E6E6}" dt="2025-04-25T06:25:55.857" v="1" actId="1076"/>
          <ac:picMkLst>
            <pc:docMk/>
            <pc:sldMk cId="1134311488" sldId="256"/>
            <ac:picMk id="2050" creationId="{4F0E98CE-261F-AF70-A683-51C6636E428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F8167-6113-D0F8-16CE-A3B69EA6FCC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76754F71-6206-29E3-10B5-4ADD79AD32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C3F50FC6-D61C-0BD9-13CB-09B99705E86A}"/>
              </a:ext>
            </a:extLst>
          </p:cNvPr>
          <p:cNvSpPr>
            <a:spLocks noGrp="1"/>
          </p:cNvSpPr>
          <p:nvPr>
            <p:ph type="dt" sz="half" idx="10"/>
          </p:nvPr>
        </p:nvSpPr>
        <p:spPr/>
        <p:txBody>
          <a:bodyPr/>
          <a:lstStyle/>
          <a:p>
            <a:fld id="{69498950-846F-4C24-BD92-35BAB30306FE}" type="datetimeFigureOut">
              <a:rPr lang="en-AU" smtClean="0"/>
              <a:t>25/04/2025</a:t>
            </a:fld>
            <a:endParaRPr lang="en-AU"/>
          </a:p>
        </p:txBody>
      </p:sp>
      <p:sp>
        <p:nvSpPr>
          <p:cNvPr id="5" name="Footer Placeholder 4">
            <a:extLst>
              <a:ext uri="{FF2B5EF4-FFF2-40B4-BE49-F238E27FC236}">
                <a16:creationId xmlns:a16="http://schemas.microsoft.com/office/drawing/2014/main" id="{A2DF3F97-76E6-89FA-2C35-DE4F77E45F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6E30C70-4107-33E8-4722-533A5EA56A64}"/>
              </a:ext>
            </a:extLst>
          </p:cNvPr>
          <p:cNvSpPr>
            <a:spLocks noGrp="1"/>
          </p:cNvSpPr>
          <p:nvPr>
            <p:ph type="sldNum" sz="quarter" idx="12"/>
          </p:nvPr>
        </p:nvSpPr>
        <p:spPr/>
        <p:txBody>
          <a:bodyPr/>
          <a:lstStyle/>
          <a:p>
            <a:fld id="{FFD43B34-FE51-4BDB-A27F-D5EAB94814EC}" type="slidenum">
              <a:rPr lang="en-AU" smtClean="0"/>
              <a:t>‹#›</a:t>
            </a:fld>
            <a:endParaRPr lang="en-AU"/>
          </a:p>
        </p:txBody>
      </p:sp>
    </p:spTree>
    <p:extLst>
      <p:ext uri="{BB962C8B-B14F-4D97-AF65-F5344CB8AC3E}">
        <p14:creationId xmlns:p14="http://schemas.microsoft.com/office/powerpoint/2010/main" val="3306825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D901C-8C0B-5B2D-8B7E-2C328871F448}"/>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ABCFE844-F529-C946-4783-9E112E6DD70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62A58D3F-FD65-8682-D098-C18BFAD87111}"/>
              </a:ext>
            </a:extLst>
          </p:cNvPr>
          <p:cNvSpPr>
            <a:spLocks noGrp="1"/>
          </p:cNvSpPr>
          <p:nvPr>
            <p:ph type="dt" sz="half" idx="10"/>
          </p:nvPr>
        </p:nvSpPr>
        <p:spPr/>
        <p:txBody>
          <a:bodyPr/>
          <a:lstStyle/>
          <a:p>
            <a:fld id="{69498950-846F-4C24-BD92-35BAB30306FE}" type="datetimeFigureOut">
              <a:rPr lang="en-AU" smtClean="0"/>
              <a:t>25/04/2025</a:t>
            </a:fld>
            <a:endParaRPr lang="en-AU"/>
          </a:p>
        </p:txBody>
      </p:sp>
      <p:sp>
        <p:nvSpPr>
          <p:cNvPr id="5" name="Footer Placeholder 4">
            <a:extLst>
              <a:ext uri="{FF2B5EF4-FFF2-40B4-BE49-F238E27FC236}">
                <a16:creationId xmlns:a16="http://schemas.microsoft.com/office/drawing/2014/main" id="{949F475E-D425-D7CE-0546-7DB3042A925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A88733C-28B5-DFA9-5D97-8434ADDEFC85}"/>
              </a:ext>
            </a:extLst>
          </p:cNvPr>
          <p:cNvSpPr>
            <a:spLocks noGrp="1"/>
          </p:cNvSpPr>
          <p:nvPr>
            <p:ph type="sldNum" sz="quarter" idx="12"/>
          </p:nvPr>
        </p:nvSpPr>
        <p:spPr/>
        <p:txBody>
          <a:bodyPr/>
          <a:lstStyle/>
          <a:p>
            <a:fld id="{FFD43B34-FE51-4BDB-A27F-D5EAB94814EC}" type="slidenum">
              <a:rPr lang="en-AU" smtClean="0"/>
              <a:t>‹#›</a:t>
            </a:fld>
            <a:endParaRPr lang="en-AU"/>
          </a:p>
        </p:txBody>
      </p:sp>
    </p:spTree>
    <p:extLst>
      <p:ext uri="{BB962C8B-B14F-4D97-AF65-F5344CB8AC3E}">
        <p14:creationId xmlns:p14="http://schemas.microsoft.com/office/powerpoint/2010/main" val="3575047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9F09-86B9-899E-C65C-499320A78C0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9BDC5DEF-F10F-D8FA-0A46-B616FA3E3F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317B4BA-1B01-229F-2723-5CFE994DDEDA}"/>
              </a:ext>
            </a:extLst>
          </p:cNvPr>
          <p:cNvSpPr>
            <a:spLocks noGrp="1"/>
          </p:cNvSpPr>
          <p:nvPr>
            <p:ph type="dt" sz="half" idx="10"/>
          </p:nvPr>
        </p:nvSpPr>
        <p:spPr/>
        <p:txBody>
          <a:bodyPr/>
          <a:lstStyle/>
          <a:p>
            <a:fld id="{69498950-846F-4C24-BD92-35BAB30306FE}" type="datetimeFigureOut">
              <a:rPr lang="en-AU" smtClean="0"/>
              <a:t>25/04/2025</a:t>
            </a:fld>
            <a:endParaRPr lang="en-AU"/>
          </a:p>
        </p:txBody>
      </p:sp>
      <p:sp>
        <p:nvSpPr>
          <p:cNvPr id="5" name="Footer Placeholder 4">
            <a:extLst>
              <a:ext uri="{FF2B5EF4-FFF2-40B4-BE49-F238E27FC236}">
                <a16:creationId xmlns:a16="http://schemas.microsoft.com/office/drawing/2014/main" id="{4191F5B2-4C65-D755-02F6-7D53105F575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8FF876E-36D4-AFCE-B83F-634C39A48816}"/>
              </a:ext>
            </a:extLst>
          </p:cNvPr>
          <p:cNvSpPr>
            <a:spLocks noGrp="1"/>
          </p:cNvSpPr>
          <p:nvPr>
            <p:ph type="sldNum" sz="quarter" idx="12"/>
          </p:nvPr>
        </p:nvSpPr>
        <p:spPr/>
        <p:txBody>
          <a:bodyPr/>
          <a:lstStyle/>
          <a:p>
            <a:fld id="{FFD43B34-FE51-4BDB-A27F-D5EAB94814EC}" type="slidenum">
              <a:rPr lang="en-AU" smtClean="0"/>
              <a:t>‹#›</a:t>
            </a:fld>
            <a:endParaRPr lang="en-AU"/>
          </a:p>
        </p:txBody>
      </p:sp>
    </p:spTree>
    <p:extLst>
      <p:ext uri="{BB962C8B-B14F-4D97-AF65-F5344CB8AC3E}">
        <p14:creationId xmlns:p14="http://schemas.microsoft.com/office/powerpoint/2010/main" val="189565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F956B-FFE8-AA2E-A456-E03362B6664F}"/>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D244B82F-3885-9787-5B7B-1716E5FAAC1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F7DC3B46-A2DB-3398-D479-01F77B91DE4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9397FFF0-D589-DB73-742B-FBB1EF15F044}"/>
              </a:ext>
            </a:extLst>
          </p:cNvPr>
          <p:cNvSpPr>
            <a:spLocks noGrp="1"/>
          </p:cNvSpPr>
          <p:nvPr>
            <p:ph type="dt" sz="half" idx="10"/>
          </p:nvPr>
        </p:nvSpPr>
        <p:spPr/>
        <p:txBody>
          <a:bodyPr/>
          <a:lstStyle/>
          <a:p>
            <a:fld id="{69498950-846F-4C24-BD92-35BAB30306FE}" type="datetimeFigureOut">
              <a:rPr lang="en-AU" smtClean="0"/>
              <a:t>25/04/2025</a:t>
            </a:fld>
            <a:endParaRPr lang="en-AU"/>
          </a:p>
        </p:txBody>
      </p:sp>
      <p:sp>
        <p:nvSpPr>
          <p:cNvPr id="6" name="Footer Placeholder 5">
            <a:extLst>
              <a:ext uri="{FF2B5EF4-FFF2-40B4-BE49-F238E27FC236}">
                <a16:creationId xmlns:a16="http://schemas.microsoft.com/office/drawing/2014/main" id="{0E2C8080-59A7-8A14-8770-5A956D1FFFD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1352B49-8420-BF30-1A45-85CC54DEF17F}"/>
              </a:ext>
            </a:extLst>
          </p:cNvPr>
          <p:cNvSpPr>
            <a:spLocks noGrp="1"/>
          </p:cNvSpPr>
          <p:nvPr>
            <p:ph type="sldNum" sz="quarter" idx="12"/>
          </p:nvPr>
        </p:nvSpPr>
        <p:spPr/>
        <p:txBody>
          <a:bodyPr/>
          <a:lstStyle/>
          <a:p>
            <a:fld id="{FFD43B34-FE51-4BDB-A27F-D5EAB94814EC}" type="slidenum">
              <a:rPr lang="en-AU" smtClean="0"/>
              <a:t>‹#›</a:t>
            </a:fld>
            <a:endParaRPr lang="en-AU"/>
          </a:p>
        </p:txBody>
      </p:sp>
    </p:spTree>
    <p:extLst>
      <p:ext uri="{BB962C8B-B14F-4D97-AF65-F5344CB8AC3E}">
        <p14:creationId xmlns:p14="http://schemas.microsoft.com/office/powerpoint/2010/main" val="176685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6E0CE-5205-1146-B1C6-5B731E55A6DF}"/>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40C53A87-D0C8-CD54-277C-01797EDCDD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40EFDFC-1936-21A9-9900-2E97476A78A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F753E4EE-FE38-32F2-0A25-BFA529ADE9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AE5808-ED18-0E0E-4A3C-1F796FF419C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0F8B6EFC-D04C-2BD4-EA28-14C21852D5EE}"/>
              </a:ext>
            </a:extLst>
          </p:cNvPr>
          <p:cNvSpPr>
            <a:spLocks noGrp="1"/>
          </p:cNvSpPr>
          <p:nvPr>
            <p:ph type="dt" sz="half" idx="10"/>
          </p:nvPr>
        </p:nvSpPr>
        <p:spPr/>
        <p:txBody>
          <a:bodyPr/>
          <a:lstStyle/>
          <a:p>
            <a:fld id="{69498950-846F-4C24-BD92-35BAB30306FE}" type="datetimeFigureOut">
              <a:rPr lang="en-AU" smtClean="0"/>
              <a:t>25/04/2025</a:t>
            </a:fld>
            <a:endParaRPr lang="en-AU"/>
          </a:p>
        </p:txBody>
      </p:sp>
      <p:sp>
        <p:nvSpPr>
          <p:cNvPr id="8" name="Footer Placeholder 7">
            <a:extLst>
              <a:ext uri="{FF2B5EF4-FFF2-40B4-BE49-F238E27FC236}">
                <a16:creationId xmlns:a16="http://schemas.microsoft.com/office/drawing/2014/main" id="{D6D22C1D-AAA5-1C79-24B8-BC486D9559BF}"/>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8E939333-F088-63E5-F3B6-C4FC9B27AF84}"/>
              </a:ext>
            </a:extLst>
          </p:cNvPr>
          <p:cNvSpPr>
            <a:spLocks noGrp="1"/>
          </p:cNvSpPr>
          <p:nvPr>
            <p:ph type="sldNum" sz="quarter" idx="12"/>
          </p:nvPr>
        </p:nvSpPr>
        <p:spPr/>
        <p:txBody>
          <a:bodyPr/>
          <a:lstStyle/>
          <a:p>
            <a:fld id="{FFD43B34-FE51-4BDB-A27F-D5EAB94814EC}" type="slidenum">
              <a:rPr lang="en-AU" smtClean="0"/>
              <a:t>‹#›</a:t>
            </a:fld>
            <a:endParaRPr lang="en-AU"/>
          </a:p>
        </p:txBody>
      </p:sp>
    </p:spTree>
    <p:extLst>
      <p:ext uri="{BB962C8B-B14F-4D97-AF65-F5344CB8AC3E}">
        <p14:creationId xmlns:p14="http://schemas.microsoft.com/office/powerpoint/2010/main" val="3344764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B958B-42BA-466D-1246-A7AAC072C05E}"/>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55FC65CA-2F2F-873D-27D5-24B0A76BCB36}"/>
              </a:ext>
            </a:extLst>
          </p:cNvPr>
          <p:cNvSpPr>
            <a:spLocks noGrp="1"/>
          </p:cNvSpPr>
          <p:nvPr>
            <p:ph type="dt" sz="half" idx="10"/>
          </p:nvPr>
        </p:nvSpPr>
        <p:spPr/>
        <p:txBody>
          <a:bodyPr/>
          <a:lstStyle/>
          <a:p>
            <a:fld id="{69498950-846F-4C24-BD92-35BAB30306FE}" type="datetimeFigureOut">
              <a:rPr lang="en-AU" smtClean="0"/>
              <a:t>25/04/2025</a:t>
            </a:fld>
            <a:endParaRPr lang="en-AU"/>
          </a:p>
        </p:txBody>
      </p:sp>
      <p:sp>
        <p:nvSpPr>
          <p:cNvPr id="4" name="Footer Placeholder 3">
            <a:extLst>
              <a:ext uri="{FF2B5EF4-FFF2-40B4-BE49-F238E27FC236}">
                <a16:creationId xmlns:a16="http://schemas.microsoft.com/office/drawing/2014/main" id="{E9BE19C9-90F1-C8A7-CC29-D08615EBE82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B1FBADAA-108F-67DC-4F73-6F01D3AD4AB0}"/>
              </a:ext>
            </a:extLst>
          </p:cNvPr>
          <p:cNvSpPr>
            <a:spLocks noGrp="1"/>
          </p:cNvSpPr>
          <p:nvPr>
            <p:ph type="sldNum" sz="quarter" idx="12"/>
          </p:nvPr>
        </p:nvSpPr>
        <p:spPr/>
        <p:txBody>
          <a:bodyPr/>
          <a:lstStyle/>
          <a:p>
            <a:fld id="{FFD43B34-FE51-4BDB-A27F-D5EAB94814EC}" type="slidenum">
              <a:rPr lang="en-AU" smtClean="0"/>
              <a:t>‹#›</a:t>
            </a:fld>
            <a:endParaRPr lang="en-AU"/>
          </a:p>
        </p:txBody>
      </p:sp>
    </p:spTree>
    <p:extLst>
      <p:ext uri="{BB962C8B-B14F-4D97-AF65-F5344CB8AC3E}">
        <p14:creationId xmlns:p14="http://schemas.microsoft.com/office/powerpoint/2010/main" val="1648741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A12B03-412A-F6B2-04B5-2FB373E1708C}"/>
              </a:ext>
            </a:extLst>
          </p:cNvPr>
          <p:cNvSpPr>
            <a:spLocks noGrp="1"/>
          </p:cNvSpPr>
          <p:nvPr>
            <p:ph type="dt" sz="half" idx="10"/>
          </p:nvPr>
        </p:nvSpPr>
        <p:spPr/>
        <p:txBody>
          <a:bodyPr/>
          <a:lstStyle/>
          <a:p>
            <a:fld id="{69498950-846F-4C24-BD92-35BAB30306FE}" type="datetimeFigureOut">
              <a:rPr lang="en-AU" smtClean="0"/>
              <a:t>25/04/2025</a:t>
            </a:fld>
            <a:endParaRPr lang="en-AU"/>
          </a:p>
        </p:txBody>
      </p:sp>
      <p:sp>
        <p:nvSpPr>
          <p:cNvPr id="3" name="Footer Placeholder 2">
            <a:extLst>
              <a:ext uri="{FF2B5EF4-FFF2-40B4-BE49-F238E27FC236}">
                <a16:creationId xmlns:a16="http://schemas.microsoft.com/office/drawing/2014/main" id="{61F0CB41-0B55-7E7E-3F00-E4682706930C}"/>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131D8376-E480-9BDD-EEC9-FB9B4A2AEAE3}"/>
              </a:ext>
            </a:extLst>
          </p:cNvPr>
          <p:cNvSpPr>
            <a:spLocks noGrp="1"/>
          </p:cNvSpPr>
          <p:nvPr>
            <p:ph type="sldNum" sz="quarter" idx="12"/>
          </p:nvPr>
        </p:nvSpPr>
        <p:spPr/>
        <p:txBody>
          <a:bodyPr/>
          <a:lstStyle/>
          <a:p>
            <a:fld id="{FFD43B34-FE51-4BDB-A27F-D5EAB94814EC}" type="slidenum">
              <a:rPr lang="en-AU" smtClean="0"/>
              <a:t>‹#›</a:t>
            </a:fld>
            <a:endParaRPr lang="en-AU"/>
          </a:p>
        </p:txBody>
      </p:sp>
    </p:spTree>
    <p:extLst>
      <p:ext uri="{BB962C8B-B14F-4D97-AF65-F5344CB8AC3E}">
        <p14:creationId xmlns:p14="http://schemas.microsoft.com/office/powerpoint/2010/main" val="892592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AB947-0C85-02B1-E3DB-8D899911F01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FD42243C-0C93-F30A-945D-9FCFB7C407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1BAACF9-3659-9761-453F-387FC08F6A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A07F309-E6F9-7C1E-27A9-11F6ED5E561E}"/>
              </a:ext>
            </a:extLst>
          </p:cNvPr>
          <p:cNvSpPr>
            <a:spLocks noGrp="1"/>
          </p:cNvSpPr>
          <p:nvPr>
            <p:ph type="dt" sz="half" idx="10"/>
          </p:nvPr>
        </p:nvSpPr>
        <p:spPr/>
        <p:txBody>
          <a:bodyPr/>
          <a:lstStyle/>
          <a:p>
            <a:fld id="{69498950-846F-4C24-BD92-35BAB30306FE}" type="datetimeFigureOut">
              <a:rPr lang="en-AU" smtClean="0"/>
              <a:t>25/04/2025</a:t>
            </a:fld>
            <a:endParaRPr lang="en-AU"/>
          </a:p>
        </p:txBody>
      </p:sp>
      <p:sp>
        <p:nvSpPr>
          <p:cNvPr id="6" name="Footer Placeholder 5">
            <a:extLst>
              <a:ext uri="{FF2B5EF4-FFF2-40B4-BE49-F238E27FC236}">
                <a16:creationId xmlns:a16="http://schemas.microsoft.com/office/drawing/2014/main" id="{8453FE9C-3A20-A297-EF85-9156AA2E5E4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6BD4417-9CCD-01D6-3F4F-7B5F6CD99A33}"/>
              </a:ext>
            </a:extLst>
          </p:cNvPr>
          <p:cNvSpPr>
            <a:spLocks noGrp="1"/>
          </p:cNvSpPr>
          <p:nvPr>
            <p:ph type="sldNum" sz="quarter" idx="12"/>
          </p:nvPr>
        </p:nvSpPr>
        <p:spPr/>
        <p:txBody>
          <a:bodyPr/>
          <a:lstStyle/>
          <a:p>
            <a:fld id="{FFD43B34-FE51-4BDB-A27F-D5EAB94814EC}" type="slidenum">
              <a:rPr lang="en-AU" smtClean="0"/>
              <a:t>‹#›</a:t>
            </a:fld>
            <a:endParaRPr lang="en-AU"/>
          </a:p>
        </p:txBody>
      </p:sp>
    </p:spTree>
    <p:extLst>
      <p:ext uri="{BB962C8B-B14F-4D97-AF65-F5344CB8AC3E}">
        <p14:creationId xmlns:p14="http://schemas.microsoft.com/office/powerpoint/2010/main" val="1037151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760BA-1A5C-A3E3-D0E8-86A9A4DB82B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D93B00E5-9B73-35AB-D38E-1B1DAAF1E6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D74BD17-211E-5E89-A323-D5AFECB2CA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38D3701-0556-43E1-468C-93032F698C96}"/>
              </a:ext>
            </a:extLst>
          </p:cNvPr>
          <p:cNvSpPr>
            <a:spLocks noGrp="1"/>
          </p:cNvSpPr>
          <p:nvPr>
            <p:ph type="dt" sz="half" idx="10"/>
          </p:nvPr>
        </p:nvSpPr>
        <p:spPr/>
        <p:txBody>
          <a:bodyPr/>
          <a:lstStyle/>
          <a:p>
            <a:fld id="{69498950-846F-4C24-BD92-35BAB30306FE}" type="datetimeFigureOut">
              <a:rPr lang="en-AU" smtClean="0"/>
              <a:t>25/04/2025</a:t>
            </a:fld>
            <a:endParaRPr lang="en-AU"/>
          </a:p>
        </p:txBody>
      </p:sp>
      <p:sp>
        <p:nvSpPr>
          <p:cNvPr id="6" name="Footer Placeholder 5">
            <a:extLst>
              <a:ext uri="{FF2B5EF4-FFF2-40B4-BE49-F238E27FC236}">
                <a16:creationId xmlns:a16="http://schemas.microsoft.com/office/drawing/2014/main" id="{C75BD3A7-89FA-DEBA-70DC-92C9A75D4D7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F5B6C55-E99A-1274-E30F-08E2178BAD74}"/>
              </a:ext>
            </a:extLst>
          </p:cNvPr>
          <p:cNvSpPr>
            <a:spLocks noGrp="1"/>
          </p:cNvSpPr>
          <p:nvPr>
            <p:ph type="sldNum" sz="quarter" idx="12"/>
          </p:nvPr>
        </p:nvSpPr>
        <p:spPr/>
        <p:txBody>
          <a:bodyPr/>
          <a:lstStyle/>
          <a:p>
            <a:fld id="{FFD43B34-FE51-4BDB-A27F-D5EAB94814EC}" type="slidenum">
              <a:rPr lang="en-AU" smtClean="0"/>
              <a:t>‹#›</a:t>
            </a:fld>
            <a:endParaRPr lang="en-AU"/>
          </a:p>
        </p:txBody>
      </p:sp>
    </p:spTree>
    <p:extLst>
      <p:ext uri="{BB962C8B-B14F-4D97-AF65-F5344CB8AC3E}">
        <p14:creationId xmlns:p14="http://schemas.microsoft.com/office/powerpoint/2010/main" val="3998862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CEED9-FF45-00E7-997C-54E7FF1FB935}"/>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9EE7F83C-D3D1-2FDA-1F77-99BBE4C504B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5A41E28A-7730-C892-40AC-4A820DCF9375}"/>
              </a:ext>
            </a:extLst>
          </p:cNvPr>
          <p:cNvSpPr>
            <a:spLocks noGrp="1"/>
          </p:cNvSpPr>
          <p:nvPr>
            <p:ph type="dt" sz="half" idx="10"/>
          </p:nvPr>
        </p:nvSpPr>
        <p:spPr/>
        <p:txBody>
          <a:bodyPr/>
          <a:lstStyle/>
          <a:p>
            <a:fld id="{69498950-846F-4C24-BD92-35BAB30306FE}" type="datetimeFigureOut">
              <a:rPr lang="en-AU" smtClean="0"/>
              <a:t>25/04/2025</a:t>
            </a:fld>
            <a:endParaRPr lang="en-AU"/>
          </a:p>
        </p:txBody>
      </p:sp>
      <p:sp>
        <p:nvSpPr>
          <p:cNvPr id="5" name="Footer Placeholder 4">
            <a:extLst>
              <a:ext uri="{FF2B5EF4-FFF2-40B4-BE49-F238E27FC236}">
                <a16:creationId xmlns:a16="http://schemas.microsoft.com/office/drawing/2014/main" id="{F710E57F-323B-EC04-ABC8-F6353F9C1CF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4C2D3CE-1C76-9572-AAE0-EF06C1C7A9B5}"/>
              </a:ext>
            </a:extLst>
          </p:cNvPr>
          <p:cNvSpPr>
            <a:spLocks noGrp="1"/>
          </p:cNvSpPr>
          <p:nvPr>
            <p:ph type="sldNum" sz="quarter" idx="12"/>
          </p:nvPr>
        </p:nvSpPr>
        <p:spPr/>
        <p:txBody>
          <a:bodyPr/>
          <a:lstStyle/>
          <a:p>
            <a:fld id="{FFD43B34-FE51-4BDB-A27F-D5EAB94814EC}" type="slidenum">
              <a:rPr lang="en-AU" smtClean="0"/>
              <a:t>‹#›</a:t>
            </a:fld>
            <a:endParaRPr lang="en-AU"/>
          </a:p>
        </p:txBody>
      </p:sp>
    </p:spTree>
    <p:extLst>
      <p:ext uri="{BB962C8B-B14F-4D97-AF65-F5344CB8AC3E}">
        <p14:creationId xmlns:p14="http://schemas.microsoft.com/office/powerpoint/2010/main" val="1295290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909D8C-FF29-9023-2FEB-E9E7CE9C337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C22F9531-C0A9-922B-B9F6-84FEFFBE999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CBB3394B-C228-3A1D-D72B-5559560BD60C}"/>
              </a:ext>
            </a:extLst>
          </p:cNvPr>
          <p:cNvSpPr>
            <a:spLocks noGrp="1"/>
          </p:cNvSpPr>
          <p:nvPr>
            <p:ph type="dt" sz="half" idx="10"/>
          </p:nvPr>
        </p:nvSpPr>
        <p:spPr/>
        <p:txBody>
          <a:bodyPr/>
          <a:lstStyle/>
          <a:p>
            <a:fld id="{69498950-846F-4C24-BD92-35BAB30306FE}" type="datetimeFigureOut">
              <a:rPr lang="en-AU" smtClean="0"/>
              <a:t>25/04/2025</a:t>
            </a:fld>
            <a:endParaRPr lang="en-AU"/>
          </a:p>
        </p:txBody>
      </p:sp>
      <p:sp>
        <p:nvSpPr>
          <p:cNvPr id="5" name="Footer Placeholder 4">
            <a:extLst>
              <a:ext uri="{FF2B5EF4-FFF2-40B4-BE49-F238E27FC236}">
                <a16:creationId xmlns:a16="http://schemas.microsoft.com/office/drawing/2014/main" id="{70FA4441-4429-CF23-15F0-CE8AD824730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A7722FD-E243-C5F0-5D49-63B42C7A6C3B}"/>
              </a:ext>
            </a:extLst>
          </p:cNvPr>
          <p:cNvSpPr>
            <a:spLocks noGrp="1"/>
          </p:cNvSpPr>
          <p:nvPr>
            <p:ph type="sldNum" sz="quarter" idx="12"/>
          </p:nvPr>
        </p:nvSpPr>
        <p:spPr/>
        <p:txBody>
          <a:bodyPr/>
          <a:lstStyle/>
          <a:p>
            <a:fld id="{FFD43B34-FE51-4BDB-A27F-D5EAB94814EC}" type="slidenum">
              <a:rPr lang="en-AU" smtClean="0"/>
              <a:t>‹#›</a:t>
            </a:fld>
            <a:endParaRPr lang="en-AU"/>
          </a:p>
        </p:txBody>
      </p:sp>
    </p:spTree>
    <p:extLst>
      <p:ext uri="{BB962C8B-B14F-4D97-AF65-F5344CB8AC3E}">
        <p14:creationId xmlns:p14="http://schemas.microsoft.com/office/powerpoint/2010/main" val="235710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B4E0BB-04DA-8C50-2B26-785186C41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DC86D799-C933-69A3-A659-F6EC64AD3B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654D82BD-9918-4063-8F9E-E0253910DE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498950-846F-4C24-BD92-35BAB30306FE}" type="datetimeFigureOut">
              <a:rPr lang="en-AU" smtClean="0"/>
              <a:t>25/04/2025</a:t>
            </a:fld>
            <a:endParaRPr lang="en-AU"/>
          </a:p>
        </p:txBody>
      </p:sp>
      <p:sp>
        <p:nvSpPr>
          <p:cNvPr id="5" name="Footer Placeholder 4">
            <a:extLst>
              <a:ext uri="{FF2B5EF4-FFF2-40B4-BE49-F238E27FC236}">
                <a16:creationId xmlns:a16="http://schemas.microsoft.com/office/drawing/2014/main" id="{BDBEB3BE-DBED-BBD4-88B5-3A0870F2C2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7AE1DA31-1B7A-4965-A079-966F3A57B9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D43B34-FE51-4BDB-A27F-D5EAB94814EC}" type="slidenum">
              <a:rPr lang="en-AU" smtClean="0"/>
              <a:t>‹#›</a:t>
            </a:fld>
            <a:endParaRPr lang="en-AU"/>
          </a:p>
        </p:txBody>
      </p:sp>
    </p:spTree>
    <p:extLst>
      <p:ext uri="{BB962C8B-B14F-4D97-AF65-F5344CB8AC3E}">
        <p14:creationId xmlns:p14="http://schemas.microsoft.com/office/powerpoint/2010/main" val="3666273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B5E093-0B4F-D412-7371-E8B7AE67704F}"/>
              </a:ext>
            </a:extLst>
          </p:cNvPr>
          <p:cNvPicPr>
            <a:picLocks noChangeAspect="1"/>
          </p:cNvPicPr>
          <p:nvPr/>
        </p:nvPicPr>
        <p:blipFill>
          <a:blip r:embed="rId2"/>
          <a:stretch>
            <a:fillRect/>
          </a:stretch>
        </p:blipFill>
        <p:spPr>
          <a:xfrm>
            <a:off x="2309284" y="65314"/>
            <a:ext cx="7573432" cy="743054"/>
          </a:xfrm>
          <a:prstGeom prst="rect">
            <a:avLst/>
          </a:prstGeom>
        </p:spPr>
      </p:pic>
      <p:pic>
        <p:nvPicPr>
          <p:cNvPr id="6" name="Picture 5">
            <a:extLst>
              <a:ext uri="{FF2B5EF4-FFF2-40B4-BE49-F238E27FC236}">
                <a16:creationId xmlns:a16="http://schemas.microsoft.com/office/drawing/2014/main" id="{8135A1F4-E1CA-BF58-3FFB-8517E906A6BC}"/>
              </a:ext>
            </a:extLst>
          </p:cNvPr>
          <p:cNvPicPr>
            <a:picLocks noChangeAspect="1"/>
          </p:cNvPicPr>
          <p:nvPr/>
        </p:nvPicPr>
        <p:blipFill>
          <a:blip r:embed="rId3"/>
          <a:stretch>
            <a:fillRect/>
          </a:stretch>
        </p:blipFill>
        <p:spPr>
          <a:xfrm>
            <a:off x="4909972" y="808368"/>
            <a:ext cx="2372056" cy="647790"/>
          </a:xfrm>
          <a:prstGeom prst="rect">
            <a:avLst/>
          </a:prstGeom>
        </p:spPr>
      </p:pic>
      <p:pic>
        <p:nvPicPr>
          <p:cNvPr id="2050" name="Picture 2">
            <a:extLst>
              <a:ext uri="{FF2B5EF4-FFF2-40B4-BE49-F238E27FC236}">
                <a16:creationId xmlns:a16="http://schemas.microsoft.com/office/drawing/2014/main" id="{4F0E98CE-261F-AF70-A683-51C6636E42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6" t="6362" b="59662"/>
          <a:stretch/>
        </p:blipFill>
        <p:spPr bwMode="auto">
          <a:xfrm>
            <a:off x="0" y="2695977"/>
            <a:ext cx="12220924" cy="4162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4311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FED8C9-0367-1606-9563-BE03472BF516}"/>
              </a:ext>
            </a:extLst>
          </p:cNvPr>
          <p:cNvPicPr>
            <a:picLocks noChangeAspect="1"/>
          </p:cNvPicPr>
          <p:nvPr/>
        </p:nvPicPr>
        <p:blipFill>
          <a:blip r:embed="rId2"/>
          <a:stretch>
            <a:fillRect/>
          </a:stretch>
        </p:blipFill>
        <p:spPr>
          <a:xfrm>
            <a:off x="2309284" y="65314"/>
            <a:ext cx="7573432" cy="743054"/>
          </a:xfrm>
          <a:prstGeom prst="rect">
            <a:avLst/>
          </a:prstGeom>
        </p:spPr>
      </p:pic>
      <p:sp>
        <p:nvSpPr>
          <p:cNvPr id="4" name="TextBox 3">
            <a:extLst>
              <a:ext uri="{FF2B5EF4-FFF2-40B4-BE49-F238E27FC236}">
                <a16:creationId xmlns:a16="http://schemas.microsoft.com/office/drawing/2014/main" id="{18B020D5-2C3E-743A-1184-7EA785AE8084}"/>
              </a:ext>
            </a:extLst>
          </p:cNvPr>
          <p:cNvSpPr txBox="1"/>
          <p:nvPr/>
        </p:nvSpPr>
        <p:spPr>
          <a:xfrm>
            <a:off x="6449787" y="2978741"/>
            <a:ext cx="5567892" cy="3473291"/>
          </a:xfrm>
          <a:prstGeom prst="round2DiagRect">
            <a:avLst/>
          </a:prstGeom>
          <a:solidFill>
            <a:srgbClr val="E8A433"/>
          </a:solidFill>
          <a:ln w="12700">
            <a:solidFill>
              <a:schemeClr val="tx1"/>
            </a:solidFill>
            <a:prstDash val="dash"/>
          </a:ln>
        </p:spPr>
        <p:txBody>
          <a:bodyPr wrap="square" rtlCol="0">
            <a:spAutoFit/>
          </a:bodyPr>
          <a:lstStyle/>
          <a:p>
            <a:pPr>
              <a:buNone/>
            </a:pPr>
            <a:r>
              <a:rPr lang="en-AU" b="1" dirty="0">
                <a:latin typeface="+mj-lt"/>
              </a:rPr>
              <a:t>Art as Data and Code</a:t>
            </a:r>
            <a:r>
              <a:rPr lang="en-AU" dirty="0">
                <a:latin typeface="+mj-lt"/>
              </a:rPr>
              <a:t> </a:t>
            </a:r>
            <a:r>
              <a:rPr lang="en-AU" b="1" dirty="0">
                <a:latin typeface="+mj-lt"/>
              </a:rPr>
              <a:t>Focus:</a:t>
            </a:r>
            <a:r>
              <a:rPr lang="en-AU" dirty="0">
                <a:latin typeface="+mj-lt"/>
              </a:rPr>
              <a:t> Pattern, system, and abstraction are forms of visual communication.</a:t>
            </a:r>
          </a:p>
          <a:p>
            <a:endParaRPr lang="en-AU" dirty="0">
              <a:latin typeface="+mj-lt"/>
            </a:endParaRPr>
          </a:p>
          <a:p>
            <a:r>
              <a:rPr lang="en-AU" sz="1600" dirty="0">
                <a:latin typeface="+mj-lt"/>
              </a:rPr>
              <a:t>Artists may use:</a:t>
            </a:r>
          </a:p>
          <a:p>
            <a:pPr marL="742950" lvl="1" indent="-285750">
              <a:buFont typeface="Courier New" panose="02070309020205020404" pitchFamily="49" charset="0"/>
              <a:buChar char="o"/>
            </a:pPr>
            <a:r>
              <a:rPr lang="en-AU" sz="1600" dirty="0">
                <a:latin typeface="+mj-lt"/>
              </a:rPr>
              <a:t>Personal data or mapping (e.g. movement, sleep cycles, migration)</a:t>
            </a:r>
          </a:p>
          <a:p>
            <a:pPr marL="742950" lvl="1" indent="-285750">
              <a:buFont typeface="Courier New" panose="02070309020205020404" pitchFamily="49" charset="0"/>
              <a:buChar char="o"/>
            </a:pPr>
            <a:r>
              <a:rPr lang="en-AU" sz="1600" dirty="0">
                <a:latin typeface="+mj-lt"/>
              </a:rPr>
              <a:t>Grids, linework, modular units, or repetitive forms</a:t>
            </a:r>
          </a:p>
          <a:p>
            <a:pPr marL="742950" lvl="1" indent="-285750">
              <a:buFont typeface="Courier New" panose="02070309020205020404" pitchFamily="49" charset="0"/>
              <a:buChar char="o"/>
            </a:pPr>
            <a:r>
              <a:rPr lang="en-AU" sz="1600" dirty="0">
                <a:latin typeface="+mj-lt"/>
              </a:rPr>
              <a:t>Rules-based systems (mathematical, cartographic, architectural)</a:t>
            </a:r>
          </a:p>
          <a:p>
            <a:endParaRPr lang="en-AU" sz="1600" dirty="0">
              <a:latin typeface="+mj-lt"/>
            </a:endParaRPr>
          </a:p>
          <a:p>
            <a:r>
              <a:rPr lang="en-AU" sz="1600" dirty="0">
                <a:latin typeface="+mj-lt"/>
              </a:rPr>
              <a:t>These visual strategies become codes that reveal, conceal, or transform information</a:t>
            </a:r>
          </a:p>
        </p:txBody>
      </p:sp>
      <p:pic>
        <p:nvPicPr>
          <p:cNvPr id="1026" name="Picture 2" descr="Understanding code smells and how refactoring can help | TechTarget">
            <a:extLst>
              <a:ext uri="{FF2B5EF4-FFF2-40B4-BE49-F238E27FC236}">
                <a16:creationId xmlns:a16="http://schemas.microsoft.com/office/drawing/2014/main" id="{95968AC9-FC9E-D2D8-C0CD-F99B92822C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2285998" y="2286000"/>
            <a:ext cx="6858002" cy="228600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18A6E0B-59A0-34A6-EC2D-EF1FB32AAF83}"/>
              </a:ext>
            </a:extLst>
          </p:cNvPr>
          <p:cNvSpPr txBox="1"/>
          <p:nvPr/>
        </p:nvSpPr>
        <p:spPr>
          <a:xfrm>
            <a:off x="1485781" y="1497295"/>
            <a:ext cx="4610219" cy="4658082"/>
          </a:xfrm>
          <a:prstGeom prst="round2DiagRect">
            <a:avLst/>
          </a:prstGeom>
          <a:solidFill>
            <a:schemeClr val="bg1"/>
          </a:solidFill>
          <a:ln w="12700">
            <a:solidFill>
              <a:schemeClr val="tx1"/>
            </a:solidFill>
            <a:prstDash val="solid"/>
          </a:ln>
        </p:spPr>
        <p:txBody>
          <a:bodyPr wrap="square" rtlCol="0">
            <a:spAutoFit/>
          </a:bodyPr>
          <a:lstStyle/>
          <a:p>
            <a:pPr algn="ctr"/>
            <a:r>
              <a:rPr lang="en-US" b="1" dirty="0">
                <a:latin typeface="+mj-lt"/>
              </a:rPr>
              <a:t>Statistically Speaking – Data, Systems, and Abstraction in Visual Art</a:t>
            </a:r>
          </a:p>
          <a:p>
            <a:endParaRPr lang="en-US" b="1" dirty="0">
              <a:latin typeface="+mj-lt"/>
            </a:endParaRPr>
          </a:p>
          <a:p>
            <a:r>
              <a:rPr lang="en-US" dirty="0">
                <a:latin typeface="+mj-lt"/>
              </a:rPr>
              <a:t>In contemporary art, data and statistics can become aesthetic material. Artists use patterns, charts, systems, and abstract structures to communicate ideas about society, identity, movement, or memory. These works often blur the boundaries between logic and emotion, control and expression. Students will examine how artists transform personal or public data into meaningful and visually striking compositions.</a:t>
            </a:r>
          </a:p>
          <a:p>
            <a:endParaRPr lang="en-US" dirty="0"/>
          </a:p>
        </p:txBody>
      </p:sp>
      <p:sp>
        <p:nvSpPr>
          <p:cNvPr id="7" name="TextBox 2">
            <a:extLst>
              <a:ext uri="{FF2B5EF4-FFF2-40B4-BE49-F238E27FC236}">
                <a16:creationId xmlns:a16="http://schemas.microsoft.com/office/drawing/2014/main" id="{8B199CAC-AF47-DC6E-08F2-E0B74AFDE4E7}"/>
              </a:ext>
            </a:extLst>
          </p:cNvPr>
          <p:cNvSpPr txBox="1"/>
          <p:nvPr/>
        </p:nvSpPr>
        <p:spPr>
          <a:xfrm rot="549180">
            <a:off x="8703676" y="1062492"/>
            <a:ext cx="3352885" cy="1971223"/>
          </a:xfrm>
          <a:custGeom>
            <a:avLst/>
            <a:gdLst>
              <a:gd name="connsiteX0" fmla="*/ 0 w 3352885"/>
              <a:gd name="connsiteY0" fmla="*/ 985612 h 1971223"/>
              <a:gd name="connsiteX1" fmla="*/ 1676443 w 3352885"/>
              <a:gd name="connsiteY1" fmla="*/ 0 h 1971223"/>
              <a:gd name="connsiteX2" fmla="*/ 3352886 w 3352885"/>
              <a:gd name="connsiteY2" fmla="*/ 985612 h 1971223"/>
              <a:gd name="connsiteX3" fmla="*/ 1676443 w 3352885"/>
              <a:gd name="connsiteY3" fmla="*/ 1971224 h 1971223"/>
              <a:gd name="connsiteX4" fmla="*/ 0 w 3352885"/>
              <a:gd name="connsiteY4" fmla="*/ 985612 h 1971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85" h="1971223" fill="none" extrusionOk="0">
                <a:moveTo>
                  <a:pt x="0" y="985612"/>
                </a:moveTo>
                <a:cubicBezTo>
                  <a:pt x="-196189" y="360897"/>
                  <a:pt x="629740" y="218338"/>
                  <a:pt x="1676443" y="0"/>
                </a:cubicBezTo>
                <a:cubicBezTo>
                  <a:pt x="2697366" y="109141"/>
                  <a:pt x="3418923" y="508783"/>
                  <a:pt x="3352886" y="985612"/>
                </a:cubicBezTo>
                <a:cubicBezTo>
                  <a:pt x="3202445" y="1483848"/>
                  <a:pt x="2703653" y="2088252"/>
                  <a:pt x="1676443" y="1971224"/>
                </a:cubicBezTo>
                <a:cubicBezTo>
                  <a:pt x="654299" y="2101383"/>
                  <a:pt x="-112371" y="1426878"/>
                  <a:pt x="0" y="985612"/>
                </a:cubicBezTo>
                <a:close/>
              </a:path>
              <a:path w="3352885" h="1971223" stroke="0" extrusionOk="0">
                <a:moveTo>
                  <a:pt x="0" y="985612"/>
                </a:moveTo>
                <a:cubicBezTo>
                  <a:pt x="134394" y="243468"/>
                  <a:pt x="820413" y="109475"/>
                  <a:pt x="1676443" y="0"/>
                </a:cubicBezTo>
                <a:cubicBezTo>
                  <a:pt x="2572857" y="-82004"/>
                  <a:pt x="3454913" y="502301"/>
                  <a:pt x="3352886" y="985612"/>
                </a:cubicBezTo>
                <a:cubicBezTo>
                  <a:pt x="3338375" y="1371604"/>
                  <a:pt x="2507498" y="2013931"/>
                  <a:pt x="1676443" y="1971224"/>
                </a:cubicBezTo>
                <a:cubicBezTo>
                  <a:pt x="721863" y="1833501"/>
                  <a:pt x="42075" y="1590623"/>
                  <a:pt x="0" y="985612"/>
                </a:cubicBezTo>
                <a:close/>
              </a:path>
            </a:pathLst>
          </a:custGeom>
          <a:solidFill>
            <a:schemeClr val="bg1"/>
          </a:solidFill>
          <a:ln>
            <a:solidFill>
              <a:schemeClr val="tx1"/>
            </a:solidFill>
            <a:extLst>
              <a:ext uri="{C807C97D-BFC1-408E-A445-0C87EB9F89A2}">
                <ask:lineSketchStyleProps xmlns:ask="http://schemas.microsoft.com/office/drawing/2018/sketchyshapes" sd="1617256088">
                  <a:prstGeom prst="flowChartConnector">
                    <a:avLst/>
                  </a:prstGeom>
                  <ask:type>
                    <ask:lineSketchScribble/>
                  </ask:type>
                </ask:lineSketchStyleProps>
              </a:ext>
            </a:extLst>
          </a:ln>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i="1" dirty="0"/>
              <a:t>What kind of data do you carry in your body, your habits, or your memories? How could that become a pattern?</a:t>
            </a:r>
          </a:p>
          <a:p>
            <a:pPr algn="ctr"/>
            <a:endParaRPr lang="en-US" sz="1600" b="1" i="1" dirty="0">
              <a:latin typeface="+mj-lt"/>
            </a:endParaRPr>
          </a:p>
        </p:txBody>
      </p:sp>
    </p:spTree>
    <p:extLst>
      <p:ext uri="{BB962C8B-B14F-4D97-AF65-F5344CB8AC3E}">
        <p14:creationId xmlns:p14="http://schemas.microsoft.com/office/powerpoint/2010/main" val="1027758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1942C9-0D84-33D6-7EBE-515F861CE6A9}"/>
              </a:ext>
            </a:extLst>
          </p:cNvPr>
          <p:cNvPicPr>
            <a:picLocks noChangeAspect="1"/>
          </p:cNvPicPr>
          <p:nvPr/>
        </p:nvPicPr>
        <p:blipFill>
          <a:blip r:embed="rId2"/>
          <a:stretch>
            <a:fillRect/>
          </a:stretch>
        </p:blipFill>
        <p:spPr>
          <a:xfrm>
            <a:off x="0" y="0"/>
            <a:ext cx="10412278" cy="685896"/>
          </a:xfrm>
          <a:prstGeom prst="rect">
            <a:avLst/>
          </a:prstGeom>
        </p:spPr>
      </p:pic>
      <p:sp>
        <p:nvSpPr>
          <p:cNvPr id="5" name="TextBox 4">
            <a:extLst>
              <a:ext uri="{FF2B5EF4-FFF2-40B4-BE49-F238E27FC236}">
                <a16:creationId xmlns:a16="http://schemas.microsoft.com/office/drawing/2014/main" id="{6BB8A9D1-36CB-5E10-1705-02E40C9E4387}"/>
              </a:ext>
            </a:extLst>
          </p:cNvPr>
          <p:cNvSpPr txBox="1"/>
          <p:nvPr/>
        </p:nvSpPr>
        <p:spPr>
          <a:xfrm>
            <a:off x="364671" y="805987"/>
            <a:ext cx="5368113" cy="5740538"/>
          </a:xfrm>
          <a:prstGeom prst="round2DiagRect">
            <a:avLst/>
          </a:prstGeom>
          <a:noFill/>
          <a:ln w="12700">
            <a:solidFill>
              <a:schemeClr val="tx1"/>
            </a:solidFill>
            <a:prstDash val="solid"/>
          </a:ln>
        </p:spPr>
        <p:txBody>
          <a:bodyPr wrap="square" rtlCol="0">
            <a:spAutoFit/>
          </a:bodyPr>
          <a:lstStyle/>
          <a:p>
            <a:pPr algn="ctr">
              <a:lnSpc>
                <a:spcPct val="107000"/>
              </a:lnSpc>
              <a:spcAft>
                <a:spcPts val="800"/>
              </a:spcAft>
              <a:buSzPts val="1000"/>
              <a:tabLst>
                <a:tab pos="457200" algn="l"/>
              </a:tabLst>
            </a:pPr>
            <a:r>
              <a:rPr lang="en-US" sz="1400" b="1" dirty="0"/>
              <a:t>Rebecca </a:t>
            </a:r>
            <a:r>
              <a:rPr lang="en-US" sz="1400" b="1" dirty="0" err="1"/>
              <a:t>Baumman</a:t>
            </a:r>
            <a:r>
              <a:rPr lang="en-US" sz="1400" dirty="0"/>
              <a:t> </a:t>
            </a:r>
          </a:p>
          <a:p>
            <a:pPr algn="ctr">
              <a:lnSpc>
                <a:spcPct val="107000"/>
              </a:lnSpc>
              <a:spcAft>
                <a:spcPts val="800"/>
              </a:spcAft>
              <a:buSzPts val="1000"/>
              <a:tabLst>
                <a:tab pos="457200" algn="l"/>
              </a:tabLst>
            </a:pPr>
            <a:r>
              <a:rPr lang="en-US" sz="1400" dirty="0"/>
              <a:t>Rebecca </a:t>
            </a:r>
            <a:r>
              <a:rPr lang="en-US" sz="1400" dirty="0" err="1"/>
              <a:t>Baumman</a:t>
            </a:r>
            <a:r>
              <a:rPr lang="en-US" sz="1400" dirty="0"/>
              <a:t> is a contemporary artist and designer who uses coded marks and repeated visual fragments to create works that appear mechanical but are conceptually human.</a:t>
            </a:r>
          </a:p>
          <a:p>
            <a:pPr algn="ctr">
              <a:lnSpc>
                <a:spcPct val="107000"/>
              </a:lnSpc>
              <a:spcAft>
                <a:spcPts val="800"/>
              </a:spcAft>
              <a:buSzPts val="1000"/>
              <a:tabLst>
                <a:tab pos="457200" algn="l"/>
              </a:tabLst>
            </a:pPr>
            <a:endParaRPr lang="en-US" sz="1400" dirty="0">
              <a:latin typeface="+mj-lt"/>
            </a:endParaRPr>
          </a:p>
          <a:p>
            <a:pPr lvl="0" algn="ctr">
              <a:lnSpc>
                <a:spcPct val="107000"/>
              </a:lnSpc>
              <a:spcAft>
                <a:spcPts val="800"/>
              </a:spcAft>
              <a:buSzPts val="1000"/>
              <a:tabLst>
                <a:tab pos="457200" algn="l"/>
              </a:tabLst>
            </a:pPr>
            <a:endParaRPr lang="en-US" sz="1400" b="1" dirty="0">
              <a:latin typeface="+mj-lt"/>
            </a:endParaRPr>
          </a:p>
          <a:p>
            <a:pPr lvl="0" algn="ctr">
              <a:lnSpc>
                <a:spcPct val="107000"/>
              </a:lnSpc>
              <a:spcAft>
                <a:spcPts val="800"/>
              </a:spcAft>
              <a:buSzPts val="1000"/>
              <a:tabLst>
                <a:tab pos="457200" algn="l"/>
              </a:tabLst>
            </a:pPr>
            <a:endParaRPr lang="en-US"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i="1" dirty="0">
              <a:latin typeface="+mj-lt"/>
            </a:endParaRPr>
          </a:p>
          <a:p>
            <a:pPr lvl="0" algn="ctr">
              <a:lnSpc>
                <a:spcPct val="107000"/>
              </a:lnSpc>
              <a:spcAft>
                <a:spcPts val="800"/>
              </a:spcAft>
              <a:buSzPts val="1000"/>
              <a:tabLst>
                <a:tab pos="457200" algn="l"/>
              </a:tabLst>
            </a:pPr>
            <a:endParaRPr lang="en-AU" sz="1400" i="1" dirty="0">
              <a:latin typeface="+mj-lt"/>
            </a:endParaRPr>
          </a:p>
          <a:p>
            <a:pPr algn="ctr">
              <a:lnSpc>
                <a:spcPct val="107000"/>
              </a:lnSpc>
              <a:spcAft>
                <a:spcPts val="800"/>
              </a:spcAft>
              <a:buSzPts val="1000"/>
              <a:tabLst>
                <a:tab pos="457200" algn="l"/>
              </a:tabLst>
            </a:pPr>
            <a:r>
              <a:rPr lang="en-US" sz="1400" b="1" dirty="0"/>
              <a:t>Art as Code: </a:t>
            </a:r>
            <a:r>
              <a:rPr lang="en-US" sz="1400" dirty="0"/>
              <a:t>Uses tiny symbols or abstract units to represent accumulated experience or movement</a:t>
            </a:r>
          </a:p>
        </p:txBody>
      </p:sp>
      <p:pic>
        <p:nvPicPr>
          <p:cNvPr id="3076" name="Picture 4" descr="Automated Colour Field by Rebecca Baumann | MCA Australia">
            <a:extLst>
              <a:ext uri="{FF2B5EF4-FFF2-40B4-BE49-F238E27FC236}">
                <a16:creationId xmlns:a16="http://schemas.microsoft.com/office/drawing/2014/main" id="{0092E8C2-F108-B861-920A-9E22AC4C2F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489" b="-515"/>
          <a:stretch/>
        </p:blipFill>
        <p:spPr bwMode="auto">
          <a:xfrm>
            <a:off x="769596" y="2628900"/>
            <a:ext cx="4622802" cy="290648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9EE7F31-6449-54BD-9A65-E4336A3DDD96}"/>
              </a:ext>
            </a:extLst>
          </p:cNvPr>
          <p:cNvSpPr txBox="1"/>
          <p:nvPr/>
        </p:nvSpPr>
        <p:spPr>
          <a:xfrm>
            <a:off x="6297385" y="805987"/>
            <a:ext cx="5368113" cy="5740538"/>
          </a:xfrm>
          <a:prstGeom prst="round2DiagRect">
            <a:avLst/>
          </a:prstGeom>
          <a:noFill/>
          <a:ln w="12700">
            <a:solidFill>
              <a:schemeClr val="tx1"/>
            </a:solidFill>
            <a:prstDash val="solid"/>
          </a:ln>
        </p:spPr>
        <p:txBody>
          <a:bodyPr wrap="square" rtlCol="0">
            <a:spAutoFit/>
          </a:bodyPr>
          <a:lstStyle/>
          <a:p>
            <a:pPr algn="ctr">
              <a:lnSpc>
                <a:spcPct val="107000"/>
              </a:lnSpc>
              <a:spcAft>
                <a:spcPts val="800"/>
              </a:spcAft>
              <a:buSzPts val="1000"/>
              <a:tabLst>
                <a:tab pos="457200" algn="l"/>
              </a:tabLst>
            </a:pPr>
            <a:r>
              <a:rPr lang="en-US" sz="1400" b="1" dirty="0"/>
              <a:t>Cameron Robbins</a:t>
            </a:r>
            <a:r>
              <a:rPr lang="en-US" sz="1400" dirty="0"/>
              <a:t> </a:t>
            </a:r>
          </a:p>
          <a:p>
            <a:pPr algn="ctr">
              <a:lnSpc>
                <a:spcPct val="107000"/>
              </a:lnSpc>
              <a:spcAft>
                <a:spcPts val="800"/>
              </a:spcAft>
              <a:buSzPts val="1000"/>
              <a:tabLst>
                <a:tab pos="457200" algn="l"/>
              </a:tabLst>
            </a:pPr>
            <a:r>
              <a:rPr lang="en-US" sz="1400" dirty="0"/>
              <a:t>Cameron Robbins is an Australian artist whose kinetic installations use natural forces—like wind and tides—to generate mark-making and visual records of movement.</a:t>
            </a:r>
          </a:p>
          <a:p>
            <a:pPr algn="ctr">
              <a:lnSpc>
                <a:spcPct val="107000"/>
              </a:lnSpc>
              <a:spcAft>
                <a:spcPts val="800"/>
              </a:spcAft>
              <a:buSzPts val="1000"/>
              <a:tabLst>
                <a:tab pos="457200" algn="l"/>
              </a:tabLst>
            </a:pPr>
            <a:endParaRPr lang="en-US" sz="1400" dirty="0">
              <a:latin typeface="+mj-lt"/>
            </a:endParaRPr>
          </a:p>
          <a:p>
            <a:pPr lvl="0" algn="ctr">
              <a:lnSpc>
                <a:spcPct val="107000"/>
              </a:lnSpc>
              <a:spcAft>
                <a:spcPts val="800"/>
              </a:spcAft>
              <a:buSzPts val="1000"/>
              <a:tabLst>
                <a:tab pos="457200" algn="l"/>
              </a:tabLst>
            </a:pPr>
            <a:endParaRPr lang="en-US" sz="1400" b="1" dirty="0">
              <a:latin typeface="+mj-lt"/>
            </a:endParaRPr>
          </a:p>
          <a:p>
            <a:pPr lvl="0" algn="ctr">
              <a:lnSpc>
                <a:spcPct val="107000"/>
              </a:lnSpc>
              <a:spcAft>
                <a:spcPts val="800"/>
              </a:spcAft>
              <a:buSzPts val="1000"/>
              <a:tabLst>
                <a:tab pos="457200" algn="l"/>
              </a:tabLst>
            </a:pPr>
            <a:endParaRPr lang="en-US"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i="1" dirty="0">
              <a:latin typeface="+mj-lt"/>
            </a:endParaRPr>
          </a:p>
          <a:p>
            <a:pPr lvl="0" algn="ctr">
              <a:lnSpc>
                <a:spcPct val="107000"/>
              </a:lnSpc>
              <a:spcAft>
                <a:spcPts val="800"/>
              </a:spcAft>
              <a:buSzPts val="1000"/>
              <a:tabLst>
                <a:tab pos="457200" algn="l"/>
              </a:tabLst>
            </a:pPr>
            <a:endParaRPr lang="en-AU" sz="1400" i="1" dirty="0">
              <a:latin typeface="+mj-lt"/>
            </a:endParaRPr>
          </a:p>
          <a:p>
            <a:pPr algn="ctr">
              <a:lnSpc>
                <a:spcPct val="107000"/>
              </a:lnSpc>
              <a:spcAft>
                <a:spcPts val="800"/>
              </a:spcAft>
              <a:buSzPts val="1000"/>
              <a:tabLst>
                <a:tab pos="457200" algn="l"/>
              </a:tabLst>
            </a:pPr>
            <a:r>
              <a:rPr lang="en-US" sz="1400" b="1" dirty="0"/>
              <a:t>Art as Code: </a:t>
            </a:r>
            <a:r>
              <a:rPr lang="en-US" sz="1400" dirty="0"/>
              <a:t>Uses mechanical drawing machines powered by weather data to produce visual translations of real-time phenomena </a:t>
            </a:r>
          </a:p>
        </p:txBody>
      </p:sp>
      <p:pic>
        <p:nvPicPr>
          <p:cNvPr id="7" name="Picture 6">
            <a:extLst>
              <a:ext uri="{FF2B5EF4-FFF2-40B4-BE49-F238E27FC236}">
                <a16:creationId xmlns:a16="http://schemas.microsoft.com/office/drawing/2014/main" id="{8B664ED8-F3A3-7155-1A04-FC149CAB577E}"/>
              </a:ext>
            </a:extLst>
          </p:cNvPr>
          <p:cNvPicPr>
            <a:picLocks noChangeAspect="1"/>
          </p:cNvPicPr>
          <p:nvPr/>
        </p:nvPicPr>
        <p:blipFill>
          <a:blip r:embed="rId4"/>
          <a:stretch>
            <a:fillRect/>
          </a:stretch>
        </p:blipFill>
        <p:spPr>
          <a:xfrm>
            <a:off x="6878247" y="2398864"/>
            <a:ext cx="4339482" cy="2892130"/>
          </a:xfrm>
          <a:prstGeom prst="rect">
            <a:avLst/>
          </a:prstGeom>
        </p:spPr>
      </p:pic>
    </p:spTree>
    <p:extLst>
      <p:ext uri="{BB962C8B-B14F-4D97-AF65-F5344CB8AC3E}">
        <p14:creationId xmlns:p14="http://schemas.microsoft.com/office/powerpoint/2010/main" val="1398244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2A1C40-2C34-B3FC-0D52-95737E5BB9F8}"/>
              </a:ext>
            </a:extLst>
          </p:cNvPr>
          <p:cNvPicPr>
            <a:picLocks noChangeAspect="1"/>
          </p:cNvPicPr>
          <p:nvPr/>
        </p:nvPicPr>
        <p:blipFill>
          <a:blip r:embed="rId2"/>
          <a:stretch>
            <a:fillRect/>
          </a:stretch>
        </p:blipFill>
        <p:spPr>
          <a:xfrm>
            <a:off x="130628" y="0"/>
            <a:ext cx="5096586" cy="781159"/>
          </a:xfrm>
          <a:prstGeom prst="rect">
            <a:avLst/>
          </a:prstGeom>
        </p:spPr>
      </p:pic>
      <p:pic>
        <p:nvPicPr>
          <p:cNvPr id="4" name="Picture 3">
            <a:extLst>
              <a:ext uri="{FF2B5EF4-FFF2-40B4-BE49-F238E27FC236}">
                <a16:creationId xmlns:a16="http://schemas.microsoft.com/office/drawing/2014/main" id="{A39DE8E5-BEEE-05B7-1E02-CD0977793BB1}"/>
              </a:ext>
            </a:extLst>
          </p:cNvPr>
          <p:cNvPicPr>
            <a:picLocks noChangeAspect="1"/>
          </p:cNvPicPr>
          <p:nvPr/>
        </p:nvPicPr>
        <p:blipFill>
          <a:blip r:embed="rId3"/>
          <a:stretch>
            <a:fillRect/>
          </a:stretch>
        </p:blipFill>
        <p:spPr>
          <a:xfrm>
            <a:off x="5227214" y="38105"/>
            <a:ext cx="4648849" cy="743054"/>
          </a:xfrm>
          <a:prstGeom prst="rect">
            <a:avLst/>
          </a:prstGeom>
        </p:spPr>
      </p:pic>
      <p:sp>
        <p:nvSpPr>
          <p:cNvPr id="5" name="TextBox 4">
            <a:extLst>
              <a:ext uri="{FF2B5EF4-FFF2-40B4-BE49-F238E27FC236}">
                <a16:creationId xmlns:a16="http://schemas.microsoft.com/office/drawing/2014/main" id="{5C542C78-3526-4159-7B93-479913C3E772}"/>
              </a:ext>
            </a:extLst>
          </p:cNvPr>
          <p:cNvSpPr txBox="1"/>
          <p:nvPr/>
        </p:nvSpPr>
        <p:spPr>
          <a:xfrm>
            <a:off x="404843" y="1145835"/>
            <a:ext cx="6106886" cy="1940957"/>
          </a:xfrm>
          <a:prstGeom prst="roundRect">
            <a:avLst/>
          </a:prstGeom>
          <a:solidFill>
            <a:schemeClr val="bg1"/>
          </a:solidFill>
          <a:ln w="12700">
            <a:solidFill>
              <a:schemeClr val="tx1"/>
            </a:solidFill>
          </a:ln>
        </p:spPr>
        <p:txBody>
          <a:bodyPr wrap="square" rtlCol="0">
            <a:spAutoFit/>
          </a:bodyPr>
          <a:lstStyle/>
          <a:p>
            <a:r>
              <a:rPr lang="en-US" dirty="0"/>
              <a:t>Jordache Ellapen is a South African-born, Australian-based visual artist and academic whose interdisciplinary work explores queer identity, migration, and movement through layered abstraction. His series </a:t>
            </a:r>
            <a:r>
              <a:rPr lang="en-US" i="1" dirty="0"/>
              <a:t>Energy and Movement</a:t>
            </a:r>
            <a:r>
              <a:rPr lang="en-US" dirty="0"/>
              <a:t> translates statistical and personal data into symbolic, flowing visual forms.</a:t>
            </a:r>
          </a:p>
        </p:txBody>
      </p:sp>
      <p:pic>
        <p:nvPicPr>
          <p:cNvPr id="4100" name="Picture 4" descr="JORDACHE - Australian Contemporary Post Graffiti Artist">
            <a:extLst>
              <a:ext uri="{FF2B5EF4-FFF2-40B4-BE49-F238E27FC236}">
                <a16:creationId xmlns:a16="http://schemas.microsoft.com/office/drawing/2014/main" id="{68E6BE5A-E261-A952-2A73-BE78E1B26BA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445" t="15476" r="19841" b="4524"/>
          <a:stretch/>
        </p:blipFill>
        <p:spPr bwMode="auto">
          <a:xfrm>
            <a:off x="7706893" y="1154110"/>
            <a:ext cx="2803454" cy="36939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5CC5968-C09B-B4FA-964C-0CB26842140A}"/>
              </a:ext>
            </a:extLst>
          </p:cNvPr>
          <p:cNvSpPr txBox="1"/>
          <p:nvPr/>
        </p:nvSpPr>
        <p:spPr>
          <a:xfrm>
            <a:off x="6259284" y="5058205"/>
            <a:ext cx="5698672" cy="1634490"/>
          </a:xfrm>
          <a:prstGeom prst="roundRect">
            <a:avLst/>
          </a:prstGeom>
          <a:solidFill>
            <a:srgbClr val="99CCFF"/>
          </a:solidFill>
          <a:ln w="12700">
            <a:solidFill>
              <a:schemeClr val="tx1"/>
            </a:solidFill>
          </a:ln>
        </p:spPr>
        <p:txBody>
          <a:bodyPr wrap="square" rtlCol="0">
            <a:spAutoFit/>
          </a:bodyPr>
          <a:lstStyle/>
          <a:p>
            <a:r>
              <a:rPr lang="en-US" b="1" dirty="0">
                <a:latin typeface="+mj-lt"/>
              </a:rPr>
              <a:t>Key Themes in Jordache’s Work:</a:t>
            </a:r>
          </a:p>
          <a:p>
            <a:pPr marL="285750" indent="-285750">
              <a:buFont typeface="Courier New" panose="02070309020205020404" pitchFamily="49" charset="0"/>
              <a:buChar char="o"/>
            </a:pPr>
            <a:r>
              <a:rPr lang="en-US" dirty="0">
                <a:latin typeface="+mj-lt"/>
              </a:rPr>
              <a:t>Queer migration and diasporic identity</a:t>
            </a:r>
          </a:p>
          <a:p>
            <a:pPr marL="285750" indent="-285750">
              <a:buFont typeface="Courier New" panose="02070309020205020404" pitchFamily="49" charset="0"/>
              <a:buChar char="o"/>
            </a:pPr>
            <a:r>
              <a:rPr lang="en-US" dirty="0">
                <a:latin typeface="+mj-lt"/>
              </a:rPr>
              <a:t>Resistance to linear history through abstract mapping</a:t>
            </a:r>
          </a:p>
          <a:p>
            <a:pPr marL="285750" indent="-285750">
              <a:buFont typeface="Courier New" panose="02070309020205020404" pitchFamily="49" charset="0"/>
              <a:buChar char="o"/>
            </a:pPr>
            <a:r>
              <a:rPr lang="en-US" dirty="0">
                <a:latin typeface="+mj-lt"/>
              </a:rPr>
              <a:t>Blending memory with statistical data</a:t>
            </a:r>
          </a:p>
          <a:p>
            <a:pPr marL="285750" indent="-285750">
              <a:buFont typeface="Courier New" panose="02070309020205020404" pitchFamily="49" charset="0"/>
              <a:buChar char="o"/>
            </a:pPr>
            <a:r>
              <a:rPr lang="en-US" dirty="0" err="1">
                <a:latin typeface="+mj-lt"/>
              </a:rPr>
              <a:t>Visualising</a:t>
            </a:r>
            <a:r>
              <a:rPr lang="en-US" dirty="0">
                <a:latin typeface="+mj-lt"/>
              </a:rPr>
              <a:t> personal geography through cultural codes</a:t>
            </a:r>
          </a:p>
        </p:txBody>
      </p:sp>
      <p:pic>
        <p:nvPicPr>
          <p:cNvPr id="7" name="Picture 6">
            <a:extLst>
              <a:ext uri="{FF2B5EF4-FFF2-40B4-BE49-F238E27FC236}">
                <a16:creationId xmlns:a16="http://schemas.microsoft.com/office/drawing/2014/main" id="{3B457030-8EB4-9329-1230-ED98EDF90788}"/>
              </a:ext>
            </a:extLst>
          </p:cNvPr>
          <p:cNvPicPr>
            <a:picLocks noChangeAspect="1"/>
          </p:cNvPicPr>
          <p:nvPr/>
        </p:nvPicPr>
        <p:blipFill>
          <a:blip r:embed="rId5"/>
          <a:stretch>
            <a:fillRect/>
          </a:stretch>
        </p:blipFill>
        <p:spPr>
          <a:xfrm>
            <a:off x="1076402" y="3372592"/>
            <a:ext cx="4021939" cy="2950963"/>
          </a:xfrm>
          <a:prstGeom prst="rect">
            <a:avLst/>
          </a:prstGeom>
        </p:spPr>
      </p:pic>
      <p:sp>
        <p:nvSpPr>
          <p:cNvPr id="8" name="TextBox 7">
            <a:extLst>
              <a:ext uri="{FF2B5EF4-FFF2-40B4-BE49-F238E27FC236}">
                <a16:creationId xmlns:a16="http://schemas.microsoft.com/office/drawing/2014/main" id="{F94DA1E9-7784-C0F8-5D79-CC1C9E776924}"/>
              </a:ext>
            </a:extLst>
          </p:cNvPr>
          <p:cNvSpPr txBox="1"/>
          <p:nvPr/>
        </p:nvSpPr>
        <p:spPr>
          <a:xfrm>
            <a:off x="-206646" y="6394834"/>
            <a:ext cx="6588036" cy="315023"/>
          </a:xfrm>
          <a:prstGeom prst="rect">
            <a:avLst/>
          </a:prstGeom>
          <a:noFill/>
        </p:spPr>
        <p:txBody>
          <a:bodyPr wrap="square">
            <a:spAutoFit/>
          </a:bodyPr>
          <a:lstStyle/>
          <a:p>
            <a:pPr lvl="0" algn="ctr">
              <a:lnSpc>
                <a:spcPct val="107000"/>
              </a:lnSpc>
              <a:spcAft>
                <a:spcPts val="800"/>
              </a:spcAft>
              <a:buSzPts val="1000"/>
              <a:tabLst>
                <a:tab pos="457200" algn="l"/>
              </a:tabLst>
            </a:pPr>
            <a:r>
              <a:rPr lang="en-AU" sz="1400" b="1" dirty="0">
                <a:latin typeface="+mj-lt"/>
              </a:rPr>
              <a:t>JORDACHE</a:t>
            </a:r>
            <a:r>
              <a:rPr lang="en-AU" sz="1400" i="1" dirty="0">
                <a:latin typeface="+mj-lt"/>
              </a:rPr>
              <a:t>, Energy and Movement, 2020</a:t>
            </a:r>
            <a:r>
              <a:rPr lang="en-AU" sz="1400" dirty="0">
                <a:latin typeface="+mj-lt"/>
              </a:rPr>
              <a:t>, oil on canvas  </a:t>
            </a:r>
            <a:endParaRPr lang="en-AU" sz="1400" kern="0" dirty="0">
              <a:effectLst/>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6782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B703052-03A3-52CA-6E5C-2FA23D74CAFC}"/>
              </a:ext>
            </a:extLst>
          </p:cNvPr>
          <p:cNvPicPr>
            <a:picLocks noChangeAspect="1"/>
          </p:cNvPicPr>
          <p:nvPr/>
        </p:nvPicPr>
        <p:blipFill>
          <a:blip r:embed="rId2"/>
          <a:stretch>
            <a:fillRect/>
          </a:stretch>
        </p:blipFill>
        <p:spPr>
          <a:xfrm>
            <a:off x="8687884" y="756716"/>
            <a:ext cx="3246665" cy="4680435"/>
          </a:xfrm>
          <a:prstGeom prst="rect">
            <a:avLst/>
          </a:prstGeom>
        </p:spPr>
      </p:pic>
      <p:pic>
        <p:nvPicPr>
          <p:cNvPr id="7" name="Picture 6">
            <a:extLst>
              <a:ext uri="{FF2B5EF4-FFF2-40B4-BE49-F238E27FC236}">
                <a16:creationId xmlns:a16="http://schemas.microsoft.com/office/drawing/2014/main" id="{3018193A-ECD0-0CD6-6ACE-D5BA778E54DB}"/>
              </a:ext>
            </a:extLst>
          </p:cNvPr>
          <p:cNvPicPr>
            <a:picLocks noChangeAspect="1"/>
          </p:cNvPicPr>
          <p:nvPr/>
        </p:nvPicPr>
        <p:blipFill>
          <a:blip r:embed="rId3"/>
          <a:stretch>
            <a:fillRect/>
          </a:stretch>
        </p:blipFill>
        <p:spPr>
          <a:xfrm>
            <a:off x="5820662" y="236719"/>
            <a:ext cx="2753109" cy="2791215"/>
          </a:xfrm>
          <a:prstGeom prst="rect">
            <a:avLst/>
          </a:prstGeom>
        </p:spPr>
      </p:pic>
      <p:pic>
        <p:nvPicPr>
          <p:cNvPr id="9" name="Picture 8">
            <a:extLst>
              <a:ext uri="{FF2B5EF4-FFF2-40B4-BE49-F238E27FC236}">
                <a16:creationId xmlns:a16="http://schemas.microsoft.com/office/drawing/2014/main" id="{F1627461-7271-99A0-F0F2-07949AB5018E}"/>
              </a:ext>
            </a:extLst>
          </p:cNvPr>
          <p:cNvPicPr>
            <a:picLocks noChangeAspect="1"/>
          </p:cNvPicPr>
          <p:nvPr/>
        </p:nvPicPr>
        <p:blipFill>
          <a:blip r:embed="rId4"/>
          <a:stretch>
            <a:fillRect/>
          </a:stretch>
        </p:blipFill>
        <p:spPr>
          <a:xfrm>
            <a:off x="6203800" y="3429000"/>
            <a:ext cx="2255859" cy="3079808"/>
          </a:xfrm>
          <a:prstGeom prst="rect">
            <a:avLst/>
          </a:prstGeom>
        </p:spPr>
      </p:pic>
      <p:sp>
        <p:nvSpPr>
          <p:cNvPr id="10" name="TextBox 9">
            <a:extLst>
              <a:ext uri="{FF2B5EF4-FFF2-40B4-BE49-F238E27FC236}">
                <a16:creationId xmlns:a16="http://schemas.microsoft.com/office/drawing/2014/main" id="{44F82671-7FE5-AC90-C62A-FC5D2CD968E2}"/>
              </a:ext>
            </a:extLst>
          </p:cNvPr>
          <p:cNvSpPr txBox="1"/>
          <p:nvPr/>
        </p:nvSpPr>
        <p:spPr>
          <a:xfrm>
            <a:off x="257450" y="212181"/>
            <a:ext cx="5449099" cy="3098721"/>
          </a:xfrm>
          <a:prstGeom prst="round2DiagRect">
            <a:avLst/>
          </a:prstGeom>
          <a:solidFill>
            <a:srgbClr val="FFFFCC"/>
          </a:solidFill>
          <a:ln w="12700">
            <a:solidFill>
              <a:schemeClr val="tx1"/>
            </a:solidFill>
            <a:prstDash val="dash"/>
          </a:ln>
        </p:spPr>
        <p:txBody>
          <a:bodyPr wrap="square" rtlCol="0">
            <a:spAutoFit/>
          </a:bodyPr>
          <a:lstStyle/>
          <a:p>
            <a:pPr>
              <a:buNone/>
            </a:pPr>
            <a:r>
              <a:rPr lang="en-US" sz="1600" b="1" dirty="0">
                <a:latin typeface="+mj-lt"/>
              </a:rPr>
              <a:t>Inquiry Process:</a:t>
            </a:r>
          </a:p>
          <a:p>
            <a:endParaRPr lang="en-US" sz="1600" i="1" dirty="0"/>
          </a:p>
          <a:p>
            <a:r>
              <a:rPr lang="en-US" sz="1600" i="1" dirty="0"/>
              <a:t>Developing:</a:t>
            </a:r>
            <a:r>
              <a:rPr lang="en-US" sz="1600" dirty="0"/>
              <a:t> Mapped personal and ancestral paths</a:t>
            </a:r>
          </a:p>
          <a:p>
            <a:endParaRPr lang="en-US" sz="1600" i="1" dirty="0"/>
          </a:p>
          <a:p>
            <a:r>
              <a:rPr lang="en-US" sz="1600" i="1" dirty="0"/>
              <a:t>Researching:</a:t>
            </a:r>
            <a:r>
              <a:rPr lang="en-US" sz="1600" dirty="0"/>
              <a:t> Used social histories and archival records</a:t>
            </a:r>
          </a:p>
          <a:p>
            <a:endParaRPr lang="en-US" sz="1600" i="1" dirty="0"/>
          </a:p>
          <a:p>
            <a:r>
              <a:rPr lang="en-US" sz="1600" i="1" dirty="0"/>
              <a:t>Reflecting:</a:t>
            </a:r>
            <a:r>
              <a:rPr lang="en-US" sz="1600" dirty="0"/>
              <a:t> Considered how memory resists traditional data structures</a:t>
            </a:r>
          </a:p>
          <a:p>
            <a:endParaRPr lang="en-US" sz="1600" i="1" dirty="0"/>
          </a:p>
          <a:p>
            <a:r>
              <a:rPr lang="en-US" sz="1600" i="1" dirty="0"/>
              <a:t>Resolving:</a:t>
            </a:r>
            <a:r>
              <a:rPr lang="en-US" sz="1600" dirty="0"/>
              <a:t> Produced abstract works that blur cartography, identity, and statistics</a:t>
            </a:r>
          </a:p>
        </p:txBody>
      </p:sp>
      <p:sp>
        <p:nvSpPr>
          <p:cNvPr id="11" name="TextBox 10">
            <a:extLst>
              <a:ext uri="{FF2B5EF4-FFF2-40B4-BE49-F238E27FC236}">
                <a16:creationId xmlns:a16="http://schemas.microsoft.com/office/drawing/2014/main" id="{4D2F3D2D-960D-1308-DFCC-BC1E4A9E5B1A}"/>
              </a:ext>
            </a:extLst>
          </p:cNvPr>
          <p:cNvSpPr txBox="1"/>
          <p:nvPr/>
        </p:nvSpPr>
        <p:spPr>
          <a:xfrm>
            <a:off x="2981999" y="3534569"/>
            <a:ext cx="2613439" cy="1328023"/>
          </a:xfrm>
          <a:prstGeom prst="round2DiagRect">
            <a:avLst/>
          </a:prstGeom>
          <a:noFill/>
          <a:ln w="12700">
            <a:solidFill>
              <a:schemeClr val="tx1"/>
            </a:solidFill>
            <a:prstDash val="dash"/>
          </a:ln>
        </p:spPr>
        <p:txBody>
          <a:bodyPr wrap="square" rtlCol="0">
            <a:spAutoFit/>
          </a:bodyPr>
          <a:lstStyle/>
          <a:p>
            <a:r>
              <a:rPr lang="en-AU" sz="1600" b="1" kern="0" dirty="0">
                <a:effectLst/>
                <a:latin typeface="+mj-lt"/>
                <a:ea typeface="Times New Roman" panose="02020603050405020304" pitchFamily="18" charset="0"/>
                <a:cs typeface="Times New Roman" panose="02020603050405020304" pitchFamily="18" charset="0"/>
              </a:rPr>
              <a:t>Formal Context: </a:t>
            </a:r>
            <a:r>
              <a:rPr lang="en-US" sz="1400" dirty="0"/>
              <a:t>Uses abstract linework, spatial layering, and non-linear flow to suggest data while resisting rigid structure.</a:t>
            </a:r>
          </a:p>
        </p:txBody>
      </p:sp>
      <p:sp>
        <p:nvSpPr>
          <p:cNvPr id="12" name="TextBox 11">
            <a:extLst>
              <a:ext uri="{FF2B5EF4-FFF2-40B4-BE49-F238E27FC236}">
                <a16:creationId xmlns:a16="http://schemas.microsoft.com/office/drawing/2014/main" id="{4663A858-3A8B-4FEE-D9AF-9576B265E797}"/>
              </a:ext>
            </a:extLst>
          </p:cNvPr>
          <p:cNvSpPr txBox="1"/>
          <p:nvPr/>
        </p:nvSpPr>
        <p:spPr>
          <a:xfrm>
            <a:off x="3031392" y="5086259"/>
            <a:ext cx="2564046" cy="1566386"/>
          </a:xfrm>
          <a:prstGeom prst="round2DiagRect">
            <a:avLst/>
          </a:prstGeom>
          <a:noFill/>
          <a:ln w="12700">
            <a:solidFill>
              <a:schemeClr val="tx1"/>
            </a:solidFill>
            <a:prstDash val="dash"/>
          </a:ln>
        </p:spPr>
        <p:txBody>
          <a:bodyPr wrap="square" rtlCol="0">
            <a:spAutoFit/>
          </a:bodyPr>
          <a:lstStyle/>
          <a:p>
            <a:r>
              <a:rPr lang="en-AU" sz="1600" b="1" kern="0" dirty="0">
                <a:latin typeface="+mj-lt"/>
                <a:ea typeface="Times New Roman" panose="02020603050405020304" pitchFamily="18" charset="0"/>
                <a:cs typeface="Times New Roman" panose="02020603050405020304" pitchFamily="18" charset="0"/>
              </a:rPr>
              <a:t>Cultural </a:t>
            </a:r>
            <a:r>
              <a:rPr lang="en-AU" sz="1600" b="1" kern="0" dirty="0">
                <a:effectLst/>
                <a:latin typeface="+mj-lt"/>
                <a:ea typeface="Times New Roman" panose="02020603050405020304" pitchFamily="18" charset="0"/>
                <a:cs typeface="Times New Roman" panose="02020603050405020304" pitchFamily="18" charset="0"/>
              </a:rPr>
              <a:t>Context: </a:t>
            </a:r>
            <a:r>
              <a:rPr lang="en-US" sz="1400" dirty="0"/>
              <a:t>Engages with the complexities of queer identity and migration, challenging how systems traditionally </a:t>
            </a:r>
            <a:r>
              <a:rPr lang="en-US" sz="1400" dirty="0" err="1"/>
              <a:t>visualise</a:t>
            </a:r>
            <a:r>
              <a:rPr lang="en-US" sz="1400" dirty="0"/>
              <a:t> or exclude personal histories.</a:t>
            </a:r>
          </a:p>
        </p:txBody>
      </p:sp>
      <p:cxnSp>
        <p:nvCxnSpPr>
          <p:cNvPr id="13" name="Straight Arrow Connector 12">
            <a:extLst>
              <a:ext uri="{FF2B5EF4-FFF2-40B4-BE49-F238E27FC236}">
                <a16:creationId xmlns:a16="http://schemas.microsoft.com/office/drawing/2014/main" id="{A04860DD-AB15-A411-7737-3469E6968192}"/>
              </a:ext>
            </a:extLst>
          </p:cNvPr>
          <p:cNvCxnSpPr>
            <a:cxnSpLocks/>
          </p:cNvCxnSpPr>
          <p:nvPr/>
        </p:nvCxnSpPr>
        <p:spPr>
          <a:xfrm flipH="1" flipV="1">
            <a:off x="5385392" y="4055297"/>
            <a:ext cx="577341" cy="121233"/>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E80541F2-35E8-6DBD-9EA1-D19BC8A08792}"/>
              </a:ext>
            </a:extLst>
          </p:cNvPr>
          <p:cNvCxnSpPr>
            <a:cxnSpLocks/>
          </p:cNvCxnSpPr>
          <p:nvPr/>
        </p:nvCxnSpPr>
        <p:spPr>
          <a:xfrm flipH="1">
            <a:off x="5456368" y="5606987"/>
            <a:ext cx="506365" cy="272468"/>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18" name="TextBox 2">
            <a:extLst>
              <a:ext uri="{FF2B5EF4-FFF2-40B4-BE49-F238E27FC236}">
                <a16:creationId xmlns:a16="http://schemas.microsoft.com/office/drawing/2014/main" id="{B427BC79-3FED-EE4A-16B5-CE6A465BB999}"/>
              </a:ext>
            </a:extLst>
          </p:cNvPr>
          <p:cNvSpPr txBox="1"/>
          <p:nvPr/>
        </p:nvSpPr>
        <p:spPr>
          <a:xfrm rot="542012">
            <a:off x="222425" y="4071300"/>
            <a:ext cx="2683810" cy="1806249"/>
          </a:xfrm>
          <a:custGeom>
            <a:avLst/>
            <a:gdLst>
              <a:gd name="connsiteX0" fmla="*/ 0 w 2683810"/>
              <a:gd name="connsiteY0" fmla="*/ 903125 h 1806249"/>
              <a:gd name="connsiteX1" fmla="*/ 1341905 w 2683810"/>
              <a:gd name="connsiteY1" fmla="*/ 0 h 1806249"/>
              <a:gd name="connsiteX2" fmla="*/ 2683810 w 2683810"/>
              <a:gd name="connsiteY2" fmla="*/ 903125 h 1806249"/>
              <a:gd name="connsiteX3" fmla="*/ 1341905 w 2683810"/>
              <a:gd name="connsiteY3" fmla="*/ 1806250 h 1806249"/>
              <a:gd name="connsiteX4" fmla="*/ 0 w 2683810"/>
              <a:gd name="connsiteY4" fmla="*/ 903125 h 1806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810" h="1806249" fill="none" extrusionOk="0">
                <a:moveTo>
                  <a:pt x="0" y="903125"/>
                </a:moveTo>
                <a:cubicBezTo>
                  <a:pt x="-123509" y="353742"/>
                  <a:pt x="575447" y="45797"/>
                  <a:pt x="1341905" y="0"/>
                </a:cubicBezTo>
                <a:cubicBezTo>
                  <a:pt x="2125006" y="48212"/>
                  <a:pt x="2728011" y="449529"/>
                  <a:pt x="2683810" y="903125"/>
                </a:cubicBezTo>
                <a:cubicBezTo>
                  <a:pt x="2555193" y="1362493"/>
                  <a:pt x="2156469" y="1891074"/>
                  <a:pt x="1341905" y="1806250"/>
                </a:cubicBezTo>
                <a:cubicBezTo>
                  <a:pt x="553534" y="1870143"/>
                  <a:pt x="-27787" y="1376419"/>
                  <a:pt x="0" y="903125"/>
                </a:cubicBezTo>
                <a:close/>
              </a:path>
              <a:path w="2683810" h="1806249" stroke="0" extrusionOk="0">
                <a:moveTo>
                  <a:pt x="0" y="903125"/>
                </a:moveTo>
                <a:cubicBezTo>
                  <a:pt x="61914" y="313215"/>
                  <a:pt x="715964" y="180526"/>
                  <a:pt x="1341905" y="0"/>
                </a:cubicBezTo>
                <a:cubicBezTo>
                  <a:pt x="2038159" y="-124869"/>
                  <a:pt x="2748081" y="442787"/>
                  <a:pt x="2683810" y="903125"/>
                </a:cubicBezTo>
                <a:cubicBezTo>
                  <a:pt x="2680407" y="1364774"/>
                  <a:pt x="1901720" y="1887909"/>
                  <a:pt x="1341905" y="1806250"/>
                </a:cubicBezTo>
                <a:cubicBezTo>
                  <a:pt x="588678" y="1748135"/>
                  <a:pt x="15206" y="1423835"/>
                  <a:pt x="0" y="903125"/>
                </a:cubicBezTo>
                <a:close/>
              </a:path>
            </a:pathLst>
          </a:custGeom>
          <a:solidFill>
            <a:schemeClr val="bg1"/>
          </a:solidFill>
          <a:ln>
            <a:solidFill>
              <a:schemeClr val="tx1"/>
            </a:solidFill>
            <a:extLst>
              <a:ext uri="{C807C97D-BFC1-408E-A445-0C87EB9F89A2}">
                <ask:lineSketchStyleProps xmlns:ask="http://schemas.microsoft.com/office/drawing/2018/sketchyshapes" sd="1617256088">
                  <a:prstGeom prst="flowChartConnector">
                    <a:avLst/>
                  </a:prstGeom>
                  <ask:type>
                    <ask:lineSketchScribble/>
                  </ask:type>
                </ask:lineSketchStyleProps>
              </a:ext>
            </a:extLst>
          </a:ln>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dirty="0">
                <a:latin typeface="+mj-lt"/>
              </a:rPr>
              <a:t>How does Ellapen use abstract line and mapping to represent identity and movement as data?</a:t>
            </a:r>
          </a:p>
          <a:p>
            <a:pPr algn="ctr"/>
            <a:endParaRPr lang="en-AU" sz="2000" b="1" i="1" dirty="0">
              <a:latin typeface="+mj-lt"/>
            </a:endParaRPr>
          </a:p>
        </p:txBody>
      </p:sp>
    </p:spTree>
    <p:extLst>
      <p:ext uri="{BB962C8B-B14F-4D97-AF65-F5344CB8AC3E}">
        <p14:creationId xmlns:p14="http://schemas.microsoft.com/office/powerpoint/2010/main" val="37497564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9b8a18a-7af3-4931-9d08-29df45da2bd9}" enabled="0" method="" siteId="{49b8a18a-7af3-4931-9d08-29df45da2bd9}" removed="1"/>
</clbl:labelList>
</file>

<file path=docProps/app.xml><?xml version="1.0" encoding="utf-8"?>
<Properties xmlns="http://schemas.openxmlformats.org/officeDocument/2006/extended-properties" xmlns:vt="http://schemas.openxmlformats.org/officeDocument/2006/docPropsVTypes">
  <TotalTime>38</TotalTime>
  <Words>453</Words>
  <Application>Microsoft Office PowerPoint</Application>
  <PresentationFormat>Widescreen</PresentationFormat>
  <Paragraphs>57</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vector>
  </TitlesOfParts>
  <Company>The Southport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Jacqueline Ockwell</dc:creator>
  <cp:lastModifiedBy>Jacqueline Ockwell</cp:lastModifiedBy>
  <cp:revision>1</cp:revision>
  <dcterms:created xsi:type="dcterms:W3CDTF">2025-04-25T05:47:05Z</dcterms:created>
  <dcterms:modified xsi:type="dcterms:W3CDTF">2025-04-25T06:26:02Z</dcterms:modified>
</cp:coreProperties>
</file>
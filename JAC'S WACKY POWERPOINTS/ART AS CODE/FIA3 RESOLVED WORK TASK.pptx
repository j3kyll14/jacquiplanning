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E3D"/>
    <a:srgbClr val="BAA6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092E-9C6F-A356-014A-10FC9EC46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D0E65-83D5-9B95-CFDF-34C0F4819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791E2-9842-DC29-7210-0993116E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EB75E-5646-B771-2BA9-870AE5EC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998C2-4C26-79EF-361D-3E6D4A24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59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7A82-5E02-F429-2D1C-36E3BA05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FA3E-4E0D-6EDD-ADD0-949DF4765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18F05-0627-0C95-9438-BDA418C0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DC2A3-5DE6-422E-2A7B-0BAC9C90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286C1-F302-28DC-F157-40260BB5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55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12D6-3EC0-528E-7AC1-7E3ADEFB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AB9A-B996-F10D-8751-67969D18F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669FA-4381-63C3-C27E-5DF1339B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E8B3D-FDFF-B275-0FDD-D4ED113D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DB83-E304-D22B-5659-F503A2F1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89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946F-38FB-C1F2-DF2D-54C51E22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8872-F6E6-F29C-9093-B1D5AED85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2EB3F-208B-D2BE-64C4-351299BAE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CA44F-AA3C-75F4-CE6E-8901E532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009ED-FD40-D825-34DC-64B107F3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0E1A3-CED0-22F1-70D9-E3FC00FD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93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A2EF-4B77-0D15-ECEE-148C385F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7DABF-D5BA-13DD-F3BA-A1EFF4B4F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AFE4D-0F77-996D-92F8-382FE8D3A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20385-34B6-0E4D-BEC5-137D20AB0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6C3B4-506F-1CEE-7018-F2C85824F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22245-8FD5-CB99-6B69-840CF387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D4294-5CCC-2697-A72F-5FEE7868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AE970-FE1A-B27B-A0B4-B5A0AB3C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44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AD6C-B018-993E-5F0C-2E9918E0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74F73-9DBB-955D-A4E6-D6FA215F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4BC36-5A00-FD07-D229-203CEE8F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514ED-02B7-437F-6680-7402DA74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29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84230-CFEC-B2C3-6C5C-2D0D6B37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2A4632-4578-C0F9-38CE-FBE8BD7A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3F61A-DD88-F0C5-E426-64BF07F0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5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E3D4-361E-0E74-9C99-9DCD4C84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E9141-B17F-5C07-7F88-4FB6E6102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CE29C-8D94-C4D5-169D-CC761BD06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3D258-6E28-FDF8-1FEF-B25DCFF3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B4F4F-9AA0-3C98-2A93-8CEBC4D7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1D251-D372-E133-9DA0-91A09EB6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354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8CC5-5C5D-1247-FB13-854E1C00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9578D-CBB5-134C-1EE7-0226BB200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632BB-7104-7702-D617-DCC0EE944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F1E07-E6E5-60E5-1A74-23F2E0C2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38808-2DF2-5960-AA32-C0E4908B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E99CC-823C-E858-227E-7DA2A34C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03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36B6-AD9B-D59D-A61A-6BE75761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C1FB5-75FC-1973-B32B-A1B0AE5C8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99F04-12C7-54C6-5D24-8D69EC8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2574D-9554-A156-D94B-7A90BD79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6BB3B-A60D-73E8-EC24-74F4538D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72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72E03-1624-1E6C-1780-B5FEB077A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846FD-99AD-8767-4B3C-04BC226EB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1DFBF-DBD4-CB87-83E9-4DF22F61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A8A0A-B3A8-C73E-127A-D75D9BE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BDF2A-9306-F92A-CACA-B0B92A50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94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B7E21-0095-9018-0222-519E317F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7868E-DA45-F250-1350-5A425FE6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17EA1-7DB8-15B7-1ADE-779F44382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2518D-5349-420D-B04E-484BE72D9507}" type="datetimeFigureOut">
              <a:rPr lang="en-AU" smtClean="0"/>
              <a:t>28/07/2025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3DC7-D925-1477-87DF-1E9B8059E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56E26-8519-7D9F-787B-BA91E3BA2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047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D708-A06D-3DFB-9A03-B610D1D2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276698"/>
            <a:ext cx="5139912" cy="1126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0C73EA-017D-6DB6-7886-E006298F3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5901"/>
            <a:ext cx="12192000" cy="31120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90CCDF-DC31-F749-4ABD-DC5720D6A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833" y="1907253"/>
            <a:ext cx="7925397" cy="88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94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4C5C7-14CE-28F3-3E25-C17CA44D6B9A}"/>
              </a:ext>
            </a:extLst>
          </p:cNvPr>
          <p:cNvSpPr txBox="1"/>
          <p:nvPr/>
        </p:nvSpPr>
        <p:spPr>
          <a:xfrm>
            <a:off x="818982" y="1516620"/>
            <a:ext cx="5041669" cy="4492294"/>
          </a:xfrm>
          <a:prstGeom prst="round2DiagRect">
            <a:avLst/>
          </a:prstGeom>
          <a:solidFill>
            <a:srgbClr val="BAA673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u="sng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b="1" kern="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Create one resolved artwork based on your experiments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Duration: </a:t>
            </a:r>
            <a:r>
              <a:rPr lang="en-US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 weeks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Media: </a:t>
            </a:r>
            <a:r>
              <a:rPr lang="en-US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Your choice – 2D, 3D, or time-based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 codes, symbols and signs to communicate ideas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b="1" kern="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i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You must submit your own unique and original response</a:t>
            </a:r>
            <a:endParaRPr lang="en-AU" sz="1600" i="1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14F54-15B9-5C1F-5F42-6E338B0D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827" y="145584"/>
            <a:ext cx="6668431" cy="743054"/>
          </a:xfrm>
          <a:prstGeom prst="rect">
            <a:avLst/>
          </a:prstGeom>
        </p:spPr>
      </p:pic>
      <p:pic>
        <p:nvPicPr>
          <p:cNvPr id="1027" name="Picture 3" descr="This may contain: a computer keyboard with many different types of keys and numbers on the backgroud">
            <a:extLst>
              <a:ext uri="{FF2B5EF4-FFF2-40B4-BE49-F238E27FC236}">
                <a16:creationId xmlns:a16="http://schemas.microsoft.com/office/drawing/2014/main" id="{7A5F7F23-686D-E999-DC1D-125F09A3E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658" y="1268571"/>
            <a:ext cx="3380840" cy="480435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956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491109-0B78-4CB0-794B-4CD8B87E6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6" y="161676"/>
            <a:ext cx="2324424" cy="82879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03B533-20BC-CC29-3B2E-1AEAF3FE05CA}"/>
              </a:ext>
            </a:extLst>
          </p:cNvPr>
          <p:cNvSpPr/>
          <p:nvPr/>
        </p:nvSpPr>
        <p:spPr>
          <a:xfrm>
            <a:off x="471378" y="2135051"/>
            <a:ext cx="1776059" cy="2599310"/>
          </a:xfrm>
          <a:prstGeom prst="roundRect">
            <a:avLst/>
          </a:prstGeom>
          <a:solidFill>
            <a:srgbClr val="2B2E3D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Review</a:t>
            </a:r>
          </a:p>
          <a:p>
            <a:pPr algn="ctr"/>
            <a:r>
              <a:rPr lang="en-US" dirty="0"/>
              <a:t>Experimental  work from five teacher-directed focus areas.</a:t>
            </a:r>
            <a:endParaRPr lang="en-AU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8122BD-E537-9444-F3F0-8901C921FB38}"/>
              </a:ext>
            </a:extLst>
          </p:cNvPr>
          <p:cNvSpPr/>
          <p:nvPr/>
        </p:nvSpPr>
        <p:spPr>
          <a:xfrm>
            <a:off x="2976183" y="2126278"/>
            <a:ext cx="1629015" cy="2599310"/>
          </a:xfrm>
          <a:prstGeom prst="roundRect">
            <a:avLst/>
          </a:prstGeom>
          <a:solidFill>
            <a:srgbClr val="2B2E3D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Select</a:t>
            </a:r>
            <a:r>
              <a:rPr lang="en-US" dirty="0"/>
              <a:t> one area for extension to create a resolved artwork.</a:t>
            </a:r>
            <a:endParaRPr lang="en-AU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BC70B7-4BF7-D809-35A8-2E73845EF193}"/>
              </a:ext>
            </a:extLst>
          </p:cNvPr>
          <p:cNvSpPr/>
          <p:nvPr/>
        </p:nvSpPr>
        <p:spPr>
          <a:xfrm>
            <a:off x="5248002" y="2126278"/>
            <a:ext cx="1524110" cy="2599310"/>
          </a:xfrm>
          <a:prstGeom prst="roundRect">
            <a:avLst/>
          </a:prstGeom>
          <a:solidFill>
            <a:srgbClr val="2B2E3D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Inquiry Question:</a:t>
            </a:r>
            <a:r>
              <a:rPr lang="en-US" sz="2000" dirty="0"/>
              <a:t> </a:t>
            </a:r>
            <a:r>
              <a:rPr lang="en-US" dirty="0"/>
              <a:t>Establish a question related to the chosen focus to deepen inquiry.</a:t>
            </a:r>
            <a:endParaRPr lang="en-A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F5F8BB-3CB4-9040-5EDC-5055A345FF79}"/>
              </a:ext>
            </a:extLst>
          </p:cNvPr>
          <p:cNvSpPr/>
          <p:nvPr/>
        </p:nvSpPr>
        <p:spPr>
          <a:xfrm>
            <a:off x="7540834" y="2135051"/>
            <a:ext cx="1524111" cy="2599310"/>
          </a:xfrm>
          <a:prstGeom prst="roundRect">
            <a:avLst/>
          </a:prstGeom>
          <a:solidFill>
            <a:srgbClr val="2B2E3D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Research:</a:t>
            </a:r>
            <a:r>
              <a:rPr lang="en-US" sz="2000" dirty="0"/>
              <a:t> </a:t>
            </a:r>
            <a:r>
              <a:rPr lang="en-US" dirty="0"/>
              <a:t>Explore new ideas and test alternate solutions to extend knowledge.</a:t>
            </a:r>
            <a:endParaRPr lang="en-AU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9FD893-9FBD-90EB-06EA-C1D3870C162F}"/>
              </a:ext>
            </a:extLst>
          </p:cNvPr>
          <p:cNvSpPr/>
          <p:nvPr/>
        </p:nvSpPr>
        <p:spPr>
          <a:xfrm>
            <a:off x="9833666" y="2129345"/>
            <a:ext cx="1776059" cy="2599310"/>
          </a:xfrm>
          <a:prstGeom prst="roundRect">
            <a:avLst/>
          </a:prstGeom>
          <a:solidFill>
            <a:srgbClr val="2B2E3D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Create </a:t>
            </a:r>
            <a:r>
              <a:rPr lang="en-US" dirty="0"/>
              <a:t>one resolved work that shows your thinking and skills  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BB4E15-DC05-5E9F-2F71-422F3092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4" y="1393864"/>
            <a:ext cx="400106" cy="628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C4DE10-8FC1-9592-A3BE-B349360B8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337" y="1382133"/>
            <a:ext cx="676369" cy="6954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2A186E-08EE-F255-1968-EA13464C3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002" y="1327180"/>
            <a:ext cx="581106" cy="6287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60EB4F-305A-5D3B-75F9-FBD0E8768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834" y="1327180"/>
            <a:ext cx="685896" cy="695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545658-A418-614E-FB1B-5A1A12837A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9213" y="1308127"/>
            <a:ext cx="590632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8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AB506-8A12-0068-0252-9EB2B6CCA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6" y="161676"/>
            <a:ext cx="2324424" cy="828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9F1051-5D0A-A2CB-2544-C7C0442FFD37}"/>
              </a:ext>
            </a:extLst>
          </p:cNvPr>
          <p:cNvSpPr txBox="1"/>
          <p:nvPr/>
        </p:nvSpPr>
        <p:spPr>
          <a:xfrm>
            <a:off x="274500" y="1986277"/>
            <a:ext cx="5166689" cy="439269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Choose a Focus Area</a:t>
            </a:r>
          </a:p>
          <a:p>
            <a:br>
              <a:rPr lang="en-US" sz="1600" dirty="0"/>
            </a:br>
            <a:r>
              <a:rPr lang="en-US" dirty="0"/>
              <a:t>Choose </a:t>
            </a:r>
            <a:r>
              <a:rPr lang="en-US" b="1" dirty="0"/>
              <a:t>one</a:t>
            </a:r>
            <a:r>
              <a:rPr lang="en-US" dirty="0"/>
              <a:t> of the following focus areas to extend into a resolved work:</a:t>
            </a:r>
          </a:p>
          <a:p>
            <a:endParaRPr lang="en-US" dirty="0"/>
          </a:p>
          <a:p>
            <a:r>
              <a:rPr lang="en-US" b="1" dirty="0"/>
              <a:t>Cultural signals</a:t>
            </a:r>
            <a:r>
              <a:rPr lang="en-US" dirty="0"/>
              <a:t> – Cultural &amp; formal context</a:t>
            </a:r>
          </a:p>
          <a:p>
            <a:r>
              <a:rPr lang="en-US" b="1" dirty="0"/>
              <a:t>Gender-specific</a:t>
            </a:r>
            <a:r>
              <a:rPr lang="en-US" dirty="0"/>
              <a:t> – Cultural context</a:t>
            </a:r>
          </a:p>
          <a:p>
            <a:r>
              <a:rPr lang="en-US" b="1" dirty="0"/>
              <a:t>Repetition</a:t>
            </a:r>
            <a:r>
              <a:rPr lang="en-US" dirty="0"/>
              <a:t> – Formal context</a:t>
            </a:r>
          </a:p>
          <a:p>
            <a:r>
              <a:rPr lang="en-US" b="1" dirty="0"/>
              <a:t>Changing</a:t>
            </a:r>
            <a:r>
              <a:rPr lang="en-US" dirty="0"/>
              <a:t> – Formal context</a:t>
            </a:r>
          </a:p>
          <a:p>
            <a:r>
              <a:rPr lang="en-US" b="1" dirty="0"/>
              <a:t>Abstracted land</a:t>
            </a:r>
            <a:r>
              <a:rPr lang="en-US" dirty="0"/>
              <a:t> – Cultural &amp; formal context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b="1" i="1" dirty="0"/>
              <a:t>Pick the one that best connects with your ideas and media!</a:t>
            </a: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025F23AA-2332-54D1-E129-5EDD48155F5F}"/>
              </a:ext>
            </a:extLst>
          </p:cNvPr>
          <p:cNvSpPr/>
          <p:nvPr/>
        </p:nvSpPr>
        <p:spPr>
          <a:xfrm>
            <a:off x="5444764" y="828629"/>
            <a:ext cx="2090058" cy="1540574"/>
          </a:xfrm>
          <a:prstGeom prst="teardrop">
            <a:avLst>
              <a:gd name="adj" fmla="val 93378"/>
            </a:avLst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Cultural signals</a:t>
            </a:r>
            <a:r>
              <a:rPr lang="en-AU" dirty="0"/>
              <a:t> - Cultural and formal context</a:t>
            </a: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C35AF2D8-6D40-8B7C-E26D-8B316C69058F}"/>
              </a:ext>
            </a:extLst>
          </p:cNvPr>
          <p:cNvSpPr/>
          <p:nvPr/>
        </p:nvSpPr>
        <p:spPr>
          <a:xfrm rot="1002857" flipH="1">
            <a:off x="6677709" y="4041583"/>
            <a:ext cx="1697201" cy="1556114"/>
          </a:xfrm>
          <a:prstGeom prst="teardrop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Gender-specific</a:t>
            </a:r>
            <a:r>
              <a:rPr lang="en-AU" dirty="0"/>
              <a:t> - Cultural context</a:t>
            </a:r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95AC2768-F4B3-4D09-0441-2F34128EA650}"/>
              </a:ext>
            </a:extLst>
          </p:cNvPr>
          <p:cNvSpPr/>
          <p:nvPr/>
        </p:nvSpPr>
        <p:spPr>
          <a:xfrm rot="641794" flipH="1">
            <a:off x="8024634" y="1905784"/>
            <a:ext cx="1886298" cy="1764892"/>
          </a:xfrm>
          <a:prstGeom prst="teardrop">
            <a:avLst>
              <a:gd name="adj" fmla="val 96401"/>
            </a:avLst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/>
              <a:t>Repetition</a:t>
            </a:r>
            <a:r>
              <a:rPr lang="en-AU"/>
              <a:t> - Formal context</a:t>
            </a:r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67E5E69F-7FA9-856A-A042-0A28827EF8CB}"/>
              </a:ext>
            </a:extLst>
          </p:cNvPr>
          <p:cNvSpPr/>
          <p:nvPr/>
        </p:nvSpPr>
        <p:spPr>
          <a:xfrm rot="20349653">
            <a:off x="9184475" y="4744597"/>
            <a:ext cx="1752833" cy="1540574"/>
          </a:xfrm>
          <a:prstGeom prst="teardrop">
            <a:avLst>
              <a:gd name="adj" fmla="val 99628"/>
            </a:avLst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Changing</a:t>
            </a:r>
            <a:r>
              <a:rPr lang="en-AU" dirty="0"/>
              <a:t> - Formal context</a:t>
            </a:r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751503F2-C031-61A5-FE37-375270D73E05}"/>
              </a:ext>
            </a:extLst>
          </p:cNvPr>
          <p:cNvSpPr/>
          <p:nvPr/>
        </p:nvSpPr>
        <p:spPr>
          <a:xfrm rot="20840500" flipH="1">
            <a:off x="9955970" y="538772"/>
            <a:ext cx="1886298" cy="1764892"/>
          </a:xfrm>
          <a:prstGeom prst="teardrop">
            <a:avLst>
              <a:gd name="adj" fmla="val 96401"/>
            </a:avLst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Abstracted land</a:t>
            </a:r>
            <a:r>
              <a:rPr lang="en-US" dirty="0"/>
              <a:t> - Cultural and formal context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774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C30622-185E-5638-1624-6253F3CC920A}"/>
              </a:ext>
            </a:extLst>
          </p:cNvPr>
          <p:cNvSpPr txBox="1"/>
          <p:nvPr/>
        </p:nvSpPr>
        <p:spPr>
          <a:xfrm>
            <a:off x="404888" y="449431"/>
            <a:ext cx="3464981" cy="595913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Develop Your Inquiry Question</a:t>
            </a:r>
          </a:p>
          <a:p>
            <a:br>
              <a:rPr lang="en-US" sz="1600" dirty="0"/>
            </a:br>
            <a:r>
              <a:rPr lang="en-US" sz="1600" dirty="0"/>
              <a:t>Your inquiry question guides your concept. It must be open-ended and personal!</a:t>
            </a:r>
          </a:p>
          <a:p>
            <a:endParaRPr lang="en-US" sz="1600" b="1" dirty="0"/>
          </a:p>
          <a:p>
            <a:r>
              <a:rPr lang="en-US" sz="1600" b="1" dirty="0"/>
              <a:t>Examples:</a:t>
            </a:r>
            <a:endParaRPr lang="en-US" sz="1600" dirty="0"/>
          </a:p>
          <a:p>
            <a:r>
              <a:rPr lang="en-US" sz="1600" dirty="0"/>
              <a:t>How can art represent change in the natural world?</a:t>
            </a:r>
          </a:p>
          <a:p>
            <a:endParaRPr lang="en-US" sz="1600" dirty="0"/>
          </a:p>
          <a:p>
            <a:r>
              <a:rPr lang="en-US" sz="1600" dirty="0"/>
              <a:t>How can artists use repetition to express memory or time?</a:t>
            </a:r>
          </a:p>
          <a:p>
            <a:endParaRPr lang="en-US" sz="1600" dirty="0"/>
          </a:p>
          <a:p>
            <a:r>
              <a:rPr lang="en-US" sz="1600" dirty="0"/>
              <a:t>In what ways can abstraction reflect a connection to land?</a:t>
            </a:r>
          </a:p>
          <a:p>
            <a:endParaRPr lang="en-US" sz="1600" dirty="0"/>
          </a:p>
          <a:p>
            <a:r>
              <a:rPr lang="en-US" sz="1600" dirty="0"/>
              <a:t>How can symbols challenge gender expectations in society?</a:t>
            </a:r>
          </a:p>
          <a:p>
            <a:endParaRPr lang="en-US" sz="1600" dirty="0"/>
          </a:p>
          <a:p>
            <a:r>
              <a:rPr lang="en-US" sz="1600" dirty="0"/>
              <a:t>How can </a:t>
            </a:r>
            <a:r>
              <a:rPr lang="en-US" sz="1600" dirty="0" err="1"/>
              <a:t>colour</a:t>
            </a:r>
            <a:r>
              <a:rPr lang="en-US" sz="1600" dirty="0"/>
              <a:t> communicate emotional or cultural meaning?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6297D-5BBC-A8DD-A528-D98A1D908E96}"/>
              </a:ext>
            </a:extLst>
          </p:cNvPr>
          <p:cNvSpPr txBox="1"/>
          <p:nvPr/>
        </p:nvSpPr>
        <p:spPr>
          <a:xfrm>
            <a:off x="4278086" y="629580"/>
            <a:ext cx="7646126" cy="5598840"/>
          </a:xfrm>
          <a:prstGeom prst="rect">
            <a:avLst/>
          </a:prstGeom>
          <a:solidFill>
            <a:srgbClr val="BAA673"/>
          </a:solidFill>
          <a:ln w="38100">
            <a:solidFill>
              <a:srgbClr val="2B2E3D"/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Some example inquiry questions….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Exploring Identity: How can visual art explore the complexities of personal and cultural identity?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Nature and Environment: In what ways can art reflect the relationship between humans and the natural environment?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Memory and Nostalgia: How can artists use visual elements to evoke feelings of memory and nostalgia?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Social and Political Commentary: How can art serve as a vehicle for social or political critique?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Emotion and Expression: How can different artistic techniques be used to convey a range of emotions?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Transformation and Change: How can art represent the concepts of transformation and change in life and society?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The Role of Technology: How has the advent of digital technology transformed traditional art forms and practices?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Cultural Heritage and Traditions: How can contemporary art honor and reinterpret cultural heritage and traditions?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Perception and Reality: How can art challenge or manipulate viewers' perceptions of reality?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Gender and Identity: How can art explore and challenge traditional notions of gender identity and roles?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The Influence of Media: How does the portrayal of beauty in media influence artistic representations of the human body?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The Human Condition: How can art explore the complexities of the human experience, including themes of struggle, joy, and resilience?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Space and Place: How can artists use space and place to convey a sense of belonging or displacement?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Abstract vs. Realism: How can the tension between abstraction and realism be explored in visual art?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a typeface="Calibri" panose="020F0502020204030204" pitchFamily="34" charset="0"/>
                <a:cs typeface="Calibri" panose="020F0502020204030204" pitchFamily="34" charset="0"/>
              </a:rPr>
              <a:t>The Power of Symbols: How can symbols be used to communicate complex ideas and narratives in art?</a:t>
            </a:r>
          </a:p>
        </p:txBody>
      </p:sp>
    </p:spTree>
    <p:extLst>
      <p:ext uri="{BB962C8B-B14F-4D97-AF65-F5344CB8AC3E}">
        <p14:creationId xmlns:p14="http://schemas.microsoft.com/office/powerpoint/2010/main" val="208243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94262-8E5C-080D-BA75-D56BB140B04F}"/>
              </a:ext>
            </a:extLst>
          </p:cNvPr>
          <p:cNvSpPr txBox="1"/>
          <p:nvPr/>
        </p:nvSpPr>
        <p:spPr>
          <a:xfrm>
            <a:off x="355902" y="296227"/>
            <a:ext cx="6632727" cy="6265545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What You Need to Do</a:t>
            </a:r>
            <a:endParaRPr lang="en-US" sz="2000" u="sng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Select</a:t>
            </a:r>
            <a:r>
              <a:rPr lang="en-US" dirty="0"/>
              <a:t> one experimental focus to extend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Develop</a:t>
            </a:r>
            <a:r>
              <a:rPr lang="en-US" dirty="0"/>
              <a:t> an inquiry question that guides your idea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Research</a:t>
            </a:r>
            <a:r>
              <a:rPr lang="en-US" dirty="0"/>
              <a:t> artists, symbols, and techniques to support your concept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Create</a:t>
            </a:r>
            <a:r>
              <a:rPr lang="en-US" dirty="0"/>
              <a:t> one resolved work that shows your thinking and skill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Reflect</a:t>
            </a:r>
            <a:r>
              <a:rPr lang="en-US" dirty="0"/>
              <a:t> on the process using your visual journey and annotations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Write</a:t>
            </a:r>
            <a:r>
              <a:rPr lang="en-US" dirty="0"/>
              <a:t> a 200-word artist statement to explain your intentions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Choose</a:t>
            </a:r>
            <a:r>
              <a:rPr lang="en-US" dirty="0"/>
              <a:t> 2–3 experiments to include in your assessment folio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DC4FD-4B00-E371-AA41-C1AE4BE2D2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r="16193"/>
          <a:stretch/>
        </p:blipFill>
        <p:spPr bwMode="auto">
          <a:xfrm>
            <a:off x="7811017" y="680667"/>
            <a:ext cx="3733283" cy="54966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750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8D2AB-9C93-5330-3AF1-DE25C6A3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BD9F9E-5AB5-8071-075D-9FBCC8A62ED9}"/>
              </a:ext>
            </a:extLst>
          </p:cNvPr>
          <p:cNvSpPr txBox="1"/>
          <p:nvPr/>
        </p:nvSpPr>
        <p:spPr>
          <a:xfrm>
            <a:off x="404888" y="248160"/>
            <a:ext cx="3513969" cy="316682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Supporting Evidence (3–5 slides)</a:t>
            </a:r>
            <a:br>
              <a:rPr lang="en-US" dirty="0"/>
            </a:br>
            <a:r>
              <a:rPr lang="en-US" sz="1600" dirty="0"/>
              <a:t>Include: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Sketches, thumbnails, annotated images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Notes, photographs, collected stimuli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Process work showing development and thinking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Reflections on what worked, changed, or improved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F55C1-046D-286C-6FFA-2C04CD9114FC}"/>
              </a:ext>
            </a:extLst>
          </p:cNvPr>
          <p:cNvSpPr txBox="1"/>
          <p:nvPr/>
        </p:nvSpPr>
        <p:spPr>
          <a:xfrm>
            <a:off x="6547757" y="218734"/>
            <a:ext cx="5484285" cy="313277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Artist Statement &amp; Final Presentation</a:t>
            </a:r>
            <a:endParaRPr lang="en-US" dirty="0"/>
          </a:p>
          <a:p>
            <a:r>
              <a:rPr lang="en-US" sz="1600" dirty="0"/>
              <a:t>Write a </a:t>
            </a:r>
            <a:r>
              <a:rPr lang="en-US" sz="1600" b="1" dirty="0"/>
              <a:t>200-word Artist Statement</a:t>
            </a:r>
            <a:r>
              <a:rPr lang="en-US" sz="1600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What is your inquiry?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What does the work communicate?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What challenges and changes occurred?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How did you resolve your ideas using media?</a:t>
            </a:r>
          </a:p>
          <a:p>
            <a:r>
              <a:rPr lang="en-US" sz="1600" dirty="0"/>
              <a:t>Include a clear photo of your final work</a:t>
            </a:r>
          </a:p>
          <a:p>
            <a:r>
              <a:rPr lang="en-US" sz="1600" dirty="0"/>
              <a:t>Annotate the final work with: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Developing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Researching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Reflecting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80D9E-04A4-FA1E-CC0C-6B40CBDE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93" y="4017286"/>
            <a:ext cx="4538401" cy="2547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4EB0D-1C6D-D962-01A7-73160B425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907" y="3805015"/>
            <a:ext cx="4917895" cy="2760043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40D3E07F-8522-645D-62BB-B6695D346D9F}"/>
              </a:ext>
            </a:extLst>
          </p:cNvPr>
          <p:cNvSpPr/>
          <p:nvPr/>
        </p:nvSpPr>
        <p:spPr>
          <a:xfrm rot="19484295">
            <a:off x="3027219" y="3228353"/>
            <a:ext cx="424543" cy="975564"/>
          </a:xfrm>
          <a:prstGeom prst="downArrow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2A9E4B7-E2A3-ADFC-6B0D-8F5E606D16B5}"/>
              </a:ext>
            </a:extLst>
          </p:cNvPr>
          <p:cNvSpPr/>
          <p:nvPr/>
        </p:nvSpPr>
        <p:spPr>
          <a:xfrm rot="19484295">
            <a:off x="9841676" y="3086035"/>
            <a:ext cx="424543" cy="975564"/>
          </a:xfrm>
          <a:prstGeom prst="downArrow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68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916E2-D98C-9970-83B3-51AE7CE5C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1" y="0"/>
            <a:ext cx="5106113" cy="800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3DE912-B47C-9D74-4A55-4872B9996A06}"/>
              </a:ext>
            </a:extLst>
          </p:cNvPr>
          <p:cNvSpPr txBox="1"/>
          <p:nvPr/>
        </p:nvSpPr>
        <p:spPr>
          <a:xfrm>
            <a:off x="710045" y="1897346"/>
            <a:ext cx="4542669" cy="347329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Start with a strong intention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Choose a focus area that inspires you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Keep documenting your process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Take risks and push your ideas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Use feedback from teacher and peers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Manage your time and ask questions</a:t>
            </a:r>
          </a:p>
        </p:txBody>
      </p:sp>
      <p:pic>
        <p:nvPicPr>
          <p:cNvPr id="11" name="Picture 2" descr="Wayfaring | Jacqueline Scotcher">
            <a:extLst>
              <a:ext uri="{FF2B5EF4-FFF2-40B4-BE49-F238E27FC236}">
                <a16:creationId xmlns:a16="http://schemas.microsoft.com/office/drawing/2014/main" id="{59157671-8123-B15E-B608-63E468F20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959" y="1100701"/>
            <a:ext cx="4542669" cy="511050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94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737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2025-07-28T02:36:41Z</dcterms:created>
  <dcterms:modified xsi:type="dcterms:W3CDTF">2025-07-28T07:49:21Z</dcterms:modified>
</cp:coreProperties>
</file>
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57" r:id="rId4"/>
    <p:sldId id="265" r:id="rId5"/>
    <p:sldId id="267" r:id="rId6"/>
    <p:sldId id="26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59" autoAdjust="0"/>
    <p:restoredTop sz="94660"/>
  </p:normalViewPr>
  <p:slideViewPr>
    <p:cSldViewPr snapToGrid="0">
      <p:cViewPr varScale="1">
        <p:scale>
          <a:sx n="59" d="100"/>
          <a:sy n="59" d="100"/>
        </p:scale>
        <p:origin x="78" y="8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queline Ockwell" userId="79a11ae1-9a6a-4dce-9c68-e7607b2827ec" providerId="ADAL" clId="{3A7A8014-5557-41D1-B9D2-73ED7BB483CE}"/>
    <pc:docChg chg="undo custSel modSld">
      <pc:chgData name="Jacqueline Ockwell" userId="79a11ae1-9a6a-4dce-9c68-e7607b2827ec" providerId="ADAL" clId="{3A7A8014-5557-41D1-B9D2-73ED7BB483CE}" dt="2025-04-25T02:28:13.215" v="5" actId="478"/>
      <pc:docMkLst>
        <pc:docMk/>
      </pc:docMkLst>
      <pc:sldChg chg="addSp delSp mod">
        <pc:chgData name="Jacqueline Ockwell" userId="79a11ae1-9a6a-4dce-9c68-e7607b2827ec" providerId="ADAL" clId="{3A7A8014-5557-41D1-B9D2-73ED7BB483CE}" dt="2025-04-25T02:27:56.599" v="1" actId="478"/>
        <pc:sldMkLst>
          <pc:docMk/>
          <pc:sldMk cId="4128378383" sldId="257"/>
        </pc:sldMkLst>
        <pc:picChg chg="add del">
          <ac:chgData name="Jacqueline Ockwell" userId="79a11ae1-9a6a-4dce-9c68-e7607b2827ec" providerId="ADAL" clId="{3A7A8014-5557-41D1-B9D2-73ED7BB483CE}" dt="2025-04-25T02:27:56.599" v="1" actId="478"/>
          <ac:picMkLst>
            <pc:docMk/>
            <pc:sldMk cId="4128378383" sldId="257"/>
            <ac:picMk id="5" creationId="{F2DD378A-02FA-D5B6-3F44-55533EAE3D10}"/>
          </ac:picMkLst>
        </pc:picChg>
      </pc:sldChg>
      <pc:sldChg chg="addSp delSp mod">
        <pc:chgData name="Jacqueline Ockwell" userId="79a11ae1-9a6a-4dce-9c68-e7607b2827ec" providerId="ADAL" clId="{3A7A8014-5557-41D1-B9D2-73ED7BB483CE}" dt="2025-04-25T02:28:13.215" v="5" actId="478"/>
        <pc:sldMkLst>
          <pc:docMk/>
          <pc:sldMk cId="4115079045" sldId="265"/>
        </pc:sldMkLst>
        <pc:spChg chg="add del">
          <ac:chgData name="Jacqueline Ockwell" userId="79a11ae1-9a6a-4dce-9c68-e7607b2827ec" providerId="ADAL" clId="{3A7A8014-5557-41D1-B9D2-73ED7BB483CE}" dt="2025-04-25T02:28:13.215" v="5" actId="478"/>
          <ac:spMkLst>
            <pc:docMk/>
            <pc:sldMk cId="4115079045" sldId="265"/>
            <ac:spMk id="8" creationId="{1A9FD799-B9A1-AA12-2069-C198E8968797}"/>
          </ac:spMkLst>
        </pc:spChg>
        <pc:spChg chg="add del">
          <ac:chgData name="Jacqueline Ockwell" userId="79a11ae1-9a6a-4dce-9c68-e7607b2827ec" providerId="ADAL" clId="{3A7A8014-5557-41D1-B9D2-73ED7BB483CE}" dt="2025-04-25T02:28:12.765" v="4" actId="478"/>
          <ac:spMkLst>
            <pc:docMk/>
            <pc:sldMk cId="4115079045" sldId="265"/>
            <ac:spMk id="9" creationId="{40E7B6F6-2733-C349-D73E-148878CBE3A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832E1-B8B8-916E-FC98-04B2CDE8C7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50998-C58B-E83A-FC5C-CF7160F9AB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87FF35-442C-228B-C114-9736FEE76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F361F-E1A1-457E-AC05-480E598E1293}" type="datetimeFigureOut">
              <a:rPr lang="en-AU" smtClean="0"/>
              <a:t>25/04/2025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12C036-1665-AED2-A849-32E500544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5FCBAA-B963-A9F8-F67D-6E6D5D34E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FB33D-5DCE-4227-A4F8-76BDD74A30B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0486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47B66-2329-ED8C-AA05-F14E1F3C9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3CE99D-0D09-F9ED-C3A3-5C3A4D1029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5E0077-BD77-1D86-404B-0DC0271CA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F361F-E1A1-457E-AC05-480E598E1293}" type="datetimeFigureOut">
              <a:rPr lang="en-AU" smtClean="0"/>
              <a:t>25/04/2025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A20F3A-BDC3-E50B-4846-A7EFB4BDA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632F6F-C71E-8947-5A97-90E714713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FB33D-5DCE-4227-A4F8-76BDD74A30B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771001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36747-1DAA-F52F-565F-20DBF93D4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5AB6EF-F9C4-9988-B909-F0ACCDCF9D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E9FC8A-85A7-115F-1A11-D7E979795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F361F-E1A1-457E-AC05-480E598E1293}" type="datetimeFigureOut">
              <a:rPr lang="en-AU" smtClean="0"/>
              <a:t>25/04/2025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154183-346D-B4E4-7ADC-7DCA920B2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55C54A-1B04-C4B1-EE4A-6393731EA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FB33D-5DCE-4227-A4F8-76BDD74A30B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498073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DC382-E074-D489-E5F1-C6DFF681C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10DE6B-3E73-3067-A0AE-6E236BD1D7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C97EB1-FD6C-5708-0537-F1C734D1BD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3773B0-88A3-92D9-4FE6-902A3537F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F361F-E1A1-457E-AC05-480E598E1293}" type="datetimeFigureOut">
              <a:rPr lang="en-AU" smtClean="0"/>
              <a:t>25/04/2025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C4293A-0FEC-9024-4BAF-E563316ED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5222D5-53B2-79C4-96C3-31336CBDA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FB33D-5DCE-4227-A4F8-76BDD74A30B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557065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65B50-F522-C421-692D-A55A63BE9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813D09-B05F-EE8E-0852-C6EECEF8AE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521CBB-D1BC-9D4A-9767-CE7E2282E4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271E98-24F4-130F-5804-4FEDD0AD8D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E63CFC-1DC2-A835-0440-25C01692DE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22B7B8-732A-9233-1832-C7CB41D16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F361F-E1A1-457E-AC05-480E598E1293}" type="datetimeFigureOut">
              <a:rPr lang="en-AU" smtClean="0"/>
              <a:t>25/04/2025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1819EA-39FF-4813-4E86-97870368E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58A4E8-0559-EBFD-881B-CDE71FCB6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FB33D-5DCE-4227-A4F8-76BDD74A30B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356811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EB216-2FB0-BB49-3FFB-E1072AEF5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7F38B5-4A0D-C335-9B8F-EC4A76265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F361F-E1A1-457E-AC05-480E598E1293}" type="datetimeFigureOut">
              <a:rPr lang="en-AU" smtClean="0"/>
              <a:t>25/04/2025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E16476-2926-36F0-63AB-70998E6C8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C37EC0-12AB-6FC7-FA93-2B00D4A88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FB33D-5DCE-4227-A4F8-76BDD74A30B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51407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FB7275-4D86-1B7D-49FE-CF2B917B6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F361F-E1A1-457E-AC05-480E598E1293}" type="datetimeFigureOut">
              <a:rPr lang="en-AU" smtClean="0"/>
              <a:t>25/04/2025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274829-3830-B84F-13FB-459FA59FF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56B358-7F40-0D4E-4FD2-5F45EC3B4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FB33D-5DCE-4227-A4F8-76BDD74A30B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670781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6B6A6-5353-2BC5-410C-48A6B9D78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D5536C-4F5B-1959-B2A6-401689F62D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2F6649-2F0F-28CA-A998-1151CCEFB8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059CFA-DF8F-82B9-92DE-6B9B4B33B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F361F-E1A1-457E-AC05-480E598E1293}" type="datetimeFigureOut">
              <a:rPr lang="en-AU" smtClean="0"/>
              <a:t>25/04/2025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4629B-2BAB-7103-CA67-9352113B2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B332EC-81D4-DDEF-EA36-A91844FAF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FB33D-5DCE-4227-A4F8-76BDD74A30B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116058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82117-5143-B27A-D3A3-7AE3D285E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0C9609F-AA08-1B44-BC21-2D09CB542F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1B6E84-4440-F1A4-8117-2A6EFD8E16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F9A1B6-2A3E-A52B-0BA3-22BA96AFB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F361F-E1A1-457E-AC05-480E598E1293}" type="datetimeFigureOut">
              <a:rPr lang="en-AU" smtClean="0"/>
              <a:t>25/04/2025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E8E4F6-E31D-6843-1351-77C7AC7DA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84ED47-22C3-963D-30EA-31CCD421C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FB33D-5DCE-4227-A4F8-76BDD74A30B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161134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79CF9-7224-BFAF-4B92-3D13300DB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605700-DECE-B92E-4888-16E7D7EADB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FCA615-40F7-D72F-B711-A2743A831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F361F-E1A1-457E-AC05-480E598E1293}" type="datetimeFigureOut">
              <a:rPr lang="en-AU" smtClean="0"/>
              <a:t>25/04/2025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AE199D-4579-D433-20BE-7F0B73984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A57E87-648D-D29A-A873-0F35AF66A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FB33D-5DCE-4227-A4F8-76BDD74A30B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652243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786C93-1A65-4992-71AF-477163AA8F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72A7C9-3C61-CE42-79BC-D4D1F1054E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406D36-B652-821A-FB92-0D1464345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F361F-E1A1-457E-AC05-480E598E1293}" type="datetimeFigureOut">
              <a:rPr lang="en-AU" smtClean="0"/>
              <a:t>25/04/2025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40DAF5-DAF5-3BFF-48BE-386F08301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98BD5D-3239-ECA6-98CB-42FF9DAC6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FB33D-5DCE-4227-A4F8-76BDD74A30B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853581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69025A-9B42-9DFD-8BA2-CB64BC8BD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A11FAF-5867-1E03-3362-D590F14704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4CFB16-B13A-C3EE-1F76-832EB29383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6F361F-E1A1-457E-AC05-480E598E1293}" type="datetimeFigureOut">
              <a:rPr lang="en-AU" smtClean="0"/>
              <a:t>25/04/2025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108D78-842C-D78F-10CB-A01F69313D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C6C550-2C8B-C5E9-C2E1-68A35AA923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6FB33D-5DCE-4227-A4F8-76BDD74A30B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555285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5975F32-0D88-FA9E-3B48-6050569595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2545" y="255210"/>
            <a:ext cx="8106906" cy="69542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8AF87D7-725E-0B69-A947-10098A4162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5261" y="1131293"/>
            <a:ext cx="1981477" cy="6477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E2B343C-7C6F-179C-D014-0DF5168261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7679" y="1959744"/>
            <a:ext cx="5296639" cy="743054"/>
          </a:xfrm>
          <a:prstGeom prst="rect">
            <a:avLst/>
          </a:prstGeom>
        </p:spPr>
      </p:pic>
      <p:pic>
        <p:nvPicPr>
          <p:cNvPr id="7" name="Picture 2" descr="Robert Longo on Mark Rothko: 'A Small Battle Scene Occurs Where the Colours  Meet' | Frieze">
            <a:extLst>
              <a:ext uri="{FF2B5EF4-FFF2-40B4-BE49-F238E27FC236}">
                <a16:creationId xmlns:a16="http://schemas.microsoft.com/office/drawing/2014/main" id="{E4403BA6-1732-918A-E7C1-CCA594EEEA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" y="3228975"/>
            <a:ext cx="12192000" cy="3629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07024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32751FD-DCE3-3A77-8515-E479A9739289}"/>
              </a:ext>
            </a:extLst>
          </p:cNvPr>
          <p:cNvSpPr txBox="1"/>
          <p:nvPr/>
        </p:nvSpPr>
        <p:spPr>
          <a:xfrm>
            <a:off x="276633" y="74890"/>
            <a:ext cx="11638734" cy="6708219"/>
          </a:xfrm>
          <a:prstGeom prst="round2DiagRect">
            <a:avLst/>
          </a:prstGeom>
          <a:noFill/>
          <a:ln w="1270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1600" b="1" dirty="0"/>
              <a:t>Reflection Activity – </a:t>
            </a:r>
            <a:r>
              <a:rPr lang="en-US" sz="1600" b="1" dirty="0" err="1"/>
              <a:t>Colour</a:t>
            </a:r>
            <a:r>
              <a:rPr lang="en-US" sz="1600" b="1" dirty="0"/>
              <a:t> As Code </a:t>
            </a:r>
          </a:p>
          <a:p>
            <a:pPr>
              <a:buNone/>
            </a:pPr>
            <a:r>
              <a:rPr lang="en-US" sz="1400" b="1" dirty="0"/>
              <a:t>Instructions: </a:t>
            </a:r>
            <a:r>
              <a:rPr lang="en-US" sz="1400" dirty="0"/>
              <a:t>Choose </a:t>
            </a:r>
            <a:r>
              <a:rPr lang="en-US" sz="1400" b="1" dirty="0"/>
              <a:t>one artist</a:t>
            </a:r>
            <a:r>
              <a:rPr lang="en-US" sz="1400" dirty="0"/>
              <a:t> from the </a:t>
            </a:r>
            <a:r>
              <a:rPr lang="en-US" sz="1400" b="1" dirty="0"/>
              <a:t>“</a:t>
            </a:r>
            <a:r>
              <a:rPr lang="en-US" sz="1400" b="1" dirty="0" err="1"/>
              <a:t>Colour</a:t>
            </a:r>
            <a:r>
              <a:rPr lang="en-US" sz="1400" b="1" dirty="0"/>
              <a:t> as Code Theory” PowerPoint</a:t>
            </a:r>
            <a:r>
              <a:rPr lang="en-US" sz="1400" dirty="0"/>
              <a:t> to reflect on. Your options are:</a:t>
            </a:r>
            <a:br>
              <a:rPr lang="en-US" sz="1400" dirty="0"/>
            </a:br>
            <a:r>
              <a:rPr lang="en-US" sz="1400" b="1" dirty="0"/>
              <a:t>Ai Weiwei, Mark Rothko, Spencer Tunick, Robyn Backen, Patricia Piccinini, Sol LeWitt, Olafur Eliasson</a:t>
            </a:r>
            <a:r>
              <a:rPr lang="en-US" sz="1400" dirty="0"/>
              <a:t>.</a:t>
            </a:r>
          </a:p>
          <a:p>
            <a:r>
              <a:rPr lang="en-US" sz="1400" dirty="0"/>
              <a:t>Answer the following questions based on how your chosen artist uses </a:t>
            </a:r>
            <a:r>
              <a:rPr lang="en-US" sz="1400" b="1" dirty="0" err="1"/>
              <a:t>colour</a:t>
            </a:r>
            <a:r>
              <a:rPr lang="en-US" sz="1400" b="1" dirty="0"/>
              <a:t> as a visual code</a:t>
            </a:r>
            <a:r>
              <a:rPr lang="en-US" sz="1400" dirty="0"/>
              <a:t> to create meaning in their work</a:t>
            </a:r>
          </a:p>
          <a:p>
            <a:endParaRPr lang="en-US" sz="1600" b="1" dirty="0"/>
          </a:p>
          <a:p>
            <a:r>
              <a:rPr lang="en-US" sz="1400" b="1" dirty="0"/>
              <a:t>Reflection Questions:</a:t>
            </a:r>
          </a:p>
          <a:p>
            <a:endParaRPr lang="en-US" sz="1400" b="1" dirty="0"/>
          </a:p>
          <a:p>
            <a:pPr marL="342900" indent="-342900">
              <a:buFont typeface="+mj-lt"/>
              <a:buAutoNum type="arabicPeriod"/>
            </a:pPr>
            <a:r>
              <a:rPr lang="en-US" sz="1400" b="1" dirty="0"/>
              <a:t>How does your chosen artist use </a:t>
            </a:r>
            <a:r>
              <a:rPr lang="en-US" sz="1400" b="1" dirty="0" err="1"/>
              <a:t>colour</a:t>
            </a:r>
            <a:r>
              <a:rPr lang="en-US" sz="1400" b="1" dirty="0"/>
              <a:t> as a visual code to communicate meaning, mood, or message in their work? </a:t>
            </a:r>
            <a:r>
              <a:rPr lang="en-US" sz="1400" dirty="0"/>
              <a:t>Think about how their </a:t>
            </a:r>
            <a:r>
              <a:rPr lang="en-US" sz="1400" dirty="0" err="1"/>
              <a:t>colour</a:t>
            </a:r>
            <a:r>
              <a:rPr lang="en-US" sz="1400" dirty="0"/>
              <a:t> choices guide how the viewer feels or understands the work.</a:t>
            </a:r>
          </a:p>
          <a:p>
            <a:pPr marL="342900" indent="-342900">
              <a:buFont typeface="+mj-lt"/>
              <a:buAutoNum type="arabicPeriod"/>
            </a:pPr>
            <a:endParaRPr lang="en-US" sz="1400" b="1" dirty="0"/>
          </a:p>
          <a:p>
            <a:pPr marL="342900" indent="-342900">
              <a:buFont typeface="+mj-lt"/>
              <a:buAutoNum type="arabicPeriod"/>
            </a:pPr>
            <a:endParaRPr lang="en-US" sz="1400" b="1" dirty="0"/>
          </a:p>
          <a:p>
            <a:pPr marL="342900" indent="-342900">
              <a:buFont typeface="+mj-lt"/>
              <a:buAutoNum type="arabicPeriod"/>
            </a:pPr>
            <a:endParaRPr lang="en-US" sz="1400" b="1" dirty="0"/>
          </a:p>
          <a:p>
            <a:pPr marL="342900" indent="-342900">
              <a:buFont typeface="+mj-lt"/>
              <a:buAutoNum type="arabicPeriod"/>
            </a:pPr>
            <a:endParaRPr lang="en-US" sz="1400" b="1" dirty="0"/>
          </a:p>
          <a:p>
            <a:pPr marL="342900" indent="-342900">
              <a:buFont typeface="+mj-lt"/>
              <a:buAutoNum type="arabicPeriod"/>
            </a:pPr>
            <a:endParaRPr lang="en-US" sz="1400" b="1" dirty="0"/>
          </a:p>
          <a:p>
            <a:pPr marL="342900" indent="-342900">
              <a:buFont typeface="+mj-lt"/>
              <a:buAutoNum type="arabicPeriod"/>
            </a:pPr>
            <a:r>
              <a:rPr lang="en-US" sz="1400" b="1" dirty="0"/>
              <a:t>In what ways does the cultural, social, or political context shape the meaning of </a:t>
            </a:r>
            <a:r>
              <a:rPr lang="en-US" sz="1400" b="1" dirty="0" err="1"/>
              <a:t>colour</a:t>
            </a:r>
            <a:r>
              <a:rPr lang="en-US" sz="1400" b="1" dirty="0"/>
              <a:t> in this artist’s practice? </a:t>
            </a:r>
            <a:r>
              <a:rPr lang="en-US" sz="1400" dirty="0"/>
              <a:t>Consider whether </a:t>
            </a:r>
            <a:r>
              <a:rPr lang="en-US" sz="1400" dirty="0" err="1"/>
              <a:t>colour</a:t>
            </a:r>
            <a:r>
              <a:rPr lang="en-US" sz="1400" dirty="0"/>
              <a:t> is used to challenge ideas, reference tradition, or reflect on current issues.</a:t>
            </a:r>
          </a:p>
          <a:p>
            <a:pPr marL="342900" indent="-342900">
              <a:buFont typeface="+mj-lt"/>
              <a:buAutoNum type="arabicPeriod"/>
            </a:pPr>
            <a:endParaRPr lang="en-US" sz="1400" b="1" dirty="0"/>
          </a:p>
          <a:p>
            <a:pPr marL="342900" indent="-342900">
              <a:buFont typeface="+mj-lt"/>
              <a:buAutoNum type="arabicPeriod"/>
            </a:pPr>
            <a:endParaRPr lang="en-US" sz="1400" b="1" dirty="0"/>
          </a:p>
          <a:p>
            <a:pPr marL="342900" indent="-342900">
              <a:buFont typeface="+mj-lt"/>
              <a:buAutoNum type="arabicPeriod"/>
            </a:pPr>
            <a:endParaRPr lang="en-US" sz="1400" b="1" dirty="0"/>
          </a:p>
          <a:p>
            <a:pPr marL="342900" indent="-342900">
              <a:buFont typeface="+mj-lt"/>
              <a:buAutoNum type="arabicPeriod"/>
            </a:pPr>
            <a:endParaRPr lang="en-US" sz="1400" b="1" dirty="0"/>
          </a:p>
          <a:p>
            <a:pPr marL="342900" indent="-342900">
              <a:buFont typeface="+mj-lt"/>
              <a:buAutoNum type="arabicPeriod"/>
            </a:pPr>
            <a:endParaRPr lang="en-US" sz="1400" b="1" dirty="0"/>
          </a:p>
          <a:p>
            <a:pPr marL="342900" indent="-342900">
              <a:buFont typeface="+mj-lt"/>
              <a:buAutoNum type="arabicPeriod"/>
            </a:pPr>
            <a:r>
              <a:rPr lang="en-US" sz="1400" b="1" dirty="0"/>
              <a:t>What do you think your artist’s inquiry question could have been based on their use of </a:t>
            </a:r>
            <a:r>
              <a:rPr lang="en-US" sz="1400" b="1" dirty="0" err="1"/>
              <a:t>colour</a:t>
            </a:r>
            <a:r>
              <a:rPr lang="en-US" sz="1400" b="1" dirty="0"/>
              <a:t>? </a:t>
            </a:r>
            <a:r>
              <a:rPr lang="en-US" sz="1400" dirty="0"/>
              <a:t>Write one open-ended question that might have guided the artist’s exploration.</a:t>
            </a:r>
          </a:p>
          <a:p>
            <a:endParaRPr lang="en-US" sz="1600" b="1" dirty="0"/>
          </a:p>
          <a:p>
            <a:endParaRPr lang="en-US" sz="1600" b="1" dirty="0"/>
          </a:p>
          <a:p>
            <a:endParaRPr lang="en-US" sz="1400" b="1" dirty="0"/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5849594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6AA95E1-471A-3646-30B0-CC80FF21E59F}"/>
              </a:ext>
            </a:extLst>
          </p:cNvPr>
          <p:cNvSpPr txBox="1"/>
          <p:nvPr/>
        </p:nvSpPr>
        <p:spPr>
          <a:xfrm>
            <a:off x="225433" y="306492"/>
            <a:ext cx="5489568" cy="6245016"/>
          </a:xfrm>
          <a:prstGeom prst="round2DiagRect">
            <a:avLst/>
          </a:prstGeom>
          <a:noFill/>
          <a:ln w="1270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lvl="0" algn="ctr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AU" sz="2000" b="1" kern="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PRACTICAL ACTIVITY PART A</a:t>
            </a:r>
          </a:p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AU" b="1" kern="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Task: </a:t>
            </a:r>
            <a:r>
              <a:rPr lang="en-US" b="1" dirty="0" err="1">
                <a:latin typeface="+mj-lt"/>
              </a:rPr>
              <a:t>Colour</a:t>
            </a:r>
            <a:r>
              <a:rPr lang="en-US" b="1" dirty="0">
                <a:latin typeface="+mj-lt"/>
              </a:rPr>
              <a:t> as Code</a:t>
            </a:r>
            <a:r>
              <a:rPr lang="en-US" dirty="0">
                <a:latin typeface="+mj-lt"/>
              </a:rPr>
              <a:t> – Create a visual collection that explores how one </a:t>
            </a:r>
            <a:r>
              <a:rPr lang="en-US" dirty="0" err="1">
                <a:latin typeface="+mj-lt"/>
              </a:rPr>
              <a:t>colour</a:t>
            </a:r>
            <a:r>
              <a:rPr lang="en-US" dirty="0">
                <a:latin typeface="+mj-lt"/>
              </a:rPr>
              <a:t> can carry multiple meanings depending on its context.</a:t>
            </a:r>
          </a:p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n-AU" kern="0" dirty="0"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AU" b="1" kern="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Objective: </a:t>
            </a:r>
            <a:r>
              <a:rPr lang="en-US" dirty="0">
                <a:latin typeface="+mj-lt"/>
              </a:rPr>
              <a:t>To investigate how </a:t>
            </a:r>
            <a:r>
              <a:rPr lang="en-US" b="1" dirty="0" err="1">
                <a:latin typeface="+mj-lt"/>
              </a:rPr>
              <a:t>colour</a:t>
            </a:r>
            <a:r>
              <a:rPr lang="en-US" b="1" dirty="0">
                <a:latin typeface="+mj-lt"/>
              </a:rPr>
              <a:t> operates as a symbolic code</a:t>
            </a:r>
            <a:r>
              <a:rPr lang="en-US" dirty="0">
                <a:latin typeface="+mj-lt"/>
              </a:rPr>
              <a:t>, shifting meaning based on environment, object, and cultural association.</a:t>
            </a:r>
          </a:p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n-AU" b="1" kern="0" dirty="0">
              <a:effectLst/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AU" b="1" kern="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Instructions: 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SzPts val="1000"/>
              <a:buFont typeface="+mj-lt"/>
              <a:buAutoNum type="arabicPeriod"/>
              <a:tabLst>
                <a:tab pos="457200" algn="l"/>
              </a:tabLst>
            </a:pPr>
            <a:r>
              <a:rPr lang="en-US" sz="1600" kern="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Choose one </a:t>
            </a:r>
            <a:r>
              <a:rPr lang="en-US" sz="1600" kern="0" dirty="0" err="1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colour</a:t>
            </a:r>
            <a:r>
              <a:rPr lang="en-US" sz="1600" kern="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 (e.g. red, blue, yellow).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SzPts val="1000"/>
              <a:buFont typeface="+mj-lt"/>
              <a:buAutoNum type="arabicPeriod"/>
              <a:tabLst>
                <a:tab pos="457200" algn="l"/>
              </a:tabLst>
            </a:pPr>
            <a:r>
              <a:rPr lang="en-US" sz="1600" kern="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Photograph or 20 objects or environments where that </a:t>
            </a:r>
            <a:r>
              <a:rPr lang="en-US" sz="1600" kern="0" dirty="0" err="1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colour</a:t>
            </a:r>
            <a:r>
              <a:rPr lang="en-US" sz="1600" kern="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 is present.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SzPts val="1000"/>
              <a:buFont typeface="+mj-lt"/>
              <a:buAutoNum type="arabicPeriod"/>
              <a:tabLst>
                <a:tab pos="457200" algn="l"/>
              </a:tabLst>
            </a:pPr>
            <a:r>
              <a:rPr lang="en-US" sz="1600" kern="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Present your findings as a digital collage or printed visual board that maps the </a:t>
            </a:r>
            <a:r>
              <a:rPr lang="en-US" sz="1600" kern="0" dirty="0" err="1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colour’s</a:t>
            </a:r>
            <a:r>
              <a:rPr lang="en-US" sz="1600" kern="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 emotional, cultural, or symbolic shifts. (Hint use a collage app such as </a:t>
            </a:r>
            <a:r>
              <a:rPr lang="en-US" sz="1600" kern="0" dirty="0" err="1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PicCollage</a:t>
            </a:r>
            <a:r>
              <a:rPr lang="en-US" sz="1600" kern="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en-AU" sz="1600" kern="0" dirty="0">
              <a:effectLst/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DD378A-02FA-D5B6-3F44-55533EAE3D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1193" y="306492"/>
            <a:ext cx="5591955" cy="314368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A76CD37-2F06-6076-DEAC-70EF157F52FE}"/>
              </a:ext>
            </a:extLst>
          </p:cNvPr>
          <p:cNvSpPr txBox="1"/>
          <p:nvPr/>
        </p:nvSpPr>
        <p:spPr>
          <a:xfrm>
            <a:off x="6096000" y="3894629"/>
            <a:ext cx="2460171" cy="2656879"/>
          </a:xfrm>
          <a:prstGeom prst="round2DiagRect">
            <a:avLst/>
          </a:prstGeom>
          <a:noFill/>
          <a:ln w="1270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AU" sz="1600" b="1" kern="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Formal </a:t>
            </a:r>
            <a:r>
              <a:rPr lang="en-AU" sz="1600" b="1" kern="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Context: </a:t>
            </a:r>
            <a:r>
              <a:rPr lang="en-US" sz="1400" dirty="0"/>
              <a:t>Explore how </a:t>
            </a:r>
            <a:r>
              <a:rPr lang="en-US" sz="1400" dirty="0" err="1"/>
              <a:t>colour</a:t>
            </a:r>
            <a:r>
              <a:rPr lang="en-US" sz="1400" dirty="0"/>
              <a:t> functions visually through hue, saturation, and placement. Think about how </a:t>
            </a:r>
            <a:r>
              <a:rPr lang="en-US" sz="1400" dirty="0" err="1"/>
              <a:t>colour</a:t>
            </a:r>
            <a:r>
              <a:rPr lang="en-US" sz="1400" dirty="0"/>
              <a:t> creates mood, focus, or contrast, and how it changes meaning depending on what it’s paired with in each image.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3822AC-4FD9-C461-7459-50548772BC00}"/>
              </a:ext>
            </a:extLst>
          </p:cNvPr>
          <p:cNvSpPr txBox="1"/>
          <p:nvPr/>
        </p:nvSpPr>
        <p:spPr>
          <a:xfrm>
            <a:off x="8937170" y="4137948"/>
            <a:ext cx="2795978" cy="2170240"/>
          </a:xfrm>
          <a:prstGeom prst="round2DiagRect">
            <a:avLst/>
          </a:prstGeom>
          <a:noFill/>
          <a:ln w="1270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AU" sz="1600" b="1" kern="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Cultural </a:t>
            </a:r>
            <a:r>
              <a:rPr lang="en-AU" sz="1600" b="1" kern="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Context: </a:t>
            </a:r>
            <a:r>
              <a:rPr lang="en-US" sz="1400" dirty="0"/>
              <a:t>Consider how </a:t>
            </a:r>
            <a:r>
              <a:rPr lang="en-US" sz="1400" dirty="0" err="1"/>
              <a:t>colour</a:t>
            </a:r>
            <a:r>
              <a:rPr lang="en-US" sz="1400" dirty="0"/>
              <a:t> meanings shift across cultures and contexts. Reflect on how your chosen </a:t>
            </a:r>
            <a:r>
              <a:rPr lang="en-US" sz="1400" dirty="0" err="1"/>
              <a:t>colour</a:t>
            </a:r>
            <a:r>
              <a:rPr lang="en-US" sz="1400" dirty="0"/>
              <a:t> is used in traditions, symbols, or everyday life to communicate identity, values, or social messages.</a:t>
            </a:r>
          </a:p>
        </p:txBody>
      </p:sp>
    </p:spTree>
    <p:extLst>
      <p:ext uri="{BB962C8B-B14F-4D97-AF65-F5344CB8AC3E}">
        <p14:creationId xmlns:p14="http://schemas.microsoft.com/office/powerpoint/2010/main" val="41283783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DF12ADD-E9C6-C8A9-6295-E1033A0FA6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175"/>
            <a:ext cx="9323614" cy="580864"/>
          </a:xfrm>
          <a:prstGeom prst="rect">
            <a:avLst/>
          </a:prstGeom>
        </p:spPr>
      </p:pic>
      <p:sp>
        <p:nvSpPr>
          <p:cNvPr id="5" name="Google Shape;114;p17">
            <a:extLst>
              <a:ext uri="{FF2B5EF4-FFF2-40B4-BE49-F238E27FC236}">
                <a16:creationId xmlns:a16="http://schemas.microsoft.com/office/drawing/2014/main" id="{7D2FD7BB-97F1-95C3-AF95-41F4F4BF87EA}"/>
              </a:ext>
            </a:extLst>
          </p:cNvPr>
          <p:cNvSpPr/>
          <p:nvPr/>
        </p:nvSpPr>
        <p:spPr>
          <a:xfrm>
            <a:off x="597589" y="1224642"/>
            <a:ext cx="4888811" cy="440871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i="1" dirty="0">
                <a:latin typeface="+mj-lt"/>
                <a:ea typeface="Lato"/>
                <a:cs typeface="Lato"/>
                <a:sym typeface="Lato"/>
              </a:rPr>
              <a:t>Insert clear image of artwork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i="1" dirty="0">
                <a:latin typeface="+mj-lt"/>
                <a:ea typeface="Lato"/>
                <a:cs typeface="Lato"/>
                <a:sym typeface="Lato"/>
              </a:rPr>
              <a:t>Crop the image to frame the work (nothing in the background)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D495C8-FE8E-83E2-032F-0DA07C0337BF}"/>
              </a:ext>
            </a:extLst>
          </p:cNvPr>
          <p:cNvSpPr txBox="1"/>
          <p:nvPr/>
        </p:nvSpPr>
        <p:spPr>
          <a:xfrm>
            <a:off x="6153521" y="696838"/>
            <a:ext cx="5498411" cy="1055608"/>
          </a:xfrm>
          <a:prstGeom prst="round2DiagRect">
            <a:avLst/>
          </a:prstGeom>
          <a:noFill/>
          <a:ln w="1270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Researching: </a:t>
            </a:r>
            <a:r>
              <a:rPr lang="en-US" sz="1400" dirty="0"/>
              <a:t>How did you react to stimulus?</a:t>
            </a:r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325750-AAF8-3A5C-3F81-65982FAC83D9}"/>
              </a:ext>
            </a:extLst>
          </p:cNvPr>
          <p:cNvSpPr txBox="1"/>
          <p:nvPr/>
        </p:nvSpPr>
        <p:spPr>
          <a:xfrm>
            <a:off x="6153519" y="1943961"/>
            <a:ext cx="5498411" cy="578882"/>
          </a:xfrm>
          <a:prstGeom prst="round2DiagRect">
            <a:avLst/>
          </a:prstGeom>
          <a:noFill/>
          <a:ln w="1270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Developing: </a:t>
            </a:r>
            <a:r>
              <a:rPr lang="en-US" sz="1400" dirty="0"/>
              <a:t>How did you generate solutions to visual problems? Insert a photograph/s detail of the artwork below</a:t>
            </a:r>
            <a:endParaRPr lang="en-US" sz="1400" b="1" dirty="0"/>
          </a:p>
        </p:txBody>
      </p:sp>
      <p:sp>
        <p:nvSpPr>
          <p:cNvPr id="8" name="Google Shape;117;p17">
            <a:extLst>
              <a:ext uri="{FF2B5EF4-FFF2-40B4-BE49-F238E27FC236}">
                <a16:creationId xmlns:a16="http://schemas.microsoft.com/office/drawing/2014/main" id="{1A9FD799-B9A1-AA12-2069-C198E8968797}"/>
              </a:ext>
            </a:extLst>
          </p:cNvPr>
          <p:cNvSpPr/>
          <p:nvPr/>
        </p:nvSpPr>
        <p:spPr>
          <a:xfrm>
            <a:off x="7048502" y="2676716"/>
            <a:ext cx="1645529" cy="11361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117;p17">
            <a:extLst>
              <a:ext uri="{FF2B5EF4-FFF2-40B4-BE49-F238E27FC236}">
                <a16:creationId xmlns:a16="http://schemas.microsoft.com/office/drawing/2014/main" id="{40E7B6F6-2733-C349-D73E-148878CBE3A7}"/>
              </a:ext>
            </a:extLst>
          </p:cNvPr>
          <p:cNvSpPr/>
          <p:nvPr/>
        </p:nvSpPr>
        <p:spPr>
          <a:xfrm>
            <a:off x="9323614" y="2676716"/>
            <a:ext cx="1645529" cy="11361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AD8E30A-6B71-D0D7-7BCA-AAF99987BFEE}"/>
              </a:ext>
            </a:extLst>
          </p:cNvPr>
          <p:cNvSpPr txBox="1"/>
          <p:nvPr/>
        </p:nvSpPr>
        <p:spPr>
          <a:xfrm>
            <a:off x="6153519" y="4016510"/>
            <a:ext cx="5498411" cy="1293971"/>
          </a:xfrm>
          <a:prstGeom prst="round2DiagRect">
            <a:avLst/>
          </a:prstGeom>
          <a:noFill/>
          <a:ln w="1270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Reflecting: </a:t>
            </a:r>
            <a:r>
              <a:rPr lang="en-US" sz="1400" dirty="0"/>
              <a:t>How did you consider ideas and information, media techniques and processes?</a:t>
            </a:r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E5CD907-AA3A-F0B2-C514-F49CCAC64DF7}"/>
              </a:ext>
            </a:extLst>
          </p:cNvPr>
          <p:cNvSpPr txBox="1"/>
          <p:nvPr/>
        </p:nvSpPr>
        <p:spPr>
          <a:xfrm>
            <a:off x="6153518" y="5514175"/>
            <a:ext cx="5498411" cy="1055608"/>
          </a:xfrm>
          <a:prstGeom prst="round2DiagRect">
            <a:avLst/>
          </a:prstGeom>
          <a:noFill/>
          <a:ln w="1270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Evaluate: </a:t>
            </a:r>
            <a:r>
              <a:rPr lang="en-US" sz="1400" dirty="0"/>
              <a:t>How successful was the experiment? Why? </a:t>
            </a:r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A81FE2-9241-AD21-54E6-F72ACC76FC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2768" y="57675"/>
            <a:ext cx="1643556" cy="537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0790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190A83-788B-476C-989B-C801D33A869D}"/>
              </a:ext>
            </a:extLst>
          </p:cNvPr>
          <p:cNvSpPr txBox="1"/>
          <p:nvPr/>
        </p:nvSpPr>
        <p:spPr>
          <a:xfrm>
            <a:off x="241761" y="401246"/>
            <a:ext cx="5489568" cy="6055507"/>
          </a:xfrm>
          <a:prstGeom prst="round2DiagRect">
            <a:avLst/>
          </a:prstGeom>
          <a:noFill/>
          <a:ln w="1270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lvl="0" algn="ctr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AU" sz="2000" b="1" kern="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PRACTICAL ACTIVITY PART B</a:t>
            </a:r>
          </a:p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AU" b="1" kern="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Task: </a:t>
            </a:r>
            <a:r>
              <a:rPr lang="en-US" dirty="0">
                <a:latin typeface="+mj-lt"/>
              </a:rPr>
              <a:t>Create an abstract artwork using only </a:t>
            </a:r>
            <a:r>
              <a:rPr lang="en-US" b="1" dirty="0" err="1">
                <a:latin typeface="+mj-lt"/>
              </a:rPr>
              <a:t>colour</a:t>
            </a:r>
            <a:r>
              <a:rPr lang="en-US" b="1" dirty="0">
                <a:latin typeface="+mj-lt"/>
              </a:rPr>
              <a:t> and shape</a:t>
            </a:r>
            <a:r>
              <a:rPr lang="en-US" dirty="0">
                <a:latin typeface="+mj-lt"/>
              </a:rPr>
              <a:t> (no text or representational imagery) to express a personal experience, place, or feeling.</a:t>
            </a:r>
            <a:endParaRPr lang="en-AU" kern="0" dirty="0"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n-AU" b="1" kern="0" dirty="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AU" b="1" kern="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Objective: </a:t>
            </a:r>
            <a:r>
              <a:rPr lang="en-US" dirty="0">
                <a:latin typeface="+mj-lt"/>
              </a:rPr>
              <a:t>To explore how </a:t>
            </a:r>
            <a:r>
              <a:rPr lang="en-US" b="1" dirty="0" err="1">
                <a:latin typeface="+mj-lt"/>
              </a:rPr>
              <a:t>colour</a:t>
            </a:r>
            <a:r>
              <a:rPr lang="en-US" b="1" dirty="0">
                <a:latin typeface="+mj-lt"/>
              </a:rPr>
              <a:t> and form can visually code emotion and memory</a:t>
            </a:r>
            <a:r>
              <a:rPr lang="en-US" dirty="0">
                <a:latin typeface="+mj-lt"/>
              </a:rPr>
              <a:t> through abstraction.</a:t>
            </a:r>
            <a:endParaRPr lang="en-AU" b="1" kern="0" dirty="0">
              <a:effectLst/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AU" b="1" kern="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Instructions: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+mj-lt"/>
              </a:rPr>
              <a:t>Choose a powerful memory (joyful, sad, or significant).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+mj-lt"/>
              </a:rPr>
              <a:t>Plan how to communicate this experience using </a:t>
            </a:r>
            <a:r>
              <a:rPr lang="en-US" b="1" dirty="0" err="1">
                <a:latin typeface="+mj-lt"/>
              </a:rPr>
              <a:t>colour</a:t>
            </a:r>
            <a:r>
              <a:rPr lang="en-US" b="1" dirty="0">
                <a:latin typeface="+mj-lt"/>
              </a:rPr>
              <a:t>, shape, and composition only</a:t>
            </a:r>
            <a:r>
              <a:rPr lang="en-US" dirty="0">
                <a:latin typeface="+mj-lt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+mj-lt"/>
              </a:rPr>
              <a:t>Use any combination of </a:t>
            </a:r>
            <a:r>
              <a:rPr lang="en-US" b="1" dirty="0">
                <a:latin typeface="+mj-lt"/>
              </a:rPr>
              <a:t>acrylic, </a:t>
            </a:r>
            <a:r>
              <a:rPr lang="en-US" b="1" dirty="0" err="1">
                <a:latin typeface="+mj-lt"/>
              </a:rPr>
              <a:t>watercolour</a:t>
            </a:r>
            <a:r>
              <a:rPr lang="en-US" b="1" dirty="0">
                <a:latin typeface="+mj-lt"/>
              </a:rPr>
              <a:t>, collage, or mixed media</a:t>
            </a:r>
            <a:r>
              <a:rPr lang="en-US" dirty="0">
                <a:latin typeface="+mj-lt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+mj-lt"/>
              </a:rPr>
              <a:t>Focus on how arrangement, layering, and contrast can convey mood or meaning.</a:t>
            </a:r>
          </a:p>
        </p:txBody>
      </p:sp>
      <p:pic>
        <p:nvPicPr>
          <p:cNvPr id="5122" name="Picture 2" descr="How to create abstract art inspired by emotions, dreams and memories –  Claire Desjardins, Fine Artist">
            <a:extLst>
              <a:ext uri="{FF2B5EF4-FFF2-40B4-BE49-F238E27FC236}">
                <a16:creationId xmlns:a16="http://schemas.microsoft.com/office/drawing/2014/main" id="{3CF79A34-6C6A-1510-A1E6-05EF2A232B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5888" y="401246"/>
            <a:ext cx="3770583" cy="37411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878E9D8-0C2A-ABCF-EB41-454F094FA4B4}"/>
              </a:ext>
            </a:extLst>
          </p:cNvPr>
          <p:cNvSpPr txBox="1"/>
          <p:nvPr/>
        </p:nvSpPr>
        <p:spPr>
          <a:xfrm>
            <a:off x="6096000" y="4796582"/>
            <a:ext cx="2460171" cy="1660171"/>
          </a:xfrm>
          <a:prstGeom prst="round2DiagRect">
            <a:avLst/>
          </a:prstGeom>
          <a:noFill/>
          <a:ln w="1270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AU" sz="1600" b="1" kern="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Formal </a:t>
            </a:r>
            <a:r>
              <a:rPr lang="en-AU" sz="1600" b="1" kern="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Context: </a:t>
            </a:r>
            <a:r>
              <a:rPr lang="en-US" sz="1400" dirty="0"/>
              <a:t>Use </a:t>
            </a:r>
            <a:r>
              <a:rPr lang="en-US" sz="1400" dirty="0" err="1"/>
              <a:t>colour</a:t>
            </a:r>
            <a:r>
              <a:rPr lang="en-US" sz="1400" dirty="0"/>
              <a:t>, shape, and spatial arrangement to create visual harmony, tension, or rhythm that communicates emotion.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0DF372-3465-3C2F-0A55-64ADC5EAD14F}"/>
              </a:ext>
            </a:extLst>
          </p:cNvPr>
          <p:cNvSpPr txBox="1"/>
          <p:nvPr/>
        </p:nvSpPr>
        <p:spPr>
          <a:xfrm>
            <a:off x="9071179" y="4924098"/>
            <a:ext cx="2795978" cy="1405137"/>
          </a:xfrm>
          <a:prstGeom prst="round2DiagRect">
            <a:avLst/>
          </a:prstGeom>
          <a:noFill/>
          <a:ln w="1270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AU" sz="1600" b="1" kern="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Cultural </a:t>
            </a:r>
            <a:r>
              <a:rPr lang="en-AU" sz="1600" b="1" kern="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Context: </a:t>
            </a:r>
            <a:r>
              <a:rPr lang="en-US" sz="1400" dirty="0"/>
              <a:t>Consider how personal or cultural associations with </a:t>
            </a:r>
            <a:r>
              <a:rPr lang="en-US" sz="1400" dirty="0" err="1"/>
              <a:t>colour</a:t>
            </a:r>
            <a:r>
              <a:rPr lang="en-US" sz="1400" dirty="0"/>
              <a:t> can influence the way your artwork is read and interpreted.</a:t>
            </a:r>
          </a:p>
        </p:txBody>
      </p:sp>
    </p:spTree>
    <p:extLst>
      <p:ext uri="{BB962C8B-B14F-4D97-AF65-F5344CB8AC3E}">
        <p14:creationId xmlns:p14="http://schemas.microsoft.com/office/powerpoint/2010/main" val="36011026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9D751-145E-2FE5-66D6-2C4E3FFB3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A85607A-F13E-745A-CDDE-61284B3DD7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175"/>
            <a:ext cx="9323614" cy="580864"/>
          </a:xfrm>
          <a:prstGeom prst="rect">
            <a:avLst/>
          </a:prstGeom>
        </p:spPr>
      </p:pic>
      <p:sp>
        <p:nvSpPr>
          <p:cNvPr id="5" name="Google Shape;114;p17">
            <a:extLst>
              <a:ext uri="{FF2B5EF4-FFF2-40B4-BE49-F238E27FC236}">
                <a16:creationId xmlns:a16="http://schemas.microsoft.com/office/drawing/2014/main" id="{6CC61A4E-A724-5E2A-A703-A22AFA29AE97}"/>
              </a:ext>
            </a:extLst>
          </p:cNvPr>
          <p:cNvSpPr/>
          <p:nvPr/>
        </p:nvSpPr>
        <p:spPr>
          <a:xfrm>
            <a:off x="597589" y="1224642"/>
            <a:ext cx="4888811" cy="440871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i="1" dirty="0">
                <a:latin typeface="+mj-lt"/>
                <a:ea typeface="Lato"/>
                <a:cs typeface="Lato"/>
                <a:sym typeface="Lato"/>
              </a:rPr>
              <a:t>Insert clear image of artwork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i="1" dirty="0">
                <a:latin typeface="+mj-lt"/>
                <a:ea typeface="Lato"/>
                <a:cs typeface="Lato"/>
                <a:sym typeface="Lato"/>
              </a:rPr>
              <a:t>Crop the image to frame the work (nothing in the background)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5737E9-0395-64FE-71B9-43FFD75A0640}"/>
              </a:ext>
            </a:extLst>
          </p:cNvPr>
          <p:cNvSpPr txBox="1"/>
          <p:nvPr/>
        </p:nvSpPr>
        <p:spPr>
          <a:xfrm>
            <a:off x="6153521" y="696838"/>
            <a:ext cx="5498411" cy="1055608"/>
          </a:xfrm>
          <a:prstGeom prst="round2DiagRect">
            <a:avLst/>
          </a:prstGeom>
          <a:noFill/>
          <a:ln w="1270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Researching: </a:t>
            </a:r>
            <a:r>
              <a:rPr lang="en-US" sz="1400" dirty="0"/>
              <a:t>How did you react to stimulus?</a:t>
            </a:r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0AA5BC-6213-1205-B1F9-6D1816F50349}"/>
              </a:ext>
            </a:extLst>
          </p:cNvPr>
          <p:cNvSpPr txBox="1"/>
          <p:nvPr/>
        </p:nvSpPr>
        <p:spPr>
          <a:xfrm>
            <a:off x="6153519" y="1943961"/>
            <a:ext cx="5498411" cy="578882"/>
          </a:xfrm>
          <a:prstGeom prst="round2DiagRect">
            <a:avLst/>
          </a:prstGeom>
          <a:noFill/>
          <a:ln w="1270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Developing: </a:t>
            </a:r>
            <a:r>
              <a:rPr lang="en-US" sz="1400" dirty="0"/>
              <a:t>How did you generate solutions to visual problems? Insert a photograph/s detail of the artwork below</a:t>
            </a:r>
            <a:endParaRPr lang="en-US" sz="1400" b="1" dirty="0"/>
          </a:p>
        </p:txBody>
      </p:sp>
      <p:sp>
        <p:nvSpPr>
          <p:cNvPr id="8" name="Google Shape;117;p17">
            <a:extLst>
              <a:ext uri="{FF2B5EF4-FFF2-40B4-BE49-F238E27FC236}">
                <a16:creationId xmlns:a16="http://schemas.microsoft.com/office/drawing/2014/main" id="{5A39DDED-3DB7-4046-9735-1325587C024E}"/>
              </a:ext>
            </a:extLst>
          </p:cNvPr>
          <p:cNvSpPr/>
          <p:nvPr/>
        </p:nvSpPr>
        <p:spPr>
          <a:xfrm>
            <a:off x="7048502" y="2676716"/>
            <a:ext cx="1645529" cy="11361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117;p17">
            <a:extLst>
              <a:ext uri="{FF2B5EF4-FFF2-40B4-BE49-F238E27FC236}">
                <a16:creationId xmlns:a16="http://schemas.microsoft.com/office/drawing/2014/main" id="{5FCDCA44-10A6-683F-6B3A-0B159F947C80}"/>
              </a:ext>
            </a:extLst>
          </p:cNvPr>
          <p:cNvSpPr/>
          <p:nvPr/>
        </p:nvSpPr>
        <p:spPr>
          <a:xfrm>
            <a:off x="9323614" y="2676716"/>
            <a:ext cx="1645529" cy="11361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07AF57-FE1B-439D-FBA9-1574880B7326}"/>
              </a:ext>
            </a:extLst>
          </p:cNvPr>
          <p:cNvSpPr txBox="1"/>
          <p:nvPr/>
        </p:nvSpPr>
        <p:spPr>
          <a:xfrm>
            <a:off x="6153519" y="4016510"/>
            <a:ext cx="5498411" cy="1293971"/>
          </a:xfrm>
          <a:prstGeom prst="round2DiagRect">
            <a:avLst/>
          </a:prstGeom>
          <a:noFill/>
          <a:ln w="1270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Reflecting: </a:t>
            </a:r>
            <a:r>
              <a:rPr lang="en-US" sz="1400" dirty="0"/>
              <a:t>How did you consider ideas and information, media techniques and processes?</a:t>
            </a:r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0314577-D3A0-9BB1-25A3-FE346FC79671}"/>
              </a:ext>
            </a:extLst>
          </p:cNvPr>
          <p:cNvSpPr txBox="1"/>
          <p:nvPr/>
        </p:nvSpPr>
        <p:spPr>
          <a:xfrm>
            <a:off x="6153518" y="5514175"/>
            <a:ext cx="5498411" cy="1055608"/>
          </a:xfrm>
          <a:prstGeom prst="round2DiagRect">
            <a:avLst/>
          </a:prstGeom>
          <a:noFill/>
          <a:ln w="1270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Evaluate: </a:t>
            </a:r>
            <a:r>
              <a:rPr lang="en-US" sz="1400" dirty="0"/>
              <a:t>How successful was the experiment? Why? </a:t>
            </a:r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DB074B-5D3F-70D1-1C5B-F965716BEB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2768" y="57675"/>
            <a:ext cx="1643556" cy="537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0129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</TotalTime>
  <Words>679</Words>
  <Application>Microsoft Office PowerPoint</Application>
  <PresentationFormat>Widescreen</PresentationFormat>
  <Paragraphs>61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The Southport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Jacqueline Ockwell</dc:creator>
  <cp:lastModifiedBy>Jacqueline Ockwell</cp:lastModifiedBy>
  <cp:revision>1</cp:revision>
  <dcterms:created xsi:type="dcterms:W3CDTF">2025-04-24T09:08:27Z</dcterms:created>
  <dcterms:modified xsi:type="dcterms:W3CDTF">2025-04-25T02:28:14Z</dcterms:modified>
</cp:coreProperties>
</file>
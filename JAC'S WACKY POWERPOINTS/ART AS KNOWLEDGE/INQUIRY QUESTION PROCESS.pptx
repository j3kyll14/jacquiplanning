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063A9B-4EAD-4761-9C4A-21A4D0D48BD1}" v="17" dt="2024-10-17T03:27:22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line Ockwell" userId="79a11ae1-9a6a-4dce-9c68-e7607b2827ec" providerId="ADAL" clId="{52063A9B-4EAD-4761-9C4A-21A4D0D48BD1}"/>
    <pc:docChg chg="custSel addSld delSld modSld">
      <pc:chgData name="Jacqueline Ockwell" userId="79a11ae1-9a6a-4dce-9c68-e7607b2827ec" providerId="ADAL" clId="{52063A9B-4EAD-4761-9C4A-21A4D0D48BD1}" dt="2024-10-17T04:43:33.176" v="234" actId="1076"/>
      <pc:docMkLst>
        <pc:docMk/>
      </pc:docMkLst>
      <pc:sldChg chg="addSp delSp modSp mod">
        <pc:chgData name="Jacqueline Ockwell" userId="79a11ae1-9a6a-4dce-9c68-e7607b2827ec" providerId="ADAL" clId="{52063A9B-4EAD-4761-9C4A-21A4D0D48BD1}" dt="2024-10-17T04:43:33.176" v="234" actId="1076"/>
        <pc:sldMkLst>
          <pc:docMk/>
          <pc:sldMk cId="3525990716" sldId="257"/>
        </pc:sldMkLst>
        <pc:spChg chg="add del mod">
          <ac:chgData name="Jacqueline Ockwell" userId="79a11ae1-9a6a-4dce-9c68-e7607b2827ec" providerId="ADAL" clId="{52063A9B-4EAD-4761-9C4A-21A4D0D48BD1}" dt="2024-10-17T01:30:05.403" v="65" actId="21"/>
          <ac:spMkLst>
            <pc:docMk/>
            <pc:sldMk cId="3525990716" sldId="257"/>
            <ac:spMk id="2" creationId="{09E7179B-D0CF-AD3F-9029-35C380964FF1}"/>
          </ac:spMkLst>
        </pc:spChg>
        <pc:spChg chg="mod">
          <ac:chgData name="Jacqueline Ockwell" userId="79a11ae1-9a6a-4dce-9c68-e7607b2827ec" providerId="ADAL" clId="{52063A9B-4EAD-4761-9C4A-21A4D0D48BD1}" dt="2024-10-17T01:30:10.206" v="67" actId="1076"/>
          <ac:spMkLst>
            <pc:docMk/>
            <pc:sldMk cId="3525990716" sldId="257"/>
            <ac:spMk id="4" creationId="{188A38A0-3EF1-5469-8C9D-60AD61A45E85}"/>
          </ac:spMkLst>
        </pc:spChg>
        <pc:spChg chg="mod">
          <ac:chgData name="Jacqueline Ockwell" userId="79a11ae1-9a6a-4dce-9c68-e7607b2827ec" providerId="ADAL" clId="{52063A9B-4EAD-4761-9C4A-21A4D0D48BD1}" dt="2024-10-17T01:30:12.653" v="68" actId="1076"/>
          <ac:spMkLst>
            <pc:docMk/>
            <pc:sldMk cId="3525990716" sldId="257"/>
            <ac:spMk id="5" creationId="{B3005E18-1E20-EA5B-AE52-A871FD176B4E}"/>
          </ac:spMkLst>
        </pc:spChg>
        <pc:spChg chg="mod">
          <ac:chgData name="Jacqueline Ockwell" userId="79a11ae1-9a6a-4dce-9c68-e7607b2827ec" providerId="ADAL" clId="{52063A9B-4EAD-4761-9C4A-21A4D0D48BD1}" dt="2024-10-17T01:30:15.085" v="69" actId="1076"/>
          <ac:spMkLst>
            <pc:docMk/>
            <pc:sldMk cId="3525990716" sldId="257"/>
            <ac:spMk id="6" creationId="{B7D98CF9-3669-3324-0874-8FEC36E9152B}"/>
          </ac:spMkLst>
        </pc:spChg>
        <pc:spChg chg="del">
          <ac:chgData name="Jacqueline Ockwell" userId="79a11ae1-9a6a-4dce-9c68-e7607b2827ec" providerId="ADAL" clId="{52063A9B-4EAD-4761-9C4A-21A4D0D48BD1}" dt="2024-10-17T01:27:06.948" v="16" actId="21"/>
          <ac:spMkLst>
            <pc:docMk/>
            <pc:sldMk cId="3525990716" sldId="257"/>
            <ac:spMk id="7" creationId="{8C1D9F39-99C1-6CBD-8851-A30224BC455B}"/>
          </ac:spMkLst>
        </pc:spChg>
        <pc:picChg chg="mod">
          <ac:chgData name="Jacqueline Ockwell" userId="79a11ae1-9a6a-4dce-9c68-e7607b2827ec" providerId="ADAL" clId="{52063A9B-4EAD-4761-9C4A-21A4D0D48BD1}" dt="2024-10-17T04:43:33.176" v="234" actId="1076"/>
          <ac:picMkLst>
            <pc:docMk/>
            <pc:sldMk cId="3525990716" sldId="257"/>
            <ac:picMk id="3" creationId="{F3B374A5-7ECC-0C4D-0220-0C5265B8F5A5}"/>
          </ac:picMkLst>
        </pc:picChg>
        <pc:cxnChg chg="mod">
          <ac:chgData name="Jacqueline Ockwell" userId="79a11ae1-9a6a-4dce-9c68-e7607b2827ec" providerId="ADAL" clId="{52063A9B-4EAD-4761-9C4A-21A4D0D48BD1}" dt="2024-10-17T01:30:24.573" v="72" actId="1076"/>
          <ac:cxnSpMkLst>
            <pc:docMk/>
            <pc:sldMk cId="3525990716" sldId="257"/>
            <ac:cxnSpMk id="9" creationId="{69BC1046-1803-5C82-C231-885A8E9794F2}"/>
          </ac:cxnSpMkLst>
        </pc:cxnChg>
        <pc:cxnChg chg="mod">
          <ac:chgData name="Jacqueline Ockwell" userId="79a11ae1-9a6a-4dce-9c68-e7607b2827ec" providerId="ADAL" clId="{52063A9B-4EAD-4761-9C4A-21A4D0D48BD1}" dt="2024-10-17T01:30:22.693" v="71" actId="1076"/>
          <ac:cxnSpMkLst>
            <pc:docMk/>
            <pc:sldMk cId="3525990716" sldId="257"/>
            <ac:cxnSpMk id="10" creationId="{F969F126-E39D-D787-84C8-0B8ABE08FFED}"/>
          </ac:cxnSpMkLst>
        </pc:cxnChg>
      </pc:sldChg>
      <pc:sldChg chg="modSp mod">
        <pc:chgData name="Jacqueline Ockwell" userId="79a11ae1-9a6a-4dce-9c68-e7607b2827ec" providerId="ADAL" clId="{52063A9B-4EAD-4761-9C4A-21A4D0D48BD1}" dt="2024-10-03T09:12:32.051" v="13" actId="20577"/>
        <pc:sldMkLst>
          <pc:docMk/>
          <pc:sldMk cId="3586839290" sldId="259"/>
        </pc:sldMkLst>
        <pc:spChg chg="mod">
          <ac:chgData name="Jacqueline Ockwell" userId="79a11ae1-9a6a-4dce-9c68-e7607b2827ec" providerId="ADAL" clId="{52063A9B-4EAD-4761-9C4A-21A4D0D48BD1}" dt="2024-10-03T09:12:32.051" v="13" actId="20577"/>
          <ac:spMkLst>
            <pc:docMk/>
            <pc:sldMk cId="3586839290" sldId="259"/>
            <ac:spMk id="6" creationId="{649905B5-05EC-5210-D142-531FD8DCCDCA}"/>
          </ac:spMkLst>
        </pc:spChg>
      </pc:sldChg>
      <pc:sldChg chg="modSp mod">
        <pc:chgData name="Jacqueline Ockwell" userId="79a11ae1-9a6a-4dce-9c68-e7607b2827ec" providerId="ADAL" clId="{52063A9B-4EAD-4761-9C4A-21A4D0D48BD1}" dt="2024-10-03T09:12:20.838" v="12" actId="20577"/>
        <pc:sldMkLst>
          <pc:docMk/>
          <pc:sldMk cId="3297238391" sldId="261"/>
        </pc:sldMkLst>
        <pc:spChg chg="mod">
          <ac:chgData name="Jacqueline Ockwell" userId="79a11ae1-9a6a-4dce-9c68-e7607b2827ec" providerId="ADAL" clId="{52063A9B-4EAD-4761-9C4A-21A4D0D48BD1}" dt="2024-10-03T09:12:20.838" v="12" actId="20577"/>
          <ac:spMkLst>
            <pc:docMk/>
            <pc:sldMk cId="3297238391" sldId="261"/>
            <ac:spMk id="4" creationId="{6613696B-7DB0-1621-A423-3EBDEFA002AE}"/>
          </ac:spMkLst>
        </pc:spChg>
      </pc:sldChg>
      <pc:sldChg chg="addSp delSp modSp mod">
        <pc:chgData name="Jacqueline Ockwell" userId="79a11ae1-9a6a-4dce-9c68-e7607b2827ec" providerId="ADAL" clId="{52063A9B-4EAD-4761-9C4A-21A4D0D48BD1}" dt="2024-10-03T08:42:09.239" v="10" actId="1076"/>
        <pc:sldMkLst>
          <pc:docMk/>
          <pc:sldMk cId="3338088047" sldId="262"/>
        </pc:sldMkLst>
        <pc:spChg chg="mod">
          <ac:chgData name="Jacqueline Ockwell" userId="79a11ae1-9a6a-4dce-9c68-e7607b2827ec" providerId="ADAL" clId="{52063A9B-4EAD-4761-9C4A-21A4D0D48BD1}" dt="2024-10-03T08:42:09.239" v="10" actId="1076"/>
          <ac:spMkLst>
            <pc:docMk/>
            <pc:sldMk cId="3338088047" sldId="262"/>
            <ac:spMk id="4" creationId="{17C4FD89-C8E2-7BC3-7F61-A1E7AE526D31}"/>
          </ac:spMkLst>
        </pc:spChg>
        <pc:picChg chg="add del mod">
          <ac:chgData name="Jacqueline Ockwell" userId="79a11ae1-9a6a-4dce-9c68-e7607b2827ec" providerId="ADAL" clId="{52063A9B-4EAD-4761-9C4A-21A4D0D48BD1}" dt="2024-10-03T08:41:40.853" v="8" actId="14100"/>
          <ac:picMkLst>
            <pc:docMk/>
            <pc:sldMk cId="3338088047" sldId="262"/>
            <ac:picMk id="1026" creationId="{A8973B0A-AD74-7EC2-4D53-BC6ADE5C9ABF}"/>
          </ac:picMkLst>
        </pc:picChg>
        <pc:picChg chg="add del">
          <ac:chgData name="Jacqueline Ockwell" userId="79a11ae1-9a6a-4dce-9c68-e7607b2827ec" providerId="ADAL" clId="{52063A9B-4EAD-4761-9C4A-21A4D0D48BD1}" dt="2024-10-03T08:41:39.072" v="6" actId="478"/>
          <ac:picMkLst>
            <pc:docMk/>
            <pc:sldMk cId="3338088047" sldId="262"/>
            <ac:picMk id="1028" creationId="{3D72232B-6B8D-ACF2-3F2B-0E28B48E9652}"/>
          </ac:picMkLst>
        </pc:picChg>
        <pc:picChg chg="add del">
          <ac:chgData name="Jacqueline Ockwell" userId="79a11ae1-9a6a-4dce-9c68-e7607b2827ec" providerId="ADAL" clId="{52063A9B-4EAD-4761-9C4A-21A4D0D48BD1}" dt="2024-10-03T08:41:41.711" v="9" actId="478"/>
          <ac:picMkLst>
            <pc:docMk/>
            <pc:sldMk cId="3338088047" sldId="262"/>
            <ac:picMk id="5122" creationId="{ED344D58-4E4A-4E68-CEC9-14B34F6ACEA4}"/>
          </ac:picMkLst>
        </pc:picChg>
      </pc:sldChg>
      <pc:sldChg chg="new del">
        <pc:chgData name="Jacqueline Ockwell" userId="79a11ae1-9a6a-4dce-9c68-e7607b2827ec" providerId="ADAL" clId="{52063A9B-4EAD-4761-9C4A-21A4D0D48BD1}" dt="2024-10-17T04:43:26.067" v="233" actId="47"/>
        <pc:sldMkLst>
          <pc:docMk/>
          <pc:sldMk cId="2667518093" sldId="263"/>
        </pc:sldMkLst>
      </pc:sldChg>
      <pc:sldChg chg="addSp modSp new mod">
        <pc:chgData name="Jacqueline Ockwell" userId="79a11ae1-9a6a-4dce-9c68-e7607b2827ec" providerId="ADAL" clId="{52063A9B-4EAD-4761-9C4A-21A4D0D48BD1}" dt="2024-10-17T01:28:48.437" v="51" actId="1076"/>
        <pc:sldMkLst>
          <pc:docMk/>
          <pc:sldMk cId="2959818217" sldId="264"/>
        </pc:sldMkLst>
        <pc:spChg chg="add mod">
          <ac:chgData name="Jacqueline Ockwell" userId="79a11ae1-9a6a-4dce-9c68-e7607b2827ec" providerId="ADAL" clId="{52063A9B-4EAD-4761-9C4A-21A4D0D48BD1}" dt="2024-10-17T01:28:48.437" v="51" actId="1076"/>
          <ac:spMkLst>
            <pc:docMk/>
            <pc:sldMk cId="2959818217" sldId="264"/>
            <ac:spMk id="7" creationId="{8C1D9F39-99C1-6CBD-8851-A30224BC455B}"/>
          </ac:spMkLst>
        </pc:spChg>
      </pc:sldChg>
      <pc:sldChg chg="addSp modSp new mod">
        <pc:chgData name="Jacqueline Ockwell" userId="79a11ae1-9a6a-4dce-9c68-e7607b2827ec" providerId="ADAL" clId="{52063A9B-4EAD-4761-9C4A-21A4D0D48BD1}" dt="2024-10-17T04:43:14.068" v="232" actId="207"/>
        <pc:sldMkLst>
          <pc:docMk/>
          <pc:sldMk cId="4044650545" sldId="265"/>
        </pc:sldMkLst>
        <pc:spChg chg="add mod">
          <ac:chgData name="Jacqueline Ockwell" userId="79a11ae1-9a6a-4dce-9c68-e7607b2827ec" providerId="ADAL" clId="{52063A9B-4EAD-4761-9C4A-21A4D0D48BD1}" dt="2024-10-17T04:43:14.068" v="232" actId="207"/>
          <ac:spMkLst>
            <pc:docMk/>
            <pc:sldMk cId="4044650545" sldId="265"/>
            <ac:spMk id="2" creationId="{09E7179B-D0CF-AD3F-9029-35C380964FF1}"/>
          </ac:spMkLst>
        </pc:spChg>
        <pc:spChg chg="add mod">
          <ac:chgData name="Jacqueline Ockwell" userId="79a11ae1-9a6a-4dce-9c68-e7607b2827ec" providerId="ADAL" clId="{52063A9B-4EAD-4761-9C4A-21A4D0D48BD1}" dt="2024-10-17T04:43:08.500" v="231" actId="207"/>
          <ac:spMkLst>
            <pc:docMk/>
            <pc:sldMk cId="4044650545" sldId="265"/>
            <ac:spMk id="5" creationId="{FA457472-76F3-6AF9-E561-F058418B9890}"/>
          </ac:spMkLst>
        </pc:spChg>
        <pc:spChg chg="add mod">
          <ac:chgData name="Jacqueline Ockwell" userId="79a11ae1-9a6a-4dce-9c68-e7607b2827ec" providerId="ADAL" clId="{52063A9B-4EAD-4761-9C4A-21A4D0D48BD1}" dt="2024-10-17T03:29:29.557" v="215" actId="14100"/>
          <ac:spMkLst>
            <pc:docMk/>
            <pc:sldMk cId="4044650545" sldId="265"/>
            <ac:spMk id="6" creationId="{9D23031F-B7C5-DD57-93F3-3851D627132C}"/>
          </ac:spMkLst>
        </pc:spChg>
        <pc:picChg chg="add mod">
          <ac:chgData name="Jacqueline Ockwell" userId="79a11ae1-9a6a-4dce-9c68-e7607b2827ec" providerId="ADAL" clId="{52063A9B-4EAD-4761-9C4A-21A4D0D48BD1}" dt="2024-10-17T03:28:08.245" v="203" actId="14100"/>
          <ac:picMkLst>
            <pc:docMk/>
            <pc:sldMk cId="4044650545" sldId="265"/>
            <ac:picMk id="4" creationId="{D4BB80DD-4D94-E670-0904-7F683264AF1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8095-FA19-5022-7219-B299A72CE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60EB3-AA35-D7D2-AF1C-7036A5F8C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01D6C-13F6-1603-2E84-32000C0A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BF50F-1FDE-F138-7295-281885C69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BD6CA-9F11-5B1D-C2E7-8522489B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0130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63E8-EB17-519C-A8D1-18017EC4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37748-5DC8-60C8-D049-6E4E8A429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28383-8E35-94BE-14D5-F29C71F0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AEF09-8444-D23D-D045-82C5CE38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5D8F4-C8A1-59AA-5470-E7A82BB7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466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35C5-273A-E188-1585-ECB18DEC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A78ED-FD97-DFB8-AEC6-64E88CEDC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99E05-E1EB-FEF9-3AE9-D598DCDE6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94BC4-B4B4-1318-DAA9-9BCEFC0D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3D78-2D44-FD50-1E51-611DE8115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085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EF3D-8CE3-6175-149C-535A6F0C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099-0046-9E06-7EAE-666C69A84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56154-D5C4-44D2-3083-B60A06FBB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0C534-7213-642A-35D7-BF62D7684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278A4-56B3-7D44-9620-CB49ADF0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01CD0-4B09-D0CA-AC06-70F5304A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631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68DD-576F-1168-5134-E7BFD23D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86D97-06EF-87BE-134B-E575226F6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D30CB-A936-B808-0996-55EC8B397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C095E-E801-AC00-8F7C-20F237471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09CF4-C2A2-1BFA-FD5E-A6651E911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BA6CF-99C2-E150-6D18-5D21F9D70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51CCE-C52A-7820-C0DD-BB198CE29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6AE80-317A-81A4-4CAB-0119B587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732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E93DC-08C3-2063-07B7-E1157BB6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08633-00A2-493B-9F4B-E31132CD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A1ADA8-ECEE-9D1E-81A6-7C53E3AC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43AD8-BD65-9B64-8073-84673941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352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8FC265-AFE0-112B-CC47-D11E23DB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097813-2A09-963A-B6B4-577790BD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78651-E698-109F-BADA-CCBCE06D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93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AA2B-D473-F077-4AD7-B379FF245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3A4D0-D619-58D3-BD84-B8925A81B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34BD1-8E1A-2CC3-5C2C-E5A14017F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3DEB-7DCD-EAF4-DEB5-2E2106C9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3A2A0-2AD6-7AE4-D6A3-DC751BD9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8B699-C698-FE73-DD68-FAFF7B85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248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9223-6079-5CE0-40B0-059D455D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92AA1-31ED-544C-5E58-42168FD28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A7233-4F3F-F75A-112F-CCBA6206E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2EDF0-596D-BC48-385A-3725A75DD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000F0-0F27-8D26-7003-BE9F4370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54C6A-C60A-BD6B-9BEA-1647D517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22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4D68-4DE7-C9EB-1D32-66423C417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90D31-0423-4E23-A5D6-78F8ECDD8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0145F-9530-2293-C862-42638F17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0562E-2B01-A799-A925-08E26E2E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B2349-187B-53AA-1B57-B70310E7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58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84F41-0B59-46CE-21C1-9A878577F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B2C4D-AD71-1DC7-50F6-8BEDC07B4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D8254-87BC-EFC8-82F8-318CDB62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A04A1-0128-5CD7-838E-ACF82479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D06EC-6512-F44D-0540-9E3855D6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960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63CCB-2A7C-F98D-333A-F1F7EC1FE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EBD75-37F3-541A-8930-90C2C7723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9130F-5FA0-890B-2B41-1877B9048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ADBBF-A29A-439D-B549-EDBD1FB15E36}" type="datetimeFigureOut">
              <a:rPr lang="en-AU" smtClean="0"/>
              <a:t>17/10/2024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7FAE7-F725-A0F1-3087-A7259E5DA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7E6FC-B0B2-EB41-4278-5E2CCA10B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F247E-C793-4F2C-882B-74DFF0569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3992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901130-0444-2132-2349-8DB933BA6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A69993-BE78-139C-3F0C-40EEC6EF7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36" y="687802"/>
            <a:ext cx="4620270" cy="733527"/>
          </a:xfrm>
          <a:prstGeom prst="rect">
            <a:avLst/>
          </a:prstGeom>
        </p:spPr>
      </p:pic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B9536913-92C0-AA25-B5D0-8DFBE287FD6E}"/>
              </a:ext>
            </a:extLst>
          </p:cNvPr>
          <p:cNvSpPr/>
          <p:nvPr/>
        </p:nvSpPr>
        <p:spPr>
          <a:xfrm>
            <a:off x="517071" y="1827908"/>
            <a:ext cx="3740467" cy="4584424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Introduction to Developing Your Inquiry Question</a:t>
            </a:r>
          </a:p>
          <a:p>
            <a:endParaRPr lang="en-US" b="1" dirty="0"/>
          </a:p>
          <a:p>
            <a:r>
              <a:rPr lang="en-US" dirty="0"/>
              <a:t>In this unit, you will develop an </a:t>
            </a:r>
            <a:r>
              <a:rPr lang="en-US" b="1" dirty="0"/>
              <a:t>inquiry question</a:t>
            </a:r>
            <a:r>
              <a:rPr lang="en-US" dirty="0"/>
              <a:t> that guides your visual investigation. This question should be open-ended and allow for deep exploration of a concept or theme through your artwork. It will also shape the focus of your </a:t>
            </a:r>
            <a:r>
              <a:rPr lang="en-US" b="1" dirty="0"/>
              <a:t>body of work</a:t>
            </a:r>
            <a:r>
              <a:rPr lang="en-US" dirty="0"/>
              <a:t> and allow you to engage with different contexts—personal, cultural, contemporary, and formal.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CCA96-AF51-334A-5C17-E1640ABECE0D}"/>
              </a:ext>
            </a:extLst>
          </p:cNvPr>
          <p:cNvSpPr txBox="1"/>
          <p:nvPr/>
        </p:nvSpPr>
        <p:spPr>
          <a:xfrm>
            <a:off x="5176157" y="1375604"/>
            <a:ext cx="6188529" cy="5200471"/>
          </a:xfrm>
          <a:prstGeom prst="clou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is an Inquiry Question?</a:t>
            </a:r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It’s a question that inspires curiosity and allows you to investigate and respond visually.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Your inquiry will drive both your </a:t>
            </a:r>
            <a:r>
              <a:rPr lang="en-US" b="1" dirty="0"/>
              <a:t>research</a:t>
            </a:r>
            <a:r>
              <a:rPr lang="en-US" dirty="0"/>
              <a:t> and </a:t>
            </a:r>
            <a:r>
              <a:rPr lang="en-US" b="1" dirty="0"/>
              <a:t>art-making</a:t>
            </a:r>
            <a:r>
              <a:rPr lang="en-US" dirty="0"/>
              <a:t> processes.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It should connect with your experience and reflections from the Immersive Excursion to South Stradbroke Island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785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B374A5-7ECC-0C4D-0220-0C5265B8F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027"/>
            <a:ext cx="12192000" cy="627329"/>
          </a:xfrm>
          <a:prstGeom prst="rect">
            <a:avLst/>
          </a:prstGeom>
        </p:spPr>
      </p:pic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188A38A0-3EF1-5469-8C9D-60AD61A45E85}"/>
              </a:ext>
            </a:extLst>
          </p:cNvPr>
          <p:cNvSpPr/>
          <p:nvPr/>
        </p:nvSpPr>
        <p:spPr>
          <a:xfrm>
            <a:off x="321746" y="1815767"/>
            <a:ext cx="3727740" cy="3542549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Reflect on the Stimulus</a:t>
            </a:r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Consider your reaction to the Immersive Excursion stimulus and how it connects to your personal interests, experiences, or world events.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Think about the </a:t>
            </a:r>
            <a:r>
              <a:rPr lang="en-US" b="1" dirty="0"/>
              <a:t>ideas, concepts, or philosophies</a:t>
            </a:r>
            <a:r>
              <a:rPr lang="en-US" dirty="0"/>
              <a:t> that resonate with you.</a:t>
            </a:r>
          </a:p>
          <a:p>
            <a:endParaRPr lang="en-US" dirty="0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B3005E18-1E20-EA5B-AE52-A871FD176B4E}"/>
              </a:ext>
            </a:extLst>
          </p:cNvPr>
          <p:cNvSpPr/>
          <p:nvPr/>
        </p:nvSpPr>
        <p:spPr>
          <a:xfrm>
            <a:off x="4498676" y="1815766"/>
            <a:ext cx="3395727" cy="3542549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Ask Yourself Questions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What aspects of the stimulus provoke a strong emotional or intellectual response?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What ideas do you want to explore in more depth through your artwork?</a:t>
            </a:r>
          </a:p>
          <a:p>
            <a:endParaRPr lang="en-US" dirty="0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B7D98CF9-3669-3324-0874-8FEC36E9152B}"/>
              </a:ext>
            </a:extLst>
          </p:cNvPr>
          <p:cNvSpPr/>
          <p:nvPr/>
        </p:nvSpPr>
        <p:spPr>
          <a:xfrm>
            <a:off x="8344207" y="1985657"/>
            <a:ext cx="3526047" cy="2886685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Formulate Your Inquiry</a:t>
            </a:r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Your inquiry question should be broad enough to allow for exploration but specific enough to guide your decisions.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BC1046-1803-5C82-C231-885A8E9794F2}"/>
              </a:ext>
            </a:extLst>
          </p:cNvPr>
          <p:cNvCxnSpPr/>
          <p:nvPr/>
        </p:nvCxnSpPr>
        <p:spPr>
          <a:xfrm>
            <a:off x="3831465" y="3587040"/>
            <a:ext cx="838506" cy="0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69F126-E39D-D787-84C8-0B8ABE08FFED}"/>
              </a:ext>
            </a:extLst>
          </p:cNvPr>
          <p:cNvCxnSpPr/>
          <p:nvPr/>
        </p:nvCxnSpPr>
        <p:spPr>
          <a:xfrm>
            <a:off x="7657793" y="3538055"/>
            <a:ext cx="838506" cy="0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990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09E7179B-D0CF-AD3F-9029-35C380964FF1}"/>
              </a:ext>
            </a:extLst>
          </p:cNvPr>
          <p:cNvSpPr/>
          <p:nvPr/>
        </p:nvSpPr>
        <p:spPr>
          <a:xfrm>
            <a:off x="354711" y="825430"/>
            <a:ext cx="3302890" cy="5785682"/>
          </a:xfrm>
          <a:prstGeom prst="round2DiagRect">
            <a:avLst/>
          </a:prstGeom>
          <a:solidFill>
            <a:srgbClr val="FF9933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000" b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A powerful question:</a:t>
            </a:r>
            <a:endParaRPr lang="en-AU" sz="2000" b="1" dirty="0">
              <a:effectLst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AU" sz="2000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AU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generates curiosity</a:t>
            </a:r>
            <a:endParaRPr lang="en-AU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stimulates reflective conversation</a:t>
            </a:r>
            <a:endParaRPr lang="en-AU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is thought provoking</a:t>
            </a:r>
            <a:endParaRPr lang="en-AU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surfaces underlying assumptions</a:t>
            </a:r>
            <a:endParaRPr lang="en-AU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invites creativity and new possibilities</a:t>
            </a:r>
            <a:endParaRPr lang="en-AU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generates energy and movement forward from unknown to known</a:t>
            </a:r>
            <a:endParaRPr lang="en-AU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channels attention and focuses inquiry</a:t>
            </a:r>
            <a:endParaRPr lang="en-AU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AU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evokes more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B80DD-4D94-E670-0904-7F683264A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29"/>
            <a:ext cx="6700775" cy="630769"/>
          </a:xfrm>
          <a:prstGeom prst="rect">
            <a:avLst/>
          </a:prstGeom>
        </p:spPr>
      </p:pic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FA457472-76F3-6AF9-E561-F058418B9890}"/>
              </a:ext>
            </a:extLst>
          </p:cNvPr>
          <p:cNvSpPr/>
          <p:nvPr/>
        </p:nvSpPr>
        <p:spPr>
          <a:xfrm>
            <a:off x="4896247" y="4605589"/>
            <a:ext cx="5317601" cy="1914083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200" b="1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DO’s                                  		 DON’T’s</a:t>
            </a:r>
            <a:endParaRPr lang="en-AU" sz="1200" dirty="0">
              <a:effectLst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Curiosity            	           	Boredom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Reflection                          	 	Reaction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Reveals assumptions        		 Extends biases or prejudice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Creativity                          		Agreement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Energy                                		Stall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Engagement                       		Distraction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Meaningful                          		Trivial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Trigger more questions       		Dead-ends</a:t>
            </a:r>
          </a:p>
          <a:p>
            <a:endParaRPr lang="en-US" dirty="0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9D23031F-B7C5-DD57-93F3-3851D627132C}"/>
              </a:ext>
            </a:extLst>
          </p:cNvPr>
          <p:cNvSpPr/>
          <p:nvPr/>
        </p:nvSpPr>
        <p:spPr>
          <a:xfrm>
            <a:off x="3817364" y="790415"/>
            <a:ext cx="8298435" cy="3479833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200" b="1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Ask yourself</a:t>
            </a:r>
            <a:endParaRPr lang="en-AU" sz="1200" dirty="0">
              <a:effectLst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Is the question relevant?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Is it a genuine question – a question to which I/we really don’t know the answer?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What do I want this question to do? That is what kind of conversation, meanings and feelings do I imagine this question will evoke in those who will be exploring it and as audience?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Is this question likely to invite fresh thinking / feeling? Is it familiar enough to be recognizable and relevant – and different enough to call for a different response?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What assumptions and/or beliefs are embedded in the way the question is constructed?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Is the question likely to generate hope, imagination, engagement, creative action and new possibilities?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1200" dirty="0"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Does this question leave room for new and different questions to be raised as the initial question is explored?</a:t>
            </a:r>
          </a:p>
          <a:p>
            <a:r>
              <a:rPr lang="en-AU" sz="1800" dirty="0">
                <a:effectLst/>
                <a:latin typeface="Times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65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8C1D9F39-99C1-6CBD-8851-A30224BC455B}"/>
              </a:ext>
            </a:extLst>
          </p:cNvPr>
          <p:cNvSpPr/>
          <p:nvPr/>
        </p:nvSpPr>
        <p:spPr>
          <a:xfrm>
            <a:off x="321746" y="526640"/>
            <a:ext cx="11548507" cy="5804720"/>
          </a:xfrm>
          <a:prstGeom prst="round2DiagRect">
            <a:avLst/>
          </a:prstGeom>
          <a:solidFill>
            <a:srgbClr val="FF9933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Example Questions:</a:t>
            </a:r>
          </a:p>
          <a:p>
            <a:endParaRPr lang="en-US" sz="2000" b="1" i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i="1" dirty="0"/>
              <a:t>How can I visually explore the influence of technology on cultural identity?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i="1" dirty="0"/>
              <a:t>How do personal memories shape our perception of truth?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i="1" dirty="0"/>
              <a:t>What role does art play in critiquing social norms?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600" b="1" i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How does culture influence the human experience?</a:t>
            </a:r>
            <a:endParaRPr lang="en-AU" sz="1600" b="1" i="1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600" b="1" i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How does science contribute to an artistic examination of change ( example change in the environment )?</a:t>
            </a:r>
            <a:endParaRPr lang="en-AU" sz="1600" b="1" i="1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600" b="1" i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How do artists communicate or provoke ideas about social change and human behaviour?</a:t>
            </a:r>
            <a:endParaRPr lang="en-AU" sz="1600" b="1" i="1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600" b="1" i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How do histories, legacies and stories contribute to an artists’ practise?</a:t>
            </a:r>
            <a:endParaRPr lang="en-AU" sz="1600" b="1" i="1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600" b="1" i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How do artists challenge social trends by provoking ideas about the impact of change </a:t>
            </a:r>
            <a:endParaRPr lang="en-AU" sz="1600" b="1" i="1" dirty="0">
              <a:effectLst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1600" b="1" i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	( example – impact of new technology )?</a:t>
            </a:r>
            <a:endParaRPr lang="en-AU" sz="1600" b="1" i="1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600" b="1" i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How does the evidence left by a person communicate an understanding of the individual?</a:t>
            </a:r>
            <a:endParaRPr lang="en-AU" sz="1600" b="1" i="1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600" b="1" i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How do artists raise ethical issues in artworks?</a:t>
            </a:r>
            <a:endParaRPr lang="en-AU" sz="1600" b="1" i="1" dirty="0"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600" b="1" i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What is the overlap between art, technology, psychology, imagination and reality?</a:t>
            </a:r>
            <a:endParaRPr lang="en-AU" sz="1600" b="1" i="1" dirty="0">
              <a:effectLst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AU" sz="1600" b="1" dirty="0">
              <a:solidFill>
                <a:srgbClr val="000000"/>
              </a:solidFill>
              <a:effectLst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AU" sz="1600" b="1" dirty="0">
              <a:solidFill>
                <a:srgbClr val="000000"/>
              </a:solidFill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AU" sz="1600" b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Art as Lens: Consider the values that underpin or influence the way subject matter ( people, place, object ) is perceived and represented.</a:t>
            </a:r>
            <a:endParaRPr lang="en-AU" sz="1600" b="1" dirty="0">
              <a:effectLst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AU" sz="1600" b="1" dirty="0">
                <a:solidFill>
                  <a:srgbClr val="000000"/>
                </a:solidFill>
                <a:effectLst/>
                <a:ea typeface="Times" panose="02020603050405020304" pitchFamily="18" charset="0"/>
                <a:cs typeface="Times New Roman" panose="02020603050405020304" pitchFamily="18" charset="0"/>
              </a:rPr>
              <a:t>Art as Code: Explore how visual language, symbol systems and art conventions can express ideas and feelings in images, objects and experiences.</a:t>
            </a:r>
            <a:endParaRPr lang="en-AU" sz="1600" b="1" dirty="0">
              <a:effectLst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b="1" i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b="1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81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88DD1-0184-8017-2A23-26CD5F650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5" y="125818"/>
            <a:ext cx="9497750" cy="695422"/>
          </a:xfrm>
          <a:prstGeom prst="rect">
            <a:avLst/>
          </a:prstGeom>
        </p:spPr>
      </p:pic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09BB9278-0BCE-1323-649B-A60C88C69062}"/>
              </a:ext>
            </a:extLst>
          </p:cNvPr>
          <p:cNvSpPr/>
          <p:nvPr/>
        </p:nvSpPr>
        <p:spPr>
          <a:xfrm>
            <a:off x="141821" y="1337532"/>
            <a:ext cx="3711414" cy="2409825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Once you’ve developed your inquiry question, you’ll need to select </a:t>
            </a:r>
            <a:r>
              <a:rPr lang="en-US" b="1" dirty="0"/>
              <a:t>mentor artists</a:t>
            </a:r>
            <a:r>
              <a:rPr lang="en-US" dirty="0"/>
              <a:t> whose work informs your creative decision-making. These artists will guide your process, offering inspiration and techniques that relate to your inquiry.</a:t>
            </a:r>
          </a:p>
          <a:p>
            <a:endParaRPr lang="en-US" dirty="0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0C60AFB3-B6A4-6362-FF43-3BEE266024B0}"/>
              </a:ext>
            </a:extLst>
          </p:cNvPr>
          <p:cNvSpPr/>
          <p:nvPr/>
        </p:nvSpPr>
        <p:spPr>
          <a:xfrm>
            <a:off x="5285325" y="1300832"/>
            <a:ext cx="6171583" cy="1967791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Why Mentor Artists?</a:t>
            </a:r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Their practices will provide you with insights into </a:t>
            </a:r>
            <a:r>
              <a:rPr lang="en-US" b="1" dirty="0"/>
              <a:t>how to respond</a:t>
            </a:r>
            <a:r>
              <a:rPr lang="en-US" dirty="0"/>
              <a:t> to your question visually.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You can experiment with their techniques, media, and ideas to develop your own visual language.</a:t>
            </a:r>
          </a:p>
          <a:p>
            <a:endParaRPr lang="en-US" dirty="0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5387ED99-7502-1002-6CC9-B2EBC8F479C5}"/>
              </a:ext>
            </a:extLst>
          </p:cNvPr>
          <p:cNvSpPr/>
          <p:nvPr/>
        </p:nvSpPr>
        <p:spPr>
          <a:xfrm>
            <a:off x="5285325" y="3747357"/>
            <a:ext cx="6171583" cy="1967791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Selecting Mentor Artists:</a:t>
            </a:r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Look for artists who explore similar themes, contexts, or questions.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Choose two or more artists who can offer contrasting or complementary perspectives.</a:t>
            </a:r>
          </a:p>
          <a:p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1F962CB-FF5B-AC69-66CF-79BAA9491C58}"/>
              </a:ext>
            </a:extLst>
          </p:cNvPr>
          <p:cNvSpPr/>
          <p:nvPr/>
        </p:nvSpPr>
        <p:spPr>
          <a:xfrm rot="19895756">
            <a:off x="4041320" y="2194734"/>
            <a:ext cx="1023567" cy="695422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F385724-E6DA-B296-5739-8AED2B212D06}"/>
              </a:ext>
            </a:extLst>
          </p:cNvPr>
          <p:cNvSpPr/>
          <p:nvPr/>
        </p:nvSpPr>
        <p:spPr>
          <a:xfrm rot="1971026">
            <a:off x="3960010" y="3651013"/>
            <a:ext cx="1023567" cy="695422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6" name="Picture 2" descr="Artist Michael Reeder Explores Identity ...">
            <a:extLst>
              <a:ext uri="{FF2B5EF4-FFF2-40B4-BE49-F238E27FC236}">
                <a16:creationId xmlns:a16="http://schemas.microsoft.com/office/drawing/2014/main" id="{9EE11635-A573-68CE-D59C-EB4AF0920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28" y="3984161"/>
            <a:ext cx="1905000" cy="240982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97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E0D4F4-02F2-F4C6-0D40-0DA152B14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099" y="81643"/>
            <a:ext cx="8611802" cy="714475"/>
          </a:xfrm>
          <a:prstGeom prst="rect">
            <a:avLst/>
          </a:prstGeom>
        </p:spPr>
      </p:pic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D5EE235D-428A-94A6-4E7A-463A3C7A58D1}"/>
              </a:ext>
            </a:extLst>
          </p:cNvPr>
          <p:cNvSpPr/>
          <p:nvPr/>
        </p:nvSpPr>
        <p:spPr>
          <a:xfrm>
            <a:off x="4914900" y="2575732"/>
            <a:ext cx="6171583" cy="1086049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Personal Context</a:t>
            </a:r>
            <a:r>
              <a:rPr lang="en-US" dirty="0"/>
              <a:t>: Reflect on your own experiences, identity, and emotions. How do they shape the way you see the world?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649905B5-05EC-5210-D142-531FD8DCCDCA}"/>
              </a:ext>
            </a:extLst>
          </p:cNvPr>
          <p:cNvSpPr/>
          <p:nvPr/>
        </p:nvSpPr>
        <p:spPr>
          <a:xfrm>
            <a:off x="4914901" y="1085016"/>
            <a:ext cx="6171583" cy="1086048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Formal Context</a:t>
            </a:r>
            <a:r>
              <a:rPr lang="en-US" dirty="0"/>
              <a:t>: Focus on the visual elements—composition, </a:t>
            </a:r>
            <a:r>
              <a:rPr lang="en-US" dirty="0" err="1"/>
              <a:t>colour</a:t>
            </a:r>
            <a:r>
              <a:rPr lang="en-US" dirty="0"/>
              <a:t>, line, form—and how they communicate meaning in your artwork.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483FBAD4-7749-F015-9DB8-67FFD36501C0}"/>
              </a:ext>
            </a:extLst>
          </p:cNvPr>
          <p:cNvSpPr/>
          <p:nvPr/>
        </p:nvSpPr>
        <p:spPr>
          <a:xfrm>
            <a:off x="4914899" y="4066449"/>
            <a:ext cx="6171583" cy="1086048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dirty="0"/>
              <a:t>Cultural Context</a:t>
            </a:r>
            <a:r>
              <a:rPr lang="en-AU" dirty="0"/>
              <a:t>: Consider how cultural traditions, histories, and social structures influence your perspective.</a:t>
            </a:r>
            <a:endParaRPr lang="en-US" dirty="0"/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04D3E8A-5307-5BB3-418C-6286A3C44341}"/>
              </a:ext>
            </a:extLst>
          </p:cNvPr>
          <p:cNvSpPr/>
          <p:nvPr/>
        </p:nvSpPr>
        <p:spPr>
          <a:xfrm>
            <a:off x="4914899" y="5441395"/>
            <a:ext cx="6171583" cy="1086048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Contemporary Context</a:t>
            </a:r>
            <a:r>
              <a:rPr lang="en-US" dirty="0"/>
              <a:t>: Engage with current issues, such as politics, technology, or social justice, and how they affect society.</a:t>
            </a:r>
          </a:p>
        </p:txBody>
      </p:sp>
      <p:pic>
        <p:nvPicPr>
          <p:cNvPr id="2050" name="Picture 2" descr="This contains an image of: Diseño y destino.">
            <a:extLst>
              <a:ext uri="{FF2B5EF4-FFF2-40B4-BE49-F238E27FC236}">
                <a16:creationId xmlns:a16="http://schemas.microsoft.com/office/drawing/2014/main" id="{140BBF1A-295F-A38E-539D-E5DADCD9D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53744" y="4036458"/>
            <a:ext cx="2247900" cy="280987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B483075-65AB-8F59-58B6-E5375B4269BC}"/>
              </a:ext>
            </a:extLst>
          </p:cNvPr>
          <p:cNvSpPr/>
          <p:nvPr/>
        </p:nvSpPr>
        <p:spPr>
          <a:xfrm>
            <a:off x="958559" y="1937026"/>
            <a:ext cx="3270540" cy="298394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/>
              <a:t>Your inquiry and your artwork must address the Formal Context plus at least one of the other 3 contexts.</a:t>
            </a:r>
          </a:p>
        </p:txBody>
      </p:sp>
    </p:spTree>
    <p:extLst>
      <p:ext uri="{BB962C8B-B14F-4D97-AF65-F5344CB8AC3E}">
        <p14:creationId xmlns:p14="http://schemas.microsoft.com/office/powerpoint/2010/main" val="3586839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E033B-A4E0-E0BA-C86D-B71C85A8D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679" y="212272"/>
            <a:ext cx="6744641" cy="68589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72A36AA-B81F-3B2D-FF87-3A32B62DE55F}"/>
              </a:ext>
            </a:extLst>
          </p:cNvPr>
          <p:cNvSpPr/>
          <p:nvPr/>
        </p:nvSpPr>
        <p:spPr>
          <a:xfrm>
            <a:off x="171450" y="898168"/>
            <a:ext cx="3156242" cy="3157584"/>
          </a:xfrm>
          <a:prstGeom prst="ellipse">
            <a:avLst/>
          </a:prstGeom>
          <a:solidFill>
            <a:srgbClr val="FF9933"/>
          </a:solidFill>
          <a:ln w="9525">
            <a:solidFill>
              <a:srgbClr val="FF9933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Once your inquiry question is developed, use it to guide your </a:t>
            </a:r>
            <a:r>
              <a:rPr lang="en-US" sz="2000" b="1" dirty="0"/>
              <a:t>experimentation</a:t>
            </a:r>
            <a:r>
              <a:rPr lang="en-US" sz="2000" dirty="0"/>
              <a:t> with materials, techniques, and processes.</a:t>
            </a:r>
            <a:endParaRPr lang="en-US" sz="2000" b="1" dirty="0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76D5542E-C6AB-69C4-0129-B3F53787124A}"/>
              </a:ext>
            </a:extLst>
          </p:cNvPr>
          <p:cNvSpPr/>
          <p:nvPr/>
        </p:nvSpPr>
        <p:spPr>
          <a:xfrm>
            <a:off x="3510028" y="1074427"/>
            <a:ext cx="8510522" cy="2981325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Steps for Experimentation</a:t>
            </a:r>
          </a:p>
          <a:p>
            <a:pPr algn="ctr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Research</a:t>
            </a:r>
            <a:r>
              <a:rPr lang="en-US" dirty="0"/>
              <a:t>: Investigate your mentor artists’ techniques and how they relate to your question.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Test Materials</a:t>
            </a:r>
            <a:r>
              <a:rPr lang="en-US" dirty="0"/>
              <a:t>: Experiment with different media (painting, sculpture, digital) to see how they can express your inquiry visually.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Reflect</a:t>
            </a:r>
            <a:r>
              <a:rPr lang="en-US" dirty="0"/>
              <a:t>: Continuously evaluate how your experiments respond to your inquiry. Adjust your approach as needed.</a:t>
            </a:r>
          </a:p>
          <a:p>
            <a:endParaRPr lang="en-US" dirty="0"/>
          </a:p>
        </p:txBody>
      </p:sp>
      <p:pic>
        <p:nvPicPr>
          <p:cNvPr id="3074" name="Picture 2" descr="This contains an image of: ">
            <a:extLst>
              <a:ext uri="{FF2B5EF4-FFF2-40B4-BE49-F238E27FC236}">
                <a16:creationId xmlns:a16="http://schemas.microsoft.com/office/drawing/2014/main" id="{D692C211-E9F8-1FCE-7195-D216E44B7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770" y="4359729"/>
            <a:ext cx="1788779" cy="237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his contains an image of: Painting Experiments">
            <a:extLst>
              <a:ext uri="{FF2B5EF4-FFF2-40B4-BE49-F238E27FC236}">
                <a16:creationId xmlns:a16="http://schemas.microsoft.com/office/drawing/2014/main" id="{4C620028-D033-6BFF-CD26-A2A0811EF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0456" y="4359729"/>
            <a:ext cx="1681345" cy="237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is contains an image of: Private Site">
            <a:extLst>
              <a:ext uri="{FF2B5EF4-FFF2-40B4-BE49-F238E27FC236}">
                <a16:creationId xmlns:a16="http://schemas.microsoft.com/office/drawing/2014/main" id="{99152004-24C3-06CD-D8C1-980869437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34" y="4359729"/>
            <a:ext cx="3127865" cy="237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his contains an image of: artist sketchbook ideas2">
            <a:extLst>
              <a:ext uri="{FF2B5EF4-FFF2-40B4-BE49-F238E27FC236}">
                <a16:creationId xmlns:a16="http://schemas.microsoft.com/office/drawing/2014/main" id="{2B561EA5-C6AC-0FAC-17AC-8F6180FCF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27" y="4408715"/>
            <a:ext cx="2648923" cy="232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This contains an image of: ">
            <a:extLst>
              <a:ext uri="{FF2B5EF4-FFF2-40B4-BE49-F238E27FC236}">
                <a16:creationId xmlns:a16="http://schemas.microsoft.com/office/drawing/2014/main" id="{8967944D-ECB2-F183-14BB-963DD661F8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5" b="10164"/>
          <a:stretch/>
        </p:blipFill>
        <p:spPr bwMode="auto">
          <a:xfrm>
            <a:off x="57954" y="4464063"/>
            <a:ext cx="2143189" cy="226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173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2230DB-7A9C-C47A-9CD6-6EEC0DA60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149633"/>
            <a:ext cx="11460174" cy="647790"/>
          </a:xfrm>
          <a:prstGeom prst="rect">
            <a:avLst/>
          </a:prstGeom>
        </p:spPr>
      </p:pic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6613696B-7DB0-1621-A423-3EBDEFA002AE}"/>
              </a:ext>
            </a:extLst>
          </p:cNvPr>
          <p:cNvSpPr/>
          <p:nvPr/>
        </p:nvSpPr>
        <p:spPr>
          <a:xfrm>
            <a:off x="676156" y="1205055"/>
            <a:ext cx="4278701" cy="4869173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/>
              <a:t>Your final presentation should communicate</a:t>
            </a:r>
          </a:p>
          <a:p>
            <a:pPr algn="ctr"/>
            <a:endParaRPr lang="en-US" sz="2000" b="1" dirty="0"/>
          </a:p>
          <a:p>
            <a:pPr>
              <a:buFont typeface="+mj-lt"/>
              <a:buAutoNum type="arabicPeriod"/>
            </a:pPr>
            <a:r>
              <a:rPr lang="en-US" b="1" dirty="0"/>
              <a:t>Your Inquiry Question</a:t>
            </a:r>
            <a:r>
              <a:rPr lang="en-US" dirty="0"/>
              <a:t>: What inspired it? How did you develop it?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Key Artists</a:t>
            </a:r>
            <a:r>
              <a:rPr lang="en-US" dirty="0"/>
              <a:t>: </a:t>
            </a:r>
            <a:r>
              <a:rPr lang="en-US" dirty="0" err="1"/>
              <a:t>Analyse</a:t>
            </a:r>
            <a:r>
              <a:rPr lang="en-US" dirty="0"/>
              <a:t> and interpret the work of your mentor artists. How do they influence your own visual responses?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Conclusions</a:t>
            </a:r>
            <a:r>
              <a:rPr lang="en-US" dirty="0"/>
              <a:t>: What have you discovered through your research and experimentation? How will this inform your body of work?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08FD2E-BE40-6055-17AB-38D1A7CFE5A9}"/>
              </a:ext>
            </a:extLst>
          </p:cNvPr>
          <p:cNvSpPr/>
          <p:nvPr/>
        </p:nvSpPr>
        <p:spPr>
          <a:xfrm>
            <a:off x="5902778" y="1205055"/>
            <a:ext cx="4874080" cy="4343304"/>
          </a:xfrm>
          <a:prstGeom prst="ellipse">
            <a:avLst/>
          </a:prstGeom>
          <a:solidFill>
            <a:srgbClr val="FF9933"/>
          </a:solidFill>
          <a:ln w="9525">
            <a:solidFill>
              <a:srgbClr val="FF9933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Your presentation can be in the form of:</a:t>
            </a:r>
          </a:p>
          <a:p>
            <a:endParaRPr lang="en-US" sz="2000" b="1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/>
              <a:t>A written report (1000-1500 words)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/>
              <a:t>A multimodal presentation (7-9 minutes)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/>
              <a:t>A digital presentation (8-10 slides or equivalent media)</a:t>
            </a:r>
          </a:p>
          <a:p>
            <a:pPr algn="ctr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97238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05102-5DCD-EB01-669F-00684DBB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729" y="200658"/>
            <a:ext cx="3953427" cy="676369"/>
          </a:xfrm>
          <a:prstGeom prst="rect">
            <a:avLst/>
          </a:prstGeom>
        </p:spPr>
      </p:pic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17C4FD89-C8E2-7BC3-7F61-A1E7AE526D31}"/>
              </a:ext>
            </a:extLst>
          </p:cNvPr>
          <p:cNvSpPr/>
          <p:nvPr/>
        </p:nvSpPr>
        <p:spPr>
          <a:xfrm>
            <a:off x="529877" y="1639039"/>
            <a:ext cx="6427704" cy="4150716"/>
          </a:xfrm>
          <a:prstGeom prst="round2Diag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n-US" b="1" dirty="0"/>
              <a:t>Consultation</a:t>
            </a:r>
            <a:r>
              <a:rPr lang="en-US" dirty="0"/>
              <a:t>: Meet with your teacher to discuss your inquiry question.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Experimentation</a:t>
            </a:r>
            <a:r>
              <a:rPr lang="en-US" dirty="0"/>
              <a:t>: Begin testing materials and processes.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Draft Submission</a:t>
            </a:r>
            <a:r>
              <a:rPr lang="en-US" dirty="0"/>
              <a:t>: Submit your draft for feedback to refine your approach.</a:t>
            </a:r>
          </a:p>
          <a:p>
            <a:endParaRPr lang="en-US" dirty="0"/>
          </a:p>
          <a:p>
            <a:r>
              <a:rPr lang="en-US" dirty="0"/>
              <a:t>This is the start of your visual journey—your </a:t>
            </a:r>
            <a:r>
              <a:rPr lang="en-US" b="1" dirty="0"/>
              <a:t>inquiry question</a:t>
            </a:r>
            <a:r>
              <a:rPr lang="en-US" dirty="0"/>
              <a:t> will guide your exploration, and your selected </a:t>
            </a:r>
            <a:r>
              <a:rPr lang="en-US" b="1" dirty="0"/>
              <a:t>mentor artists</a:t>
            </a:r>
            <a:r>
              <a:rPr lang="en-US" dirty="0"/>
              <a:t> will inspire and inform your creative practice. Let your curiosity drive your work!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pic>
        <p:nvPicPr>
          <p:cNvPr id="5122" name="Picture 2" descr="This contains: collage art, digital collage, collage, collage inspiration, graphic design, digital artist, graphic design">
            <a:extLst>
              <a:ext uri="{FF2B5EF4-FFF2-40B4-BE49-F238E27FC236}">
                <a16:creationId xmlns:a16="http://schemas.microsoft.com/office/drawing/2014/main" id="{ED344D58-4E4A-4E68-CEC9-14B34F6AC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156" y="1074427"/>
            <a:ext cx="3475262" cy="513926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088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1119</Words>
  <Application>Microsoft Office PowerPoint</Application>
  <PresentationFormat>Widescreen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Jacqueline Ockwell</dc:creator>
  <cp:lastModifiedBy>Jacqueline Ockwell</cp:lastModifiedBy>
  <cp:revision>1</cp:revision>
  <dcterms:created xsi:type="dcterms:W3CDTF">2024-10-03T07:52:37Z</dcterms:created>
  <dcterms:modified xsi:type="dcterms:W3CDTF">2024-10-17T04:43:34Z</dcterms:modified>
</cp:coreProperties>
</file>